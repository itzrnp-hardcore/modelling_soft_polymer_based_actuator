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Heebo Ultra-Bold" charset="1" panose="00000900000000000000"/>
      <p:regular r:id="rId27"/>
    </p:embeddedFont>
    <p:embeddedFont>
      <p:font typeface="Arimo Bold" charset="1" panose="020B0704020202020204"/>
      <p:regular r:id="rId28"/>
    </p:embeddedFont>
    <p:embeddedFont>
      <p:font typeface="Arimo" charset="1" panose="020B06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910884" y="2654453"/>
            <a:ext cx="10709988" cy="1149092"/>
          </a:xfrm>
          <a:prstGeom prst="rect">
            <a:avLst/>
          </a:prstGeom>
        </p:spPr>
        <p:txBody>
          <a:bodyPr anchor="t" rtlCol="false" tIns="0" lIns="0" bIns="0" rIns="0">
            <a:spAutoFit/>
          </a:bodyPr>
          <a:lstStyle/>
          <a:p>
            <a:pPr algn="l">
              <a:lnSpc>
                <a:spcPts val="8798"/>
              </a:lnSpc>
            </a:pPr>
            <a:r>
              <a:rPr lang="en-US" sz="8798" spc="-438" b="true">
                <a:solidFill>
                  <a:srgbClr val="F8F8F8"/>
                </a:solidFill>
                <a:latin typeface="Heebo Ultra-Bold"/>
                <a:ea typeface="Heebo Ultra-Bold"/>
                <a:cs typeface="Heebo Ultra-Bold"/>
                <a:sym typeface="Heebo Ultra-Bold"/>
              </a:rPr>
              <a:t>Pressure-to-Deflection</a:t>
            </a:r>
          </a:p>
        </p:txBody>
      </p:sp>
      <p:sp>
        <p:nvSpPr>
          <p:cNvPr name="TextBox 4" id="4"/>
          <p:cNvSpPr txBox="true"/>
          <p:nvPr/>
        </p:nvSpPr>
        <p:spPr>
          <a:xfrm rot="0">
            <a:off x="946095" y="3844259"/>
            <a:ext cx="7188940" cy="1149092"/>
          </a:xfrm>
          <a:prstGeom prst="rect">
            <a:avLst/>
          </a:prstGeom>
        </p:spPr>
        <p:txBody>
          <a:bodyPr anchor="t" rtlCol="false" tIns="0" lIns="0" bIns="0" rIns="0">
            <a:spAutoFit/>
          </a:bodyPr>
          <a:lstStyle/>
          <a:p>
            <a:pPr algn="l">
              <a:lnSpc>
                <a:spcPts val="8798"/>
              </a:lnSpc>
            </a:pPr>
            <a:r>
              <a:rPr lang="en-US" sz="8798" spc="-438" b="true">
                <a:solidFill>
                  <a:srgbClr val="F8F8F8"/>
                </a:solidFill>
                <a:latin typeface="Heebo Ultra-Bold"/>
                <a:ea typeface="Heebo Ultra-Bold"/>
                <a:cs typeface="Heebo Ultra-Bold"/>
                <a:sym typeface="Heebo Ultra-Bold"/>
              </a:rPr>
              <a:t>Modelling of an</a:t>
            </a:r>
          </a:p>
        </p:txBody>
      </p:sp>
      <p:sp>
        <p:nvSpPr>
          <p:cNvPr name="TextBox 5" id="5"/>
          <p:cNvSpPr txBox="true"/>
          <p:nvPr/>
        </p:nvSpPr>
        <p:spPr>
          <a:xfrm rot="0">
            <a:off x="941633" y="5049127"/>
            <a:ext cx="7635095" cy="1149092"/>
          </a:xfrm>
          <a:prstGeom prst="rect">
            <a:avLst/>
          </a:prstGeom>
        </p:spPr>
        <p:txBody>
          <a:bodyPr anchor="t" rtlCol="false" tIns="0" lIns="0" bIns="0" rIns="0">
            <a:spAutoFit/>
          </a:bodyPr>
          <a:lstStyle/>
          <a:p>
            <a:pPr algn="l">
              <a:lnSpc>
                <a:spcPts val="8798"/>
              </a:lnSpc>
            </a:pPr>
            <a:r>
              <a:rPr lang="en-US" sz="8798" spc="-438" b="true">
                <a:solidFill>
                  <a:srgbClr val="4390F8"/>
                </a:solidFill>
                <a:latin typeface="Heebo Ultra-Bold"/>
                <a:ea typeface="Heebo Ultra-Bold"/>
                <a:cs typeface="Heebo Ultra-Bold"/>
                <a:sym typeface="Heebo Ultra-Bold"/>
              </a:rPr>
              <a:t>Eccentric-Cavity</a:t>
            </a:r>
          </a:p>
        </p:txBody>
      </p:sp>
      <p:sp>
        <p:nvSpPr>
          <p:cNvPr name="TextBox 6" id="6"/>
          <p:cNvSpPr txBox="true"/>
          <p:nvPr/>
        </p:nvSpPr>
        <p:spPr>
          <a:xfrm rot="0">
            <a:off x="1007877" y="6251008"/>
            <a:ext cx="14405281" cy="1046974"/>
          </a:xfrm>
          <a:prstGeom prst="rect">
            <a:avLst/>
          </a:prstGeom>
        </p:spPr>
        <p:txBody>
          <a:bodyPr anchor="t" rtlCol="false" tIns="0" lIns="0" bIns="0" rIns="0">
            <a:spAutoFit/>
          </a:bodyPr>
          <a:lstStyle/>
          <a:p>
            <a:pPr algn="l">
              <a:lnSpc>
                <a:spcPts val="7822"/>
              </a:lnSpc>
            </a:pPr>
            <a:r>
              <a:rPr lang="en-US" sz="7822" spc="-232" b="true">
                <a:solidFill>
                  <a:srgbClr val="F8F8F8"/>
                </a:solidFill>
                <a:latin typeface="Heebo Ultra-Bold"/>
                <a:ea typeface="Heebo Ultra-Bold"/>
                <a:cs typeface="Heebo Ultra-Bold"/>
                <a:sym typeface="Heebo Ultra-Bold"/>
              </a:rPr>
              <a:t>Soft Pneumatic Bending Actuator</a:t>
            </a:r>
          </a:p>
        </p:txBody>
      </p:sp>
      <p:sp>
        <p:nvSpPr>
          <p:cNvPr name="TextBox 7" id="7"/>
          <p:cNvSpPr txBox="true"/>
          <p:nvPr/>
        </p:nvSpPr>
        <p:spPr>
          <a:xfrm rot="0">
            <a:off x="990600" y="7696200"/>
            <a:ext cx="13335000" cy="474345"/>
          </a:xfrm>
          <a:prstGeom prst="rect">
            <a:avLst/>
          </a:prstGeom>
        </p:spPr>
        <p:txBody>
          <a:bodyPr anchor="t" rtlCol="false" tIns="0" lIns="0" bIns="0" rIns="0">
            <a:spAutoFit/>
          </a:bodyPr>
          <a:lstStyle/>
          <a:p>
            <a:pPr algn="l">
              <a:lnSpc>
                <a:spcPts val="3779"/>
              </a:lnSpc>
            </a:pPr>
            <a:r>
              <a:rPr lang="en-US" sz="2700" b="true">
                <a:solidFill>
                  <a:srgbClr val="4390F8"/>
                </a:solidFill>
                <a:latin typeface="Arimo Bold"/>
                <a:ea typeface="Arimo Bold"/>
                <a:cs typeface="Arimo Bold"/>
                <a:sym typeface="Arimo Bold"/>
              </a:rPr>
              <a:t>B.Tech Project — progress review</a:t>
            </a:r>
          </a:p>
        </p:txBody>
      </p:sp>
      <p:sp>
        <p:nvSpPr>
          <p:cNvPr name="TextBox 8" id="8"/>
          <p:cNvSpPr txBox="true"/>
          <p:nvPr/>
        </p:nvSpPr>
        <p:spPr>
          <a:xfrm rot="0">
            <a:off x="990600" y="8277225"/>
            <a:ext cx="13335000" cy="400050"/>
          </a:xfrm>
          <a:prstGeom prst="rect">
            <a:avLst/>
          </a:prstGeom>
        </p:spPr>
        <p:txBody>
          <a:bodyPr anchor="t" rtlCol="false" tIns="0" lIns="0" bIns="0" rIns="0">
            <a:spAutoFit/>
          </a:bodyPr>
          <a:lstStyle/>
          <a:p>
            <a:pPr algn="l">
              <a:lnSpc>
                <a:spcPts val="3149"/>
              </a:lnSpc>
            </a:pPr>
            <a:r>
              <a:rPr lang="en-US" sz="2250">
                <a:solidFill>
                  <a:srgbClr val="F8F8F8"/>
                </a:solidFill>
                <a:latin typeface="Arimo"/>
                <a:ea typeface="Arimo"/>
                <a:cs typeface="Arimo"/>
                <a:sym typeface="Arimo"/>
              </a:rPr>
              <a:t>Rudranarayan Pradhan  ·  October 2026</a:t>
            </a:r>
          </a:p>
        </p:txBody>
      </p:sp>
      <p:grpSp>
        <p:nvGrpSpPr>
          <p:cNvPr name="Group 9" id="9"/>
          <p:cNvGrpSpPr/>
          <p:nvPr/>
        </p:nvGrpSpPr>
        <p:grpSpPr>
          <a:xfrm rot="0">
            <a:off x="1009650" y="7524750"/>
            <a:ext cx="1333500" cy="57150"/>
            <a:chOff x="0" y="0"/>
            <a:chExt cx="1778000" cy="76200"/>
          </a:xfrm>
        </p:grpSpPr>
        <p:sp>
          <p:nvSpPr>
            <p:cNvPr name="Freeform 10" id="10"/>
            <p:cNvSpPr/>
            <p:nvPr/>
          </p:nvSpPr>
          <p:spPr>
            <a:xfrm flipH="false" flipV="false" rot="0">
              <a:off x="0" y="0"/>
              <a:ext cx="1778000" cy="76200"/>
            </a:xfrm>
            <a:custGeom>
              <a:avLst/>
              <a:gdLst/>
              <a:ahLst/>
              <a:cxnLst/>
              <a:rect r="r" b="b" t="t" l="l"/>
              <a:pathLst>
                <a:path h="76200" w="1778000">
                  <a:moveTo>
                    <a:pt x="0" y="0"/>
                  </a:moveTo>
                  <a:lnTo>
                    <a:pt x="1778000" y="0"/>
                  </a:lnTo>
                  <a:lnTo>
                    <a:pt x="1778000" y="76200"/>
                  </a:lnTo>
                  <a:lnTo>
                    <a:pt x="0" y="76200"/>
                  </a:lnTo>
                  <a:close/>
                </a:path>
              </a:pathLst>
            </a:custGeom>
            <a:solidFill>
              <a:srgbClr val="4390F8"/>
            </a:solidFill>
          </p:spPr>
        </p:sp>
        <p:sp>
          <p:nvSpPr>
            <p:cNvPr name="TextBox 11" id="11"/>
            <p:cNvSpPr txBox="true"/>
            <p:nvPr/>
          </p:nvSpPr>
          <p:spPr>
            <a:xfrm>
              <a:off x="0" y="-38100"/>
              <a:ext cx="1778000" cy="1143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OVERVIEW</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Where the project stands</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3B4A5E"/>
                </a:solidFill>
                <a:latin typeface="Arimo"/>
                <a:ea typeface="Arimo"/>
                <a:cs typeface="Arimo"/>
                <a:sym typeface="Arimo"/>
              </a:rPr>
              <a:t>Three of the five stages are complete; multi-cavity designs and ANSYS verification come next</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381250"/>
            <a:ext cx="3124200" cy="3238500"/>
            <a:chOff x="0" y="0"/>
            <a:chExt cx="4165600" cy="4318000"/>
          </a:xfrm>
        </p:grpSpPr>
        <p:sp>
          <p:nvSpPr>
            <p:cNvPr name="Freeform 15" id="15"/>
            <p:cNvSpPr/>
            <p:nvPr/>
          </p:nvSpPr>
          <p:spPr>
            <a:xfrm flipH="false" flipV="false" rot="0">
              <a:off x="0" y="0"/>
              <a:ext cx="4165600" cy="4318000"/>
            </a:xfrm>
            <a:custGeom>
              <a:avLst/>
              <a:gdLst/>
              <a:ahLst/>
              <a:cxnLst/>
              <a:rect r="r" b="b" t="t" l="l"/>
              <a:pathLst>
                <a:path h="4318000" w="4165600">
                  <a:moveTo>
                    <a:pt x="69695" y="0"/>
                  </a:moveTo>
                  <a:lnTo>
                    <a:pt x="4095905" y="0"/>
                  </a:lnTo>
                  <a:cubicBezTo>
                    <a:pt x="4134396" y="0"/>
                    <a:pt x="4165600" y="31204"/>
                    <a:pt x="4165600" y="69695"/>
                  </a:cubicBezTo>
                  <a:lnTo>
                    <a:pt x="4165600" y="4248305"/>
                  </a:lnTo>
                  <a:cubicBezTo>
                    <a:pt x="4165600" y="4286796"/>
                    <a:pt x="4134396" y="4318000"/>
                    <a:pt x="4095905" y="4318000"/>
                  </a:cubicBezTo>
                  <a:lnTo>
                    <a:pt x="69695" y="4318000"/>
                  </a:lnTo>
                  <a:cubicBezTo>
                    <a:pt x="31204" y="4318000"/>
                    <a:pt x="0" y="4286796"/>
                    <a:pt x="0" y="4248305"/>
                  </a:cubicBezTo>
                  <a:lnTo>
                    <a:pt x="0" y="69695"/>
                  </a:lnTo>
                  <a:cubicBezTo>
                    <a:pt x="0" y="31204"/>
                    <a:pt x="31204" y="0"/>
                    <a:pt x="69695" y="0"/>
                  </a:cubicBezTo>
                  <a:close/>
                </a:path>
              </a:pathLst>
            </a:custGeom>
            <a:solidFill>
              <a:srgbClr val="F1F5FA"/>
            </a:solidFill>
          </p:spPr>
        </p:sp>
        <p:sp>
          <p:nvSpPr>
            <p:cNvPr name="TextBox 16" id="16"/>
            <p:cNvSpPr txBox="true"/>
            <p:nvPr/>
          </p:nvSpPr>
          <p:spPr>
            <a:xfrm>
              <a:off x="0" y="-38100"/>
              <a:ext cx="4165600" cy="4356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4267200" y="2381250"/>
            <a:ext cx="3124200" cy="3238500"/>
            <a:chOff x="0" y="0"/>
            <a:chExt cx="4165600" cy="4318000"/>
          </a:xfrm>
        </p:grpSpPr>
        <p:sp>
          <p:nvSpPr>
            <p:cNvPr name="Freeform 18" id="18"/>
            <p:cNvSpPr/>
            <p:nvPr/>
          </p:nvSpPr>
          <p:spPr>
            <a:xfrm flipH="false" flipV="false" rot="0">
              <a:off x="0" y="0"/>
              <a:ext cx="4165600" cy="4318000"/>
            </a:xfrm>
            <a:custGeom>
              <a:avLst/>
              <a:gdLst/>
              <a:ahLst/>
              <a:cxnLst/>
              <a:rect r="r" b="b" t="t" l="l"/>
              <a:pathLst>
                <a:path h="4318000" w="4165600">
                  <a:moveTo>
                    <a:pt x="69695" y="0"/>
                  </a:moveTo>
                  <a:lnTo>
                    <a:pt x="4095905" y="0"/>
                  </a:lnTo>
                  <a:cubicBezTo>
                    <a:pt x="4134396" y="0"/>
                    <a:pt x="4165600" y="31204"/>
                    <a:pt x="4165600" y="69695"/>
                  </a:cubicBezTo>
                  <a:lnTo>
                    <a:pt x="4165600" y="4248305"/>
                  </a:lnTo>
                  <a:cubicBezTo>
                    <a:pt x="4165600" y="4286796"/>
                    <a:pt x="4134396" y="4318000"/>
                    <a:pt x="4095905" y="4318000"/>
                  </a:cubicBezTo>
                  <a:lnTo>
                    <a:pt x="69695" y="4318000"/>
                  </a:lnTo>
                  <a:cubicBezTo>
                    <a:pt x="31204" y="4318000"/>
                    <a:pt x="0" y="4286796"/>
                    <a:pt x="0" y="4248305"/>
                  </a:cubicBezTo>
                  <a:lnTo>
                    <a:pt x="0" y="69695"/>
                  </a:lnTo>
                  <a:cubicBezTo>
                    <a:pt x="0" y="31204"/>
                    <a:pt x="31204" y="0"/>
                    <a:pt x="69695" y="0"/>
                  </a:cubicBezTo>
                  <a:close/>
                </a:path>
              </a:pathLst>
            </a:custGeom>
            <a:solidFill>
              <a:srgbClr val="F1F5FA"/>
            </a:solidFill>
          </p:spPr>
        </p:sp>
        <p:sp>
          <p:nvSpPr>
            <p:cNvPr name="TextBox 19" id="19"/>
            <p:cNvSpPr txBox="true"/>
            <p:nvPr/>
          </p:nvSpPr>
          <p:spPr>
            <a:xfrm>
              <a:off x="0" y="-38100"/>
              <a:ext cx="4165600" cy="43561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7581900" y="2381250"/>
            <a:ext cx="3124200" cy="3238500"/>
            <a:chOff x="0" y="0"/>
            <a:chExt cx="4165600" cy="4318000"/>
          </a:xfrm>
        </p:grpSpPr>
        <p:sp>
          <p:nvSpPr>
            <p:cNvPr name="Freeform 21" id="21"/>
            <p:cNvSpPr/>
            <p:nvPr/>
          </p:nvSpPr>
          <p:spPr>
            <a:xfrm flipH="false" flipV="false" rot="0">
              <a:off x="0" y="0"/>
              <a:ext cx="4165600" cy="4318000"/>
            </a:xfrm>
            <a:custGeom>
              <a:avLst/>
              <a:gdLst/>
              <a:ahLst/>
              <a:cxnLst/>
              <a:rect r="r" b="b" t="t" l="l"/>
              <a:pathLst>
                <a:path h="4318000" w="4165600">
                  <a:moveTo>
                    <a:pt x="69695" y="0"/>
                  </a:moveTo>
                  <a:lnTo>
                    <a:pt x="4095905" y="0"/>
                  </a:lnTo>
                  <a:cubicBezTo>
                    <a:pt x="4134396" y="0"/>
                    <a:pt x="4165600" y="31204"/>
                    <a:pt x="4165600" y="69695"/>
                  </a:cubicBezTo>
                  <a:lnTo>
                    <a:pt x="4165600" y="4248305"/>
                  </a:lnTo>
                  <a:cubicBezTo>
                    <a:pt x="4165600" y="4286796"/>
                    <a:pt x="4134396" y="4318000"/>
                    <a:pt x="4095905" y="4318000"/>
                  </a:cubicBezTo>
                  <a:lnTo>
                    <a:pt x="69695" y="4318000"/>
                  </a:lnTo>
                  <a:cubicBezTo>
                    <a:pt x="31204" y="4318000"/>
                    <a:pt x="0" y="4286796"/>
                    <a:pt x="0" y="4248305"/>
                  </a:cubicBezTo>
                  <a:lnTo>
                    <a:pt x="0" y="69695"/>
                  </a:lnTo>
                  <a:cubicBezTo>
                    <a:pt x="0" y="31204"/>
                    <a:pt x="31204" y="0"/>
                    <a:pt x="69695" y="0"/>
                  </a:cubicBezTo>
                  <a:close/>
                </a:path>
              </a:pathLst>
            </a:custGeom>
            <a:solidFill>
              <a:srgbClr val="F1F5FA"/>
            </a:solidFill>
          </p:spPr>
        </p:sp>
        <p:sp>
          <p:nvSpPr>
            <p:cNvPr name="TextBox 22" id="22"/>
            <p:cNvSpPr txBox="true"/>
            <p:nvPr/>
          </p:nvSpPr>
          <p:spPr>
            <a:xfrm>
              <a:off x="0" y="-38100"/>
              <a:ext cx="4165600" cy="43561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10896600" y="2381250"/>
            <a:ext cx="3124200" cy="3238500"/>
            <a:chOff x="0" y="0"/>
            <a:chExt cx="4165600" cy="4318000"/>
          </a:xfrm>
        </p:grpSpPr>
        <p:sp>
          <p:nvSpPr>
            <p:cNvPr name="Freeform 24" id="24"/>
            <p:cNvSpPr/>
            <p:nvPr/>
          </p:nvSpPr>
          <p:spPr>
            <a:xfrm flipH="false" flipV="false" rot="0">
              <a:off x="0" y="0"/>
              <a:ext cx="4165600" cy="4318000"/>
            </a:xfrm>
            <a:custGeom>
              <a:avLst/>
              <a:gdLst/>
              <a:ahLst/>
              <a:cxnLst/>
              <a:rect r="r" b="b" t="t" l="l"/>
              <a:pathLst>
                <a:path h="4318000" w="4165600">
                  <a:moveTo>
                    <a:pt x="69695" y="0"/>
                  </a:moveTo>
                  <a:lnTo>
                    <a:pt x="4095905" y="0"/>
                  </a:lnTo>
                  <a:cubicBezTo>
                    <a:pt x="4134396" y="0"/>
                    <a:pt x="4165600" y="31204"/>
                    <a:pt x="4165600" y="69695"/>
                  </a:cubicBezTo>
                  <a:lnTo>
                    <a:pt x="4165600" y="4248305"/>
                  </a:lnTo>
                  <a:cubicBezTo>
                    <a:pt x="4165600" y="4286796"/>
                    <a:pt x="4134396" y="4318000"/>
                    <a:pt x="4095905" y="4318000"/>
                  </a:cubicBezTo>
                  <a:lnTo>
                    <a:pt x="69695" y="4318000"/>
                  </a:lnTo>
                  <a:cubicBezTo>
                    <a:pt x="31204" y="4318000"/>
                    <a:pt x="0" y="4286796"/>
                    <a:pt x="0" y="4248305"/>
                  </a:cubicBezTo>
                  <a:lnTo>
                    <a:pt x="0" y="69695"/>
                  </a:lnTo>
                  <a:cubicBezTo>
                    <a:pt x="0" y="31204"/>
                    <a:pt x="31204" y="0"/>
                    <a:pt x="69695" y="0"/>
                  </a:cubicBezTo>
                  <a:close/>
                </a:path>
              </a:pathLst>
            </a:custGeom>
            <a:solidFill>
              <a:srgbClr val="FFFFFF"/>
            </a:solidFill>
            <a:ln w="28575" cap="sq">
              <a:solidFill>
                <a:srgbClr val="E76F51"/>
              </a:solidFill>
              <a:prstDash val="solid"/>
              <a:miter/>
            </a:ln>
          </p:spPr>
        </p:sp>
        <p:sp>
          <p:nvSpPr>
            <p:cNvPr name="TextBox 25" id="25"/>
            <p:cNvSpPr txBox="true"/>
            <p:nvPr/>
          </p:nvSpPr>
          <p:spPr>
            <a:xfrm>
              <a:off x="0" y="-38100"/>
              <a:ext cx="4165600" cy="4356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14211300" y="2381250"/>
            <a:ext cx="3124200" cy="3238500"/>
            <a:chOff x="0" y="0"/>
            <a:chExt cx="4165600" cy="4318000"/>
          </a:xfrm>
        </p:grpSpPr>
        <p:sp>
          <p:nvSpPr>
            <p:cNvPr name="Freeform 27" id="27"/>
            <p:cNvSpPr/>
            <p:nvPr/>
          </p:nvSpPr>
          <p:spPr>
            <a:xfrm flipH="false" flipV="false" rot="0">
              <a:off x="0" y="0"/>
              <a:ext cx="4165600" cy="4318000"/>
            </a:xfrm>
            <a:custGeom>
              <a:avLst/>
              <a:gdLst/>
              <a:ahLst/>
              <a:cxnLst/>
              <a:rect r="r" b="b" t="t" l="l"/>
              <a:pathLst>
                <a:path h="4318000" w="4165600">
                  <a:moveTo>
                    <a:pt x="69695" y="0"/>
                  </a:moveTo>
                  <a:lnTo>
                    <a:pt x="4095905" y="0"/>
                  </a:lnTo>
                  <a:cubicBezTo>
                    <a:pt x="4134396" y="0"/>
                    <a:pt x="4165600" y="31204"/>
                    <a:pt x="4165600" y="69695"/>
                  </a:cubicBezTo>
                  <a:lnTo>
                    <a:pt x="4165600" y="4248305"/>
                  </a:lnTo>
                  <a:cubicBezTo>
                    <a:pt x="4165600" y="4286796"/>
                    <a:pt x="4134396" y="4318000"/>
                    <a:pt x="4095905" y="4318000"/>
                  </a:cubicBezTo>
                  <a:lnTo>
                    <a:pt x="69695" y="4318000"/>
                  </a:lnTo>
                  <a:cubicBezTo>
                    <a:pt x="31204" y="4318000"/>
                    <a:pt x="0" y="4286796"/>
                    <a:pt x="0" y="4248305"/>
                  </a:cubicBezTo>
                  <a:lnTo>
                    <a:pt x="0" y="69695"/>
                  </a:lnTo>
                  <a:cubicBezTo>
                    <a:pt x="0" y="31204"/>
                    <a:pt x="31204" y="0"/>
                    <a:pt x="69695" y="0"/>
                  </a:cubicBezTo>
                  <a:close/>
                </a:path>
              </a:pathLst>
            </a:custGeom>
            <a:solidFill>
              <a:srgbClr val="FFFFFF"/>
            </a:solidFill>
            <a:ln w="28575" cap="sq">
              <a:solidFill>
                <a:srgbClr val="DCE5EF"/>
              </a:solidFill>
              <a:prstDash val="solid"/>
              <a:miter/>
            </a:ln>
          </p:spPr>
        </p:sp>
        <p:sp>
          <p:nvSpPr>
            <p:cNvPr name="TextBox 28" id="28"/>
            <p:cNvSpPr txBox="true"/>
            <p:nvPr/>
          </p:nvSpPr>
          <p:spPr>
            <a:xfrm>
              <a:off x="0" y="-38100"/>
              <a:ext cx="4165600" cy="4356100"/>
            </a:xfrm>
            <a:prstGeom prst="rect">
              <a:avLst/>
            </a:prstGeom>
          </p:spPr>
          <p:txBody>
            <a:bodyPr anchor="ctr" rtlCol="false" tIns="50800" lIns="50800" bIns="50800" rIns="50800"/>
            <a:lstStyle/>
            <a:p>
              <a:pPr algn="l">
                <a:lnSpc>
                  <a:spcPts val="1679"/>
                </a:lnSpc>
              </a:pPr>
            </a:p>
          </p:txBody>
        </p:sp>
      </p:grpSp>
      <p:sp>
        <p:nvSpPr>
          <p:cNvPr name="TextBox 29" id="29"/>
          <p:cNvSpPr txBox="true"/>
          <p:nvPr/>
        </p:nvSpPr>
        <p:spPr>
          <a:xfrm rot="0">
            <a:off x="1181100" y="2590800"/>
            <a:ext cx="2667000" cy="241935"/>
          </a:xfrm>
          <a:prstGeom prst="rect">
            <a:avLst/>
          </a:prstGeom>
        </p:spPr>
        <p:txBody>
          <a:bodyPr anchor="t" rtlCol="false" tIns="0" lIns="0" bIns="0" rIns="0">
            <a:spAutoFit/>
          </a:bodyPr>
          <a:lstStyle/>
          <a:p>
            <a:pPr algn="l">
              <a:lnSpc>
                <a:spcPts val="1889"/>
              </a:lnSpc>
            </a:pPr>
            <a:r>
              <a:rPr lang="en-US" sz="1350" b="true">
                <a:solidFill>
                  <a:srgbClr val="2A9D8F"/>
                </a:solidFill>
                <a:latin typeface="Arimo Bold"/>
                <a:ea typeface="Arimo Bold"/>
                <a:cs typeface="Arimo Bold"/>
                <a:sym typeface="Arimo Bold"/>
              </a:rPr>
              <a:t>✓ DONE</a:t>
            </a:r>
          </a:p>
        </p:txBody>
      </p:sp>
      <p:sp>
        <p:nvSpPr>
          <p:cNvPr name="TextBox 30" id="30"/>
          <p:cNvSpPr txBox="true"/>
          <p:nvPr/>
        </p:nvSpPr>
        <p:spPr>
          <a:xfrm rot="0">
            <a:off x="4495800" y="2590800"/>
            <a:ext cx="2667000" cy="241935"/>
          </a:xfrm>
          <a:prstGeom prst="rect">
            <a:avLst/>
          </a:prstGeom>
        </p:spPr>
        <p:txBody>
          <a:bodyPr anchor="t" rtlCol="false" tIns="0" lIns="0" bIns="0" rIns="0">
            <a:spAutoFit/>
          </a:bodyPr>
          <a:lstStyle/>
          <a:p>
            <a:pPr algn="l">
              <a:lnSpc>
                <a:spcPts val="1889"/>
              </a:lnSpc>
            </a:pPr>
            <a:r>
              <a:rPr lang="en-US" sz="1350" b="true">
                <a:solidFill>
                  <a:srgbClr val="2A9D8F"/>
                </a:solidFill>
                <a:latin typeface="Arimo Bold"/>
                <a:ea typeface="Arimo Bold"/>
                <a:cs typeface="Arimo Bold"/>
                <a:sym typeface="Arimo Bold"/>
              </a:rPr>
              <a:t>✓ DONE</a:t>
            </a:r>
          </a:p>
        </p:txBody>
      </p:sp>
      <p:sp>
        <p:nvSpPr>
          <p:cNvPr name="TextBox 31" id="31"/>
          <p:cNvSpPr txBox="true"/>
          <p:nvPr/>
        </p:nvSpPr>
        <p:spPr>
          <a:xfrm rot="0">
            <a:off x="7810500" y="2590800"/>
            <a:ext cx="2667000" cy="241935"/>
          </a:xfrm>
          <a:prstGeom prst="rect">
            <a:avLst/>
          </a:prstGeom>
        </p:spPr>
        <p:txBody>
          <a:bodyPr anchor="t" rtlCol="false" tIns="0" lIns="0" bIns="0" rIns="0">
            <a:spAutoFit/>
          </a:bodyPr>
          <a:lstStyle/>
          <a:p>
            <a:pPr algn="l">
              <a:lnSpc>
                <a:spcPts val="1889"/>
              </a:lnSpc>
            </a:pPr>
            <a:r>
              <a:rPr lang="en-US" sz="1350" b="true">
                <a:solidFill>
                  <a:srgbClr val="2A9D8F"/>
                </a:solidFill>
                <a:latin typeface="Arimo Bold"/>
                <a:ea typeface="Arimo Bold"/>
                <a:cs typeface="Arimo Bold"/>
                <a:sym typeface="Arimo Bold"/>
              </a:rPr>
              <a:t>✓ DONE</a:t>
            </a:r>
          </a:p>
        </p:txBody>
      </p:sp>
      <p:sp>
        <p:nvSpPr>
          <p:cNvPr name="TextBox 32" id="32"/>
          <p:cNvSpPr txBox="true"/>
          <p:nvPr/>
        </p:nvSpPr>
        <p:spPr>
          <a:xfrm rot="0">
            <a:off x="11125200" y="2590800"/>
            <a:ext cx="2667000" cy="241935"/>
          </a:xfrm>
          <a:prstGeom prst="rect">
            <a:avLst/>
          </a:prstGeom>
        </p:spPr>
        <p:txBody>
          <a:bodyPr anchor="t" rtlCol="false" tIns="0" lIns="0" bIns="0" rIns="0">
            <a:spAutoFit/>
          </a:bodyPr>
          <a:lstStyle/>
          <a:p>
            <a:pPr algn="l" marL="0" indent="0" lvl="0">
              <a:lnSpc>
                <a:spcPts val="1889"/>
              </a:lnSpc>
              <a:spcBef>
                <a:spcPct val="0"/>
              </a:spcBef>
            </a:pPr>
            <a:r>
              <a:rPr lang="en-US" b="true" sz="1350" strike="noStrike" u="none">
                <a:solidFill>
                  <a:srgbClr val="E76F51"/>
                </a:solidFill>
                <a:latin typeface="Arimo Bold"/>
                <a:ea typeface="Arimo Bold"/>
                <a:cs typeface="Arimo Bold"/>
                <a:sym typeface="Arimo Bold"/>
              </a:rPr>
              <a:t>NEXT · 5–25 OCT</a:t>
            </a:r>
          </a:p>
        </p:txBody>
      </p:sp>
      <p:sp>
        <p:nvSpPr>
          <p:cNvPr name="TextBox 33" id="33"/>
          <p:cNvSpPr txBox="true"/>
          <p:nvPr/>
        </p:nvSpPr>
        <p:spPr>
          <a:xfrm rot="0">
            <a:off x="14439900" y="2590800"/>
            <a:ext cx="2667000" cy="241935"/>
          </a:xfrm>
          <a:prstGeom prst="rect">
            <a:avLst/>
          </a:prstGeom>
        </p:spPr>
        <p:txBody>
          <a:bodyPr anchor="t" rtlCol="false" tIns="0" lIns="0" bIns="0" rIns="0">
            <a:spAutoFit/>
          </a:bodyPr>
          <a:lstStyle/>
          <a:p>
            <a:pPr algn="l" marL="0" indent="0" lvl="0">
              <a:lnSpc>
                <a:spcPts val="1889"/>
              </a:lnSpc>
              <a:spcBef>
                <a:spcPct val="0"/>
              </a:spcBef>
            </a:pPr>
            <a:r>
              <a:rPr lang="en-US" b="true" sz="1350" strike="noStrike" u="none">
                <a:solidFill>
                  <a:srgbClr val="8A97A8"/>
                </a:solidFill>
                <a:latin typeface="Arimo Bold"/>
                <a:ea typeface="Arimo Bold"/>
                <a:cs typeface="Arimo Bold"/>
                <a:sym typeface="Arimo Bold"/>
              </a:rPr>
              <a:t>FROM 26 OCT</a:t>
            </a:r>
          </a:p>
        </p:txBody>
      </p:sp>
      <p:sp>
        <p:nvSpPr>
          <p:cNvPr name="TextBox 34" id="34"/>
          <p:cNvSpPr txBox="true"/>
          <p:nvPr/>
        </p:nvSpPr>
        <p:spPr>
          <a:xfrm rot="0">
            <a:off x="1181100" y="2857500"/>
            <a:ext cx="952500" cy="731520"/>
          </a:xfrm>
          <a:prstGeom prst="rect">
            <a:avLst/>
          </a:prstGeom>
        </p:spPr>
        <p:txBody>
          <a:bodyPr anchor="t" rtlCol="false" tIns="0" lIns="0" bIns="0" rIns="0">
            <a:spAutoFit/>
          </a:bodyPr>
          <a:lstStyle/>
          <a:p>
            <a:pPr algn="l">
              <a:lnSpc>
                <a:spcPts val="5880"/>
              </a:lnSpc>
            </a:pPr>
            <a:r>
              <a:rPr lang="en-US" sz="4200" b="true">
                <a:solidFill>
                  <a:srgbClr val="4390F8"/>
                </a:solidFill>
                <a:latin typeface="Arimo Bold"/>
                <a:ea typeface="Arimo Bold"/>
                <a:cs typeface="Arimo Bold"/>
                <a:sym typeface="Arimo Bold"/>
              </a:rPr>
              <a:t>1</a:t>
            </a:r>
          </a:p>
        </p:txBody>
      </p:sp>
      <p:sp>
        <p:nvSpPr>
          <p:cNvPr name="TextBox 35" id="35"/>
          <p:cNvSpPr txBox="true"/>
          <p:nvPr/>
        </p:nvSpPr>
        <p:spPr>
          <a:xfrm rot="0">
            <a:off x="4495800" y="2857500"/>
            <a:ext cx="952500" cy="731520"/>
          </a:xfrm>
          <a:prstGeom prst="rect">
            <a:avLst/>
          </a:prstGeom>
        </p:spPr>
        <p:txBody>
          <a:bodyPr anchor="t" rtlCol="false" tIns="0" lIns="0" bIns="0" rIns="0">
            <a:spAutoFit/>
          </a:bodyPr>
          <a:lstStyle/>
          <a:p>
            <a:pPr algn="l">
              <a:lnSpc>
                <a:spcPts val="5880"/>
              </a:lnSpc>
            </a:pPr>
            <a:r>
              <a:rPr lang="en-US" sz="4200" b="true">
                <a:solidFill>
                  <a:srgbClr val="4390F8"/>
                </a:solidFill>
                <a:latin typeface="Arimo Bold"/>
                <a:ea typeface="Arimo Bold"/>
                <a:cs typeface="Arimo Bold"/>
                <a:sym typeface="Arimo Bold"/>
              </a:rPr>
              <a:t>2</a:t>
            </a:r>
          </a:p>
        </p:txBody>
      </p:sp>
      <p:sp>
        <p:nvSpPr>
          <p:cNvPr name="TextBox 36" id="36"/>
          <p:cNvSpPr txBox="true"/>
          <p:nvPr/>
        </p:nvSpPr>
        <p:spPr>
          <a:xfrm rot="0">
            <a:off x="7810500" y="2857500"/>
            <a:ext cx="952500" cy="731520"/>
          </a:xfrm>
          <a:prstGeom prst="rect">
            <a:avLst/>
          </a:prstGeom>
        </p:spPr>
        <p:txBody>
          <a:bodyPr anchor="t" rtlCol="false" tIns="0" lIns="0" bIns="0" rIns="0">
            <a:spAutoFit/>
          </a:bodyPr>
          <a:lstStyle/>
          <a:p>
            <a:pPr algn="l">
              <a:lnSpc>
                <a:spcPts val="5880"/>
              </a:lnSpc>
            </a:pPr>
            <a:r>
              <a:rPr lang="en-US" sz="4200" b="true">
                <a:solidFill>
                  <a:srgbClr val="4390F8"/>
                </a:solidFill>
                <a:latin typeface="Arimo Bold"/>
                <a:ea typeface="Arimo Bold"/>
                <a:cs typeface="Arimo Bold"/>
                <a:sym typeface="Arimo Bold"/>
              </a:rPr>
              <a:t>3</a:t>
            </a:r>
          </a:p>
        </p:txBody>
      </p:sp>
      <p:sp>
        <p:nvSpPr>
          <p:cNvPr name="TextBox 37" id="37"/>
          <p:cNvSpPr txBox="true"/>
          <p:nvPr/>
        </p:nvSpPr>
        <p:spPr>
          <a:xfrm rot="0">
            <a:off x="11125200" y="2857500"/>
            <a:ext cx="952500" cy="731520"/>
          </a:xfrm>
          <a:prstGeom prst="rect">
            <a:avLst/>
          </a:prstGeom>
        </p:spPr>
        <p:txBody>
          <a:bodyPr anchor="t" rtlCol="false" tIns="0" lIns="0" bIns="0" rIns="0">
            <a:spAutoFit/>
          </a:bodyPr>
          <a:lstStyle/>
          <a:p>
            <a:pPr algn="l">
              <a:lnSpc>
                <a:spcPts val="5880"/>
              </a:lnSpc>
            </a:pPr>
            <a:r>
              <a:rPr lang="en-US" sz="4200" b="true">
                <a:solidFill>
                  <a:srgbClr val="E76F51"/>
                </a:solidFill>
                <a:latin typeface="Arimo Bold"/>
                <a:ea typeface="Arimo Bold"/>
                <a:cs typeface="Arimo Bold"/>
                <a:sym typeface="Arimo Bold"/>
              </a:rPr>
              <a:t>4</a:t>
            </a:r>
          </a:p>
        </p:txBody>
      </p:sp>
      <p:sp>
        <p:nvSpPr>
          <p:cNvPr name="TextBox 38" id="38"/>
          <p:cNvSpPr txBox="true"/>
          <p:nvPr/>
        </p:nvSpPr>
        <p:spPr>
          <a:xfrm rot="0">
            <a:off x="14439900" y="2857500"/>
            <a:ext cx="952500" cy="731520"/>
          </a:xfrm>
          <a:prstGeom prst="rect">
            <a:avLst/>
          </a:prstGeom>
        </p:spPr>
        <p:txBody>
          <a:bodyPr anchor="t" rtlCol="false" tIns="0" lIns="0" bIns="0" rIns="0">
            <a:spAutoFit/>
          </a:bodyPr>
          <a:lstStyle/>
          <a:p>
            <a:pPr algn="l">
              <a:lnSpc>
                <a:spcPts val="5880"/>
              </a:lnSpc>
            </a:pPr>
            <a:r>
              <a:rPr lang="en-US" sz="4200" b="true">
                <a:solidFill>
                  <a:srgbClr val="8A97A8"/>
                </a:solidFill>
                <a:latin typeface="Arimo Bold"/>
                <a:ea typeface="Arimo Bold"/>
                <a:cs typeface="Arimo Bold"/>
                <a:sym typeface="Arimo Bold"/>
              </a:rPr>
              <a:t>5</a:t>
            </a:r>
          </a:p>
        </p:txBody>
      </p:sp>
      <p:sp>
        <p:nvSpPr>
          <p:cNvPr name="TextBox 39" id="39"/>
          <p:cNvSpPr txBox="true"/>
          <p:nvPr/>
        </p:nvSpPr>
        <p:spPr>
          <a:xfrm rot="0">
            <a:off x="1181100" y="3676650"/>
            <a:ext cx="2667000" cy="350520"/>
          </a:xfrm>
          <a:prstGeom prst="rect">
            <a:avLst/>
          </a:prstGeom>
        </p:spPr>
        <p:txBody>
          <a:bodyPr anchor="t" rtlCol="false" tIns="0" lIns="0" bIns="0" rIns="0">
            <a:spAutoFit/>
          </a:bodyPr>
          <a:lstStyle/>
          <a:p>
            <a:pPr algn="l">
              <a:lnSpc>
                <a:spcPts val="2729"/>
              </a:lnSpc>
            </a:pPr>
            <a:r>
              <a:rPr lang="en-US" sz="1950" b="true">
                <a:solidFill>
                  <a:srgbClr val="0E1E3A"/>
                </a:solidFill>
                <a:latin typeface="Arimo Bold"/>
                <a:ea typeface="Arimo Bold"/>
                <a:cs typeface="Arimo Bold"/>
                <a:sym typeface="Arimo Bold"/>
              </a:rPr>
              <a:t>Derivation</a:t>
            </a:r>
          </a:p>
        </p:txBody>
      </p:sp>
      <p:sp>
        <p:nvSpPr>
          <p:cNvPr name="TextBox 40" id="40"/>
          <p:cNvSpPr txBox="true"/>
          <p:nvPr/>
        </p:nvSpPr>
        <p:spPr>
          <a:xfrm rot="0">
            <a:off x="4495800" y="3676650"/>
            <a:ext cx="2667000" cy="350520"/>
          </a:xfrm>
          <a:prstGeom prst="rect">
            <a:avLst/>
          </a:prstGeom>
        </p:spPr>
        <p:txBody>
          <a:bodyPr anchor="t" rtlCol="false" tIns="0" lIns="0" bIns="0" rIns="0">
            <a:spAutoFit/>
          </a:bodyPr>
          <a:lstStyle/>
          <a:p>
            <a:pPr algn="l">
              <a:lnSpc>
                <a:spcPts val="2729"/>
              </a:lnSpc>
            </a:pPr>
            <a:r>
              <a:rPr lang="en-US" sz="1950" b="true">
                <a:solidFill>
                  <a:srgbClr val="0E1E3A"/>
                </a:solidFill>
                <a:latin typeface="Arimo Bold"/>
                <a:ea typeface="Arimo Bold"/>
                <a:cs typeface="Arimo Bold"/>
                <a:sym typeface="Arimo Bold"/>
              </a:rPr>
              <a:t>Analytical models</a:t>
            </a:r>
          </a:p>
        </p:txBody>
      </p:sp>
      <p:sp>
        <p:nvSpPr>
          <p:cNvPr name="TextBox 41" id="41"/>
          <p:cNvSpPr txBox="true"/>
          <p:nvPr/>
        </p:nvSpPr>
        <p:spPr>
          <a:xfrm rot="0">
            <a:off x="7810500" y="3676650"/>
            <a:ext cx="2667000" cy="350520"/>
          </a:xfrm>
          <a:prstGeom prst="rect">
            <a:avLst/>
          </a:prstGeom>
        </p:spPr>
        <p:txBody>
          <a:bodyPr anchor="t" rtlCol="false" tIns="0" lIns="0" bIns="0" rIns="0">
            <a:spAutoFit/>
          </a:bodyPr>
          <a:lstStyle/>
          <a:p>
            <a:pPr algn="l">
              <a:lnSpc>
                <a:spcPts val="2729"/>
              </a:lnSpc>
            </a:pPr>
            <a:r>
              <a:rPr lang="en-US" sz="1950" b="true">
                <a:solidFill>
                  <a:srgbClr val="0E1E3A"/>
                </a:solidFill>
                <a:latin typeface="Arimo Bold"/>
                <a:ea typeface="Arimo Bold"/>
                <a:cs typeface="Arimo Bold"/>
                <a:sym typeface="Arimo Bold"/>
              </a:rPr>
              <a:t>3-D nonlinear FEA</a:t>
            </a:r>
          </a:p>
        </p:txBody>
      </p:sp>
      <p:sp>
        <p:nvSpPr>
          <p:cNvPr name="TextBox 42" id="42"/>
          <p:cNvSpPr txBox="true"/>
          <p:nvPr/>
        </p:nvSpPr>
        <p:spPr>
          <a:xfrm rot="0">
            <a:off x="11125200" y="3676650"/>
            <a:ext cx="2667000" cy="350520"/>
          </a:xfrm>
          <a:prstGeom prst="rect">
            <a:avLst/>
          </a:prstGeom>
        </p:spPr>
        <p:txBody>
          <a:bodyPr anchor="t" rtlCol="false" tIns="0" lIns="0" bIns="0" rIns="0">
            <a:spAutoFit/>
          </a:bodyPr>
          <a:lstStyle/>
          <a:p>
            <a:pPr algn="l" marL="0" indent="0" lvl="0">
              <a:lnSpc>
                <a:spcPts val="2729"/>
              </a:lnSpc>
              <a:spcBef>
                <a:spcPct val="0"/>
              </a:spcBef>
            </a:pPr>
            <a:r>
              <a:rPr lang="en-US" b="true" sz="1950" strike="noStrike" u="none">
                <a:solidFill>
                  <a:srgbClr val="0E1E3A"/>
                </a:solidFill>
                <a:latin typeface="Arimo Bold"/>
                <a:ea typeface="Arimo Bold"/>
                <a:cs typeface="Arimo Bold"/>
                <a:sym typeface="Arimo Bold"/>
              </a:rPr>
              <a:t>Multi-cavity + ANSYS</a:t>
            </a:r>
          </a:p>
        </p:txBody>
      </p:sp>
      <p:sp>
        <p:nvSpPr>
          <p:cNvPr name="TextBox 43" id="43"/>
          <p:cNvSpPr txBox="true"/>
          <p:nvPr/>
        </p:nvSpPr>
        <p:spPr>
          <a:xfrm rot="0">
            <a:off x="14439900" y="3676650"/>
            <a:ext cx="2667000" cy="350520"/>
          </a:xfrm>
          <a:prstGeom prst="rect">
            <a:avLst/>
          </a:prstGeom>
        </p:spPr>
        <p:txBody>
          <a:bodyPr anchor="t" rtlCol="false" tIns="0" lIns="0" bIns="0" rIns="0">
            <a:spAutoFit/>
          </a:bodyPr>
          <a:lstStyle/>
          <a:p>
            <a:pPr algn="l" marL="0" indent="0" lvl="0">
              <a:lnSpc>
                <a:spcPts val="2729"/>
              </a:lnSpc>
              <a:spcBef>
                <a:spcPct val="0"/>
              </a:spcBef>
            </a:pPr>
            <a:r>
              <a:rPr lang="en-US" b="true" sz="1950" strike="noStrike" u="none">
                <a:solidFill>
                  <a:srgbClr val="0E1E3A"/>
                </a:solidFill>
                <a:latin typeface="Arimo Bold"/>
                <a:ea typeface="Arimo Bold"/>
                <a:cs typeface="Arimo Bold"/>
                <a:sym typeface="Arimo Bold"/>
              </a:rPr>
              <a:t>Mould + tests</a:t>
            </a:r>
          </a:p>
        </p:txBody>
      </p:sp>
      <p:sp>
        <p:nvSpPr>
          <p:cNvPr name="TextBox 44" id="44"/>
          <p:cNvSpPr txBox="true"/>
          <p:nvPr/>
        </p:nvSpPr>
        <p:spPr>
          <a:xfrm rot="0">
            <a:off x="1181100" y="4133850"/>
            <a:ext cx="2667000" cy="781050"/>
          </a:xfrm>
          <a:prstGeom prst="rect">
            <a:avLst/>
          </a:prstGeom>
        </p:spPr>
        <p:txBody>
          <a:bodyPr anchor="t" rtlCol="false" tIns="0" lIns="0" bIns="0" rIns="0">
            <a:spAutoFit/>
          </a:bodyPr>
          <a:lstStyle/>
          <a:p>
            <a:pPr algn="l" marL="0" indent="0" lvl="0">
              <a:lnSpc>
                <a:spcPts val="2025"/>
              </a:lnSpc>
              <a:spcBef>
                <a:spcPct val="0"/>
              </a:spcBef>
            </a:pPr>
            <a:r>
              <a:rPr lang="en-US" sz="1500" strike="noStrike" u="none">
                <a:solidFill>
                  <a:srgbClr val="3B4A5E"/>
                </a:solidFill>
                <a:latin typeface="Arimo"/>
                <a:ea typeface="Arimo"/>
                <a:cs typeface="Arimo"/>
                <a:sym typeface="Arimo"/>
              </a:rPr>
              <a:t>Derived the section properties, pressure loading and bending, step by step.</a:t>
            </a:r>
          </a:p>
        </p:txBody>
      </p:sp>
      <p:sp>
        <p:nvSpPr>
          <p:cNvPr name="TextBox 45" id="45"/>
          <p:cNvSpPr txBox="true"/>
          <p:nvPr/>
        </p:nvSpPr>
        <p:spPr>
          <a:xfrm rot="0">
            <a:off x="4495800" y="4133850"/>
            <a:ext cx="2667000" cy="523875"/>
          </a:xfrm>
          <a:prstGeom prst="rect">
            <a:avLst/>
          </a:prstGeom>
        </p:spPr>
        <p:txBody>
          <a:bodyPr anchor="t" rtlCol="false" tIns="0" lIns="0" bIns="0" rIns="0">
            <a:spAutoFit/>
          </a:bodyPr>
          <a:lstStyle/>
          <a:p>
            <a:pPr algn="l" marL="0" indent="0" lvl="0">
              <a:lnSpc>
                <a:spcPts val="2025"/>
              </a:lnSpc>
              <a:spcBef>
                <a:spcPct val="0"/>
              </a:spcBef>
            </a:pPr>
            <a:r>
              <a:rPr lang="en-US" sz="1500" strike="noStrike" u="none">
                <a:solidFill>
                  <a:srgbClr val="3B4A5E"/>
                </a:solidFill>
                <a:latin typeface="Arimo"/>
                <a:ea typeface="Arimo"/>
                <a:cs typeface="Arimo"/>
                <a:sym typeface="Arimo"/>
              </a:rPr>
              <a:t>Three beam-model tiers: linear, (1−2ν) factor, wall expansion.</a:t>
            </a:r>
          </a:p>
        </p:txBody>
      </p:sp>
      <p:sp>
        <p:nvSpPr>
          <p:cNvPr name="TextBox 46" id="46"/>
          <p:cNvSpPr txBox="true"/>
          <p:nvPr/>
        </p:nvSpPr>
        <p:spPr>
          <a:xfrm rot="0">
            <a:off x="7810500" y="4133850"/>
            <a:ext cx="2667000" cy="781050"/>
          </a:xfrm>
          <a:prstGeom prst="rect">
            <a:avLst/>
          </a:prstGeom>
        </p:spPr>
        <p:txBody>
          <a:bodyPr anchor="t" rtlCol="false" tIns="0" lIns="0" bIns="0" rIns="0">
            <a:spAutoFit/>
          </a:bodyPr>
          <a:lstStyle/>
          <a:p>
            <a:pPr algn="l">
              <a:lnSpc>
                <a:spcPts val="2025"/>
              </a:lnSpc>
            </a:pPr>
            <a:r>
              <a:rPr lang="en-US" sz="1500">
                <a:solidFill>
                  <a:srgbClr val="3B4A5E"/>
                </a:solidFill>
                <a:latin typeface="Arimo"/>
                <a:ea typeface="Arimo"/>
                <a:cs typeface="Arimo"/>
                <a:sym typeface="Arimo"/>
              </a:rPr>
              <a:t>In-house hyperelastic FE solver, verified, then swept the bare and sleeved designs.</a:t>
            </a:r>
          </a:p>
        </p:txBody>
      </p:sp>
      <p:sp>
        <p:nvSpPr>
          <p:cNvPr name="TextBox 47" id="47"/>
          <p:cNvSpPr txBox="true"/>
          <p:nvPr/>
        </p:nvSpPr>
        <p:spPr>
          <a:xfrm rot="0">
            <a:off x="11125200" y="4133850"/>
            <a:ext cx="2667000" cy="1038225"/>
          </a:xfrm>
          <a:prstGeom prst="rect">
            <a:avLst/>
          </a:prstGeom>
        </p:spPr>
        <p:txBody>
          <a:bodyPr anchor="t" rtlCol="false" tIns="0" lIns="0" bIns="0" rIns="0">
            <a:spAutoFit/>
          </a:bodyPr>
          <a:lstStyle/>
          <a:p>
            <a:pPr algn="l" marL="0" indent="0" lvl="0">
              <a:lnSpc>
                <a:spcPts val="2025"/>
              </a:lnSpc>
              <a:spcBef>
                <a:spcPct val="0"/>
              </a:spcBef>
            </a:pPr>
            <a:r>
              <a:rPr lang="en-US" sz="1500" strike="noStrike" u="none">
                <a:solidFill>
                  <a:srgbClr val="3B4A5E"/>
                </a:solidFill>
                <a:latin typeface="Arimo"/>
                <a:ea typeface="Arimo"/>
                <a:cs typeface="Arimo"/>
                <a:sym typeface="Arimo"/>
              </a:rPr>
              <a:t>Several eccentric cavities for bending in any x–y direction, then an ANSYS check of every model.</a:t>
            </a:r>
          </a:p>
        </p:txBody>
      </p:sp>
      <p:sp>
        <p:nvSpPr>
          <p:cNvPr name="TextBox 48" id="48"/>
          <p:cNvSpPr txBox="true"/>
          <p:nvPr/>
        </p:nvSpPr>
        <p:spPr>
          <a:xfrm rot="0">
            <a:off x="14439900" y="4133850"/>
            <a:ext cx="2667000" cy="781050"/>
          </a:xfrm>
          <a:prstGeom prst="rect">
            <a:avLst/>
          </a:prstGeom>
        </p:spPr>
        <p:txBody>
          <a:bodyPr anchor="t" rtlCol="false" tIns="0" lIns="0" bIns="0" rIns="0">
            <a:spAutoFit/>
          </a:bodyPr>
          <a:lstStyle/>
          <a:p>
            <a:pPr algn="l" marL="0" indent="0" lvl="0">
              <a:lnSpc>
                <a:spcPts val="2025"/>
              </a:lnSpc>
              <a:spcBef>
                <a:spcPct val="0"/>
              </a:spcBef>
            </a:pPr>
            <a:r>
              <a:rPr lang="en-US" sz="1500" strike="noStrike" u="none">
                <a:solidFill>
                  <a:srgbClr val="3B4A5E"/>
                </a:solidFill>
                <a:latin typeface="Arimo"/>
                <a:ea typeface="Arimo"/>
                <a:cs typeface="Arimo"/>
                <a:sym typeface="Arimo"/>
              </a:rPr>
              <a:t>3-D printed mould, cast actuators, pressure tests compared with the models.</a:t>
            </a:r>
          </a:p>
        </p:txBody>
      </p:sp>
      <p:sp>
        <p:nvSpPr>
          <p:cNvPr name="TextBox 49" id="49"/>
          <p:cNvSpPr txBox="true"/>
          <p:nvPr/>
        </p:nvSpPr>
        <p:spPr>
          <a:xfrm rot="0">
            <a:off x="952500" y="595312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IN THIS TALK</a:t>
            </a:r>
          </a:p>
        </p:txBody>
      </p:sp>
      <p:grpSp>
        <p:nvGrpSpPr>
          <p:cNvPr name="Group 50" id="50"/>
          <p:cNvGrpSpPr/>
          <p:nvPr/>
        </p:nvGrpSpPr>
        <p:grpSpPr>
          <a:xfrm rot="0">
            <a:off x="952500" y="6381750"/>
            <a:ext cx="3124200" cy="1047750"/>
            <a:chOff x="0" y="0"/>
            <a:chExt cx="4165600" cy="1397000"/>
          </a:xfrm>
        </p:grpSpPr>
        <p:sp>
          <p:nvSpPr>
            <p:cNvPr name="Freeform 51" id="51"/>
            <p:cNvSpPr/>
            <p:nvPr/>
          </p:nvSpPr>
          <p:spPr>
            <a:xfrm flipH="false" flipV="false" rot="0">
              <a:off x="0" y="0"/>
              <a:ext cx="4165600" cy="1397000"/>
            </a:xfrm>
            <a:custGeom>
              <a:avLst/>
              <a:gdLst/>
              <a:ahLst/>
              <a:cxnLst/>
              <a:rect r="r" b="b" t="t" l="l"/>
              <a:pathLst>
                <a:path h="1397000" w="4165600">
                  <a:moveTo>
                    <a:pt x="54207" y="0"/>
                  </a:moveTo>
                  <a:lnTo>
                    <a:pt x="4111393" y="0"/>
                  </a:lnTo>
                  <a:cubicBezTo>
                    <a:pt x="4125769" y="0"/>
                    <a:pt x="4139557" y="5711"/>
                    <a:pt x="4149723" y="15877"/>
                  </a:cubicBezTo>
                  <a:cubicBezTo>
                    <a:pt x="4159889" y="26043"/>
                    <a:pt x="4165600" y="39831"/>
                    <a:pt x="4165600" y="54207"/>
                  </a:cubicBezTo>
                  <a:lnTo>
                    <a:pt x="4165600" y="1342793"/>
                  </a:lnTo>
                  <a:cubicBezTo>
                    <a:pt x="4165600" y="1357169"/>
                    <a:pt x="4159889" y="1370957"/>
                    <a:pt x="4149723" y="1381123"/>
                  </a:cubicBezTo>
                  <a:cubicBezTo>
                    <a:pt x="4139557" y="1391289"/>
                    <a:pt x="4125769" y="1397000"/>
                    <a:pt x="4111393" y="1397000"/>
                  </a:cubicBezTo>
                  <a:lnTo>
                    <a:pt x="54207" y="1397000"/>
                  </a:lnTo>
                  <a:cubicBezTo>
                    <a:pt x="39831" y="1397000"/>
                    <a:pt x="26043" y="1391289"/>
                    <a:pt x="15877" y="1381123"/>
                  </a:cubicBezTo>
                  <a:cubicBezTo>
                    <a:pt x="5711" y="1370957"/>
                    <a:pt x="0" y="1357169"/>
                    <a:pt x="0" y="1342793"/>
                  </a:cubicBezTo>
                  <a:lnTo>
                    <a:pt x="0" y="54207"/>
                  </a:lnTo>
                  <a:cubicBezTo>
                    <a:pt x="0" y="39831"/>
                    <a:pt x="5711" y="26043"/>
                    <a:pt x="15877" y="15877"/>
                  </a:cubicBezTo>
                  <a:cubicBezTo>
                    <a:pt x="26043" y="5711"/>
                    <a:pt x="39831" y="0"/>
                    <a:pt x="54207" y="0"/>
                  </a:cubicBezTo>
                  <a:close/>
                </a:path>
              </a:pathLst>
            </a:custGeom>
            <a:solidFill>
              <a:srgbClr val="0E1E3A"/>
            </a:solidFill>
          </p:spPr>
        </p:sp>
        <p:sp>
          <p:nvSpPr>
            <p:cNvPr name="TextBox 52" id="52"/>
            <p:cNvSpPr txBox="true"/>
            <p:nvPr/>
          </p:nvSpPr>
          <p:spPr>
            <a:xfrm>
              <a:off x="0" y="-38100"/>
              <a:ext cx="4165600" cy="1435100"/>
            </a:xfrm>
            <a:prstGeom prst="rect">
              <a:avLst/>
            </a:prstGeom>
          </p:spPr>
          <p:txBody>
            <a:bodyPr anchor="ctr" rtlCol="false" tIns="50800" lIns="50800" bIns="50800" rIns="50800"/>
            <a:lstStyle/>
            <a:p>
              <a:pPr algn="l">
                <a:lnSpc>
                  <a:spcPts val="1679"/>
                </a:lnSpc>
              </a:pPr>
            </a:p>
          </p:txBody>
        </p:sp>
      </p:grpSp>
      <p:grpSp>
        <p:nvGrpSpPr>
          <p:cNvPr name="Group 53" id="53"/>
          <p:cNvGrpSpPr/>
          <p:nvPr/>
        </p:nvGrpSpPr>
        <p:grpSpPr>
          <a:xfrm rot="0">
            <a:off x="4267200" y="6381750"/>
            <a:ext cx="3124200" cy="1047750"/>
            <a:chOff x="0" y="0"/>
            <a:chExt cx="4165600" cy="1397000"/>
          </a:xfrm>
        </p:grpSpPr>
        <p:sp>
          <p:nvSpPr>
            <p:cNvPr name="Freeform 54" id="54"/>
            <p:cNvSpPr/>
            <p:nvPr/>
          </p:nvSpPr>
          <p:spPr>
            <a:xfrm flipH="false" flipV="false" rot="0">
              <a:off x="0" y="0"/>
              <a:ext cx="4165600" cy="1397000"/>
            </a:xfrm>
            <a:custGeom>
              <a:avLst/>
              <a:gdLst/>
              <a:ahLst/>
              <a:cxnLst/>
              <a:rect r="r" b="b" t="t" l="l"/>
              <a:pathLst>
                <a:path h="1397000" w="4165600">
                  <a:moveTo>
                    <a:pt x="54207" y="0"/>
                  </a:moveTo>
                  <a:lnTo>
                    <a:pt x="4111393" y="0"/>
                  </a:lnTo>
                  <a:cubicBezTo>
                    <a:pt x="4125769" y="0"/>
                    <a:pt x="4139557" y="5711"/>
                    <a:pt x="4149723" y="15877"/>
                  </a:cubicBezTo>
                  <a:cubicBezTo>
                    <a:pt x="4159889" y="26043"/>
                    <a:pt x="4165600" y="39831"/>
                    <a:pt x="4165600" y="54207"/>
                  </a:cubicBezTo>
                  <a:lnTo>
                    <a:pt x="4165600" y="1342793"/>
                  </a:lnTo>
                  <a:cubicBezTo>
                    <a:pt x="4165600" y="1357169"/>
                    <a:pt x="4159889" y="1370957"/>
                    <a:pt x="4149723" y="1381123"/>
                  </a:cubicBezTo>
                  <a:cubicBezTo>
                    <a:pt x="4139557" y="1391289"/>
                    <a:pt x="4125769" y="1397000"/>
                    <a:pt x="4111393" y="1397000"/>
                  </a:cubicBezTo>
                  <a:lnTo>
                    <a:pt x="54207" y="1397000"/>
                  </a:lnTo>
                  <a:cubicBezTo>
                    <a:pt x="39831" y="1397000"/>
                    <a:pt x="26043" y="1391289"/>
                    <a:pt x="15877" y="1381123"/>
                  </a:cubicBezTo>
                  <a:cubicBezTo>
                    <a:pt x="5711" y="1370957"/>
                    <a:pt x="0" y="1357169"/>
                    <a:pt x="0" y="1342793"/>
                  </a:cubicBezTo>
                  <a:lnTo>
                    <a:pt x="0" y="54207"/>
                  </a:lnTo>
                  <a:cubicBezTo>
                    <a:pt x="0" y="39831"/>
                    <a:pt x="5711" y="26043"/>
                    <a:pt x="15877" y="15877"/>
                  </a:cubicBezTo>
                  <a:cubicBezTo>
                    <a:pt x="26043" y="5711"/>
                    <a:pt x="39831" y="0"/>
                    <a:pt x="54207" y="0"/>
                  </a:cubicBezTo>
                  <a:close/>
                </a:path>
              </a:pathLst>
            </a:custGeom>
            <a:solidFill>
              <a:srgbClr val="0E1E3A"/>
            </a:solidFill>
          </p:spPr>
        </p:sp>
        <p:sp>
          <p:nvSpPr>
            <p:cNvPr name="TextBox 55" id="55"/>
            <p:cNvSpPr txBox="true"/>
            <p:nvPr/>
          </p:nvSpPr>
          <p:spPr>
            <a:xfrm>
              <a:off x="0" y="-38100"/>
              <a:ext cx="4165600" cy="1435100"/>
            </a:xfrm>
            <a:prstGeom prst="rect">
              <a:avLst/>
            </a:prstGeom>
          </p:spPr>
          <p:txBody>
            <a:bodyPr anchor="ctr" rtlCol="false" tIns="50800" lIns="50800" bIns="50800" rIns="50800"/>
            <a:lstStyle/>
            <a:p>
              <a:pPr algn="l">
                <a:lnSpc>
                  <a:spcPts val="1679"/>
                </a:lnSpc>
              </a:pPr>
            </a:p>
          </p:txBody>
        </p:sp>
      </p:grpSp>
      <p:grpSp>
        <p:nvGrpSpPr>
          <p:cNvPr name="Group 56" id="56"/>
          <p:cNvGrpSpPr/>
          <p:nvPr/>
        </p:nvGrpSpPr>
        <p:grpSpPr>
          <a:xfrm rot="0">
            <a:off x="7581900" y="6381750"/>
            <a:ext cx="3124200" cy="1047750"/>
            <a:chOff x="0" y="0"/>
            <a:chExt cx="4165600" cy="1397000"/>
          </a:xfrm>
        </p:grpSpPr>
        <p:sp>
          <p:nvSpPr>
            <p:cNvPr name="Freeform 57" id="57"/>
            <p:cNvSpPr/>
            <p:nvPr/>
          </p:nvSpPr>
          <p:spPr>
            <a:xfrm flipH="false" flipV="false" rot="0">
              <a:off x="0" y="0"/>
              <a:ext cx="4165600" cy="1397000"/>
            </a:xfrm>
            <a:custGeom>
              <a:avLst/>
              <a:gdLst/>
              <a:ahLst/>
              <a:cxnLst/>
              <a:rect r="r" b="b" t="t" l="l"/>
              <a:pathLst>
                <a:path h="1397000" w="4165600">
                  <a:moveTo>
                    <a:pt x="54207" y="0"/>
                  </a:moveTo>
                  <a:lnTo>
                    <a:pt x="4111393" y="0"/>
                  </a:lnTo>
                  <a:cubicBezTo>
                    <a:pt x="4125769" y="0"/>
                    <a:pt x="4139557" y="5711"/>
                    <a:pt x="4149723" y="15877"/>
                  </a:cubicBezTo>
                  <a:cubicBezTo>
                    <a:pt x="4159889" y="26043"/>
                    <a:pt x="4165600" y="39831"/>
                    <a:pt x="4165600" y="54207"/>
                  </a:cubicBezTo>
                  <a:lnTo>
                    <a:pt x="4165600" y="1342793"/>
                  </a:lnTo>
                  <a:cubicBezTo>
                    <a:pt x="4165600" y="1357169"/>
                    <a:pt x="4159889" y="1370957"/>
                    <a:pt x="4149723" y="1381123"/>
                  </a:cubicBezTo>
                  <a:cubicBezTo>
                    <a:pt x="4139557" y="1391289"/>
                    <a:pt x="4125769" y="1397000"/>
                    <a:pt x="4111393" y="1397000"/>
                  </a:cubicBezTo>
                  <a:lnTo>
                    <a:pt x="54207" y="1397000"/>
                  </a:lnTo>
                  <a:cubicBezTo>
                    <a:pt x="39831" y="1397000"/>
                    <a:pt x="26043" y="1391289"/>
                    <a:pt x="15877" y="1381123"/>
                  </a:cubicBezTo>
                  <a:cubicBezTo>
                    <a:pt x="5711" y="1370957"/>
                    <a:pt x="0" y="1357169"/>
                    <a:pt x="0" y="1342793"/>
                  </a:cubicBezTo>
                  <a:lnTo>
                    <a:pt x="0" y="54207"/>
                  </a:lnTo>
                  <a:cubicBezTo>
                    <a:pt x="0" y="39831"/>
                    <a:pt x="5711" y="26043"/>
                    <a:pt x="15877" y="15877"/>
                  </a:cubicBezTo>
                  <a:cubicBezTo>
                    <a:pt x="26043" y="5711"/>
                    <a:pt x="39831" y="0"/>
                    <a:pt x="54207" y="0"/>
                  </a:cubicBezTo>
                  <a:close/>
                </a:path>
              </a:pathLst>
            </a:custGeom>
            <a:solidFill>
              <a:srgbClr val="0E1E3A"/>
            </a:solidFill>
          </p:spPr>
        </p:sp>
        <p:sp>
          <p:nvSpPr>
            <p:cNvPr name="TextBox 58" id="58"/>
            <p:cNvSpPr txBox="true"/>
            <p:nvPr/>
          </p:nvSpPr>
          <p:spPr>
            <a:xfrm>
              <a:off x="0" y="-38100"/>
              <a:ext cx="4165600" cy="1435100"/>
            </a:xfrm>
            <a:prstGeom prst="rect">
              <a:avLst/>
            </a:prstGeom>
          </p:spPr>
          <p:txBody>
            <a:bodyPr anchor="ctr" rtlCol="false" tIns="50800" lIns="50800" bIns="50800" rIns="50800"/>
            <a:lstStyle/>
            <a:p>
              <a:pPr algn="l">
                <a:lnSpc>
                  <a:spcPts val="1679"/>
                </a:lnSpc>
              </a:pPr>
            </a:p>
          </p:txBody>
        </p:sp>
      </p:grpSp>
      <p:grpSp>
        <p:nvGrpSpPr>
          <p:cNvPr name="Group 59" id="59"/>
          <p:cNvGrpSpPr/>
          <p:nvPr/>
        </p:nvGrpSpPr>
        <p:grpSpPr>
          <a:xfrm rot="0">
            <a:off x="10896600" y="6381750"/>
            <a:ext cx="3124200" cy="1047750"/>
            <a:chOff x="0" y="0"/>
            <a:chExt cx="4165600" cy="1397000"/>
          </a:xfrm>
        </p:grpSpPr>
        <p:sp>
          <p:nvSpPr>
            <p:cNvPr name="Freeform 60" id="60"/>
            <p:cNvSpPr/>
            <p:nvPr/>
          </p:nvSpPr>
          <p:spPr>
            <a:xfrm flipH="false" flipV="false" rot="0">
              <a:off x="0" y="0"/>
              <a:ext cx="4165600" cy="1397000"/>
            </a:xfrm>
            <a:custGeom>
              <a:avLst/>
              <a:gdLst/>
              <a:ahLst/>
              <a:cxnLst/>
              <a:rect r="r" b="b" t="t" l="l"/>
              <a:pathLst>
                <a:path h="1397000" w="4165600">
                  <a:moveTo>
                    <a:pt x="54207" y="0"/>
                  </a:moveTo>
                  <a:lnTo>
                    <a:pt x="4111393" y="0"/>
                  </a:lnTo>
                  <a:cubicBezTo>
                    <a:pt x="4125769" y="0"/>
                    <a:pt x="4139557" y="5711"/>
                    <a:pt x="4149723" y="15877"/>
                  </a:cubicBezTo>
                  <a:cubicBezTo>
                    <a:pt x="4159889" y="26043"/>
                    <a:pt x="4165600" y="39831"/>
                    <a:pt x="4165600" y="54207"/>
                  </a:cubicBezTo>
                  <a:lnTo>
                    <a:pt x="4165600" y="1342793"/>
                  </a:lnTo>
                  <a:cubicBezTo>
                    <a:pt x="4165600" y="1357169"/>
                    <a:pt x="4159889" y="1370957"/>
                    <a:pt x="4149723" y="1381123"/>
                  </a:cubicBezTo>
                  <a:cubicBezTo>
                    <a:pt x="4139557" y="1391289"/>
                    <a:pt x="4125769" y="1397000"/>
                    <a:pt x="4111393" y="1397000"/>
                  </a:cubicBezTo>
                  <a:lnTo>
                    <a:pt x="54207" y="1397000"/>
                  </a:lnTo>
                  <a:cubicBezTo>
                    <a:pt x="39831" y="1397000"/>
                    <a:pt x="26043" y="1391289"/>
                    <a:pt x="15877" y="1381123"/>
                  </a:cubicBezTo>
                  <a:cubicBezTo>
                    <a:pt x="5711" y="1370957"/>
                    <a:pt x="0" y="1357169"/>
                    <a:pt x="0" y="1342793"/>
                  </a:cubicBezTo>
                  <a:lnTo>
                    <a:pt x="0" y="54207"/>
                  </a:lnTo>
                  <a:cubicBezTo>
                    <a:pt x="0" y="39831"/>
                    <a:pt x="5711" y="26043"/>
                    <a:pt x="15877" y="15877"/>
                  </a:cubicBezTo>
                  <a:cubicBezTo>
                    <a:pt x="26043" y="5711"/>
                    <a:pt x="39831" y="0"/>
                    <a:pt x="54207" y="0"/>
                  </a:cubicBezTo>
                  <a:close/>
                </a:path>
              </a:pathLst>
            </a:custGeom>
            <a:solidFill>
              <a:srgbClr val="0E1E3A"/>
            </a:solidFill>
          </p:spPr>
        </p:sp>
        <p:sp>
          <p:nvSpPr>
            <p:cNvPr name="TextBox 61" id="61"/>
            <p:cNvSpPr txBox="true"/>
            <p:nvPr/>
          </p:nvSpPr>
          <p:spPr>
            <a:xfrm>
              <a:off x="0" y="-38100"/>
              <a:ext cx="4165600" cy="1435100"/>
            </a:xfrm>
            <a:prstGeom prst="rect">
              <a:avLst/>
            </a:prstGeom>
          </p:spPr>
          <p:txBody>
            <a:bodyPr anchor="ctr" rtlCol="false" tIns="50800" lIns="50800" bIns="50800" rIns="50800"/>
            <a:lstStyle/>
            <a:p>
              <a:pPr algn="l">
                <a:lnSpc>
                  <a:spcPts val="1679"/>
                </a:lnSpc>
              </a:pPr>
            </a:p>
          </p:txBody>
        </p:sp>
      </p:grpSp>
      <p:grpSp>
        <p:nvGrpSpPr>
          <p:cNvPr name="Group 62" id="62"/>
          <p:cNvGrpSpPr/>
          <p:nvPr/>
        </p:nvGrpSpPr>
        <p:grpSpPr>
          <a:xfrm rot="0">
            <a:off x="14211300" y="6381750"/>
            <a:ext cx="3124200" cy="1047750"/>
            <a:chOff x="0" y="0"/>
            <a:chExt cx="4165600" cy="1397000"/>
          </a:xfrm>
        </p:grpSpPr>
        <p:sp>
          <p:nvSpPr>
            <p:cNvPr name="Freeform 63" id="63"/>
            <p:cNvSpPr/>
            <p:nvPr/>
          </p:nvSpPr>
          <p:spPr>
            <a:xfrm flipH="false" flipV="false" rot="0">
              <a:off x="0" y="0"/>
              <a:ext cx="4165600" cy="1397000"/>
            </a:xfrm>
            <a:custGeom>
              <a:avLst/>
              <a:gdLst/>
              <a:ahLst/>
              <a:cxnLst/>
              <a:rect r="r" b="b" t="t" l="l"/>
              <a:pathLst>
                <a:path h="1397000" w="4165600">
                  <a:moveTo>
                    <a:pt x="54207" y="0"/>
                  </a:moveTo>
                  <a:lnTo>
                    <a:pt x="4111393" y="0"/>
                  </a:lnTo>
                  <a:cubicBezTo>
                    <a:pt x="4125769" y="0"/>
                    <a:pt x="4139557" y="5711"/>
                    <a:pt x="4149723" y="15877"/>
                  </a:cubicBezTo>
                  <a:cubicBezTo>
                    <a:pt x="4159889" y="26043"/>
                    <a:pt x="4165600" y="39831"/>
                    <a:pt x="4165600" y="54207"/>
                  </a:cubicBezTo>
                  <a:lnTo>
                    <a:pt x="4165600" y="1342793"/>
                  </a:lnTo>
                  <a:cubicBezTo>
                    <a:pt x="4165600" y="1357169"/>
                    <a:pt x="4159889" y="1370957"/>
                    <a:pt x="4149723" y="1381123"/>
                  </a:cubicBezTo>
                  <a:cubicBezTo>
                    <a:pt x="4139557" y="1391289"/>
                    <a:pt x="4125769" y="1397000"/>
                    <a:pt x="4111393" y="1397000"/>
                  </a:cubicBezTo>
                  <a:lnTo>
                    <a:pt x="54207" y="1397000"/>
                  </a:lnTo>
                  <a:cubicBezTo>
                    <a:pt x="39831" y="1397000"/>
                    <a:pt x="26043" y="1391289"/>
                    <a:pt x="15877" y="1381123"/>
                  </a:cubicBezTo>
                  <a:cubicBezTo>
                    <a:pt x="5711" y="1370957"/>
                    <a:pt x="0" y="1357169"/>
                    <a:pt x="0" y="1342793"/>
                  </a:cubicBezTo>
                  <a:lnTo>
                    <a:pt x="0" y="54207"/>
                  </a:lnTo>
                  <a:cubicBezTo>
                    <a:pt x="0" y="39831"/>
                    <a:pt x="5711" y="26043"/>
                    <a:pt x="15877" y="15877"/>
                  </a:cubicBezTo>
                  <a:cubicBezTo>
                    <a:pt x="26043" y="5711"/>
                    <a:pt x="39831" y="0"/>
                    <a:pt x="54207" y="0"/>
                  </a:cubicBezTo>
                  <a:close/>
                </a:path>
              </a:pathLst>
            </a:custGeom>
            <a:solidFill>
              <a:srgbClr val="0E1E3A"/>
            </a:solidFill>
          </p:spPr>
        </p:sp>
        <p:sp>
          <p:nvSpPr>
            <p:cNvPr name="TextBox 64" id="64"/>
            <p:cNvSpPr txBox="true"/>
            <p:nvPr/>
          </p:nvSpPr>
          <p:spPr>
            <a:xfrm>
              <a:off x="0" y="-38100"/>
              <a:ext cx="4165600" cy="1435100"/>
            </a:xfrm>
            <a:prstGeom prst="rect">
              <a:avLst/>
            </a:prstGeom>
          </p:spPr>
          <p:txBody>
            <a:bodyPr anchor="ctr" rtlCol="false" tIns="50800" lIns="50800" bIns="50800" rIns="50800"/>
            <a:lstStyle/>
            <a:p>
              <a:pPr algn="l">
                <a:lnSpc>
                  <a:spcPts val="1679"/>
                </a:lnSpc>
              </a:pPr>
            </a:p>
          </p:txBody>
        </p:sp>
      </p:grpSp>
      <p:sp>
        <p:nvSpPr>
          <p:cNvPr name="TextBox 65" id="65"/>
          <p:cNvSpPr txBox="true"/>
          <p:nvPr/>
        </p:nvSpPr>
        <p:spPr>
          <a:xfrm rot="0">
            <a:off x="1181100" y="6562725"/>
            <a:ext cx="2667000" cy="568643"/>
          </a:xfrm>
          <a:prstGeom prst="rect">
            <a:avLst/>
          </a:prstGeom>
        </p:spPr>
        <p:txBody>
          <a:bodyPr anchor="t" rtlCol="false" tIns="0" lIns="0" bIns="0" rIns="0">
            <a:spAutoFit/>
          </a:bodyPr>
          <a:lstStyle/>
          <a:p>
            <a:pPr algn="l">
              <a:lnSpc>
                <a:spcPts val="2227"/>
              </a:lnSpc>
            </a:pPr>
            <a:r>
              <a:rPr lang="en-US" sz="1650" b="true">
                <a:solidFill>
                  <a:srgbClr val="FFFFFF"/>
                </a:solidFill>
                <a:latin typeface="Arimo Bold"/>
                <a:ea typeface="Arimo Bold"/>
                <a:cs typeface="Arimo Bold"/>
                <a:sym typeface="Arimo Bold"/>
              </a:rPr>
              <a:t>A · The derivation, step by step</a:t>
            </a:r>
          </a:p>
        </p:txBody>
      </p:sp>
      <p:sp>
        <p:nvSpPr>
          <p:cNvPr name="TextBox 66" id="66"/>
          <p:cNvSpPr txBox="true"/>
          <p:nvPr/>
        </p:nvSpPr>
        <p:spPr>
          <a:xfrm rot="0">
            <a:off x="4495800" y="6562725"/>
            <a:ext cx="2667000" cy="568643"/>
          </a:xfrm>
          <a:prstGeom prst="rect">
            <a:avLst/>
          </a:prstGeom>
        </p:spPr>
        <p:txBody>
          <a:bodyPr anchor="t" rtlCol="false" tIns="0" lIns="0" bIns="0" rIns="0">
            <a:spAutoFit/>
          </a:bodyPr>
          <a:lstStyle/>
          <a:p>
            <a:pPr algn="l" marL="0" indent="0" lvl="0">
              <a:lnSpc>
                <a:spcPts val="2227"/>
              </a:lnSpc>
              <a:spcBef>
                <a:spcPct val="0"/>
              </a:spcBef>
            </a:pPr>
            <a:r>
              <a:rPr lang="en-US" b="true" sz="1650" strike="noStrike" u="none">
                <a:solidFill>
                  <a:srgbClr val="FFFFFF"/>
                </a:solidFill>
                <a:latin typeface="Arimo Bold"/>
                <a:ea typeface="Arimo Bold"/>
                <a:cs typeface="Arimo Bold"/>
                <a:sym typeface="Arimo Bold"/>
              </a:rPr>
              <a:t>B · Key results and model tiers</a:t>
            </a:r>
          </a:p>
        </p:txBody>
      </p:sp>
      <p:sp>
        <p:nvSpPr>
          <p:cNvPr name="TextBox 67" id="67"/>
          <p:cNvSpPr txBox="true"/>
          <p:nvPr/>
        </p:nvSpPr>
        <p:spPr>
          <a:xfrm rot="0">
            <a:off x="7810500" y="6562725"/>
            <a:ext cx="2667000" cy="292417"/>
          </a:xfrm>
          <a:prstGeom prst="rect">
            <a:avLst/>
          </a:prstGeom>
        </p:spPr>
        <p:txBody>
          <a:bodyPr anchor="t" rtlCol="false" tIns="0" lIns="0" bIns="0" rIns="0">
            <a:spAutoFit/>
          </a:bodyPr>
          <a:lstStyle/>
          <a:p>
            <a:pPr algn="l">
              <a:lnSpc>
                <a:spcPts val="2227"/>
              </a:lnSpc>
            </a:pPr>
            <a:r>
              <a:rPr lang="en-US" sz="1650" b="true">
                <a:solidFill>
                  <a:srgbClr val="FFFFFF"/>
                </a:solidFill>
                <a:latin typeface="Arimo Bold"/>
                <a:ea typeface="Arimo Bold"/>
                <a:cs typeface="Arimo Bold"/>
                <a:sym typeface="Arimo Bold"/>
              </a:rPr>
              <a:t>C · FEA: how we built it</a:t>
            </a:r>
          </a:p>
        </p:txBody>
      </p:sp>
      <p:sp>
        <p:nvSpPr>
          <p:cNvPr name="TextBox 68" id="68"/>
          <p:cNvSpPr txBox="true"/>
          <p:nvPr/>
        </p:nvSpPr>
        <p:spPr>
          <a:xfrm rot="0">
            <a:off x="11125200" y="6562725"/>
            <a:ext cx="2667000" cy="292417"/>
          </a:xfrm>
          <a:prstGeom prst="rect">
            <a:avLst/>
          </a:prstGeom>
        </p:spPr>
        <p:txBody>
          <a:bodyPr anchor="t" rtlCol="false" tIns="0" lIns="0" bIns="0" rIns="0">
            <a:spAutoFit/>
          </a:bodyPr>
          <a:lstStyle/>
          <a:p>
            <a:pPr algn="l">
              <a:lnSpc>
                <a:spcPts val="2227"/>
              </a:lnSpc>
            </a:pPr>
            <a:r>
              <a:rPr lang="en-US" sz="1650" b="true">
                <a:solidFill>
                  <a:srgbClr val="FFFFFF"/>
                </a:solidFill>
                <a:latin typeface="Arimo Bold"/>
                <a:ea typeface="Arimo Bold"/>
                <a:cs typeface="Arimo Bold"/>
                <a:sym typeface="Arimo Bold"/>
              </a:rPr>
              <a:t>D · FEA: what we found</a:t>
            </a:r>
          </a:p>
        </p:txBody>
      </p:sp>
      <p:sp>
        <p:nvSpPr>
          <p:cNvPr name="TextBox 69" id="69"/>
          <p:cNvSpPr txBox="true"/>
          <p:nvPr/>
        </p:nvSpPr>
        <p:spPr>
          <a:xfrm rot="0">
            <a:off x="14439900" y="6562725"/>
            <a:ext cx="2667000" cy="292417"/>
          </a:xfrm>
          <a:prstGeom prst="rect">
            <a:avLst/>
          </a:prstGeom>
        </p:spPr>
        <p:txBody>
          <a:bodyPr anchor="t" rtlCol="false" tIns="0" lIns="0" bIns="0" rIns="0">
            <a:spAutoFit/>
          </a:bodyPr>
          <a:lstStyle/>
          <a:p>
            <a:pPr algn="l">
              <a:lnSpc>
                <a:spcPts val="2227"/>
              </a:lnSpc>
            </a:pPr>
            <a:r>
              <a:rPr lang="en-US" sz="1650" b="true">
                <a:solidFill>
                  <a:srgbClr val="FFFFFF"/>
                </a:solidFill>
                <a:latin typeface="Arimo Bold"/>
                <a:ea typeface="Arimo Bold"/>
                <a:cs typeface="Arimo Bold"/>
                <a:sym typeface="Arimo Bold"/>
              </a:rPr>
              <a:t>E · Plan for the next month</a:t>
            </a:r>
          </a:p>
        </p:txBody>
      </p:sp>
      <p:grpSp>
        <p:nvGrpSpPr>
          <p:cNvPr name="Group 70" id="70"/>
          <p:cNvGrpSpPr/>
          <p:nvPr/>
        </p:nvGrpSpPr>
        <p:grpSpPr>
          <a:xfrm rot="0">
            <a:off x="952500" y="7810500"/>
            <a:ext cx="16383000" cy="1809750"/>
            <a:chOff x="0" y="0"/>
            <a:chExt cx="21844000" cy="2413000"/>
          </a:xfrm>
        </p:grpSpPr>
        <p:sp>
          <p:nvSpPr>
            <p:cNvPr name="Freeform 71" id="71"/>
            <p:cNvSpPr/>
            <p:nvPr/>
          </p:nvSpPr>
          <p:spPr>
            <a:xfrm flipH="false" flipV="false" rot="0">
              <a:off x="0" y="0"/>
              <a:ext cx="21844000" cy="2413000"/>
            </a:xfrm>
            <a:custGeom>
              <a:avLst/>
              <a:gdLst/>
              <a:ahLst/>
              <a:cxnLst/>
              <a:rect r="r" b="b" t="t" l="l"/>
              <a:pathLst>
                <a:path h="2413000" w="21844000">
                  <a:moveTo>
                    <a:pt x="13291" y="0"/>
                  </a:moveTo>
                  <a:lnTo>
                    <a:pt x="21830709" y="0"/>
                  </a:lnTo>
                  <a:cubicBezTo>
                    <a:pt x="21838050" y="0"/>
                    <a:pt x="21844000" y="5950"/>
                    <a:pt x="21844000" y="13291"/>
                  </a:cubicBezTo>
                  <a:lnTo>
                    <a:pt x="21844000" y="2399709"/>
                  </a:lnTo>
                  <a:cubicBezTo>
                    <a:pt x="21844000" y="2407050"/>
                    <a:pt x="21838050" y="2413000"/>
                    <a:pt x="21830709" y="2413000"/>
                  </a:cubicBezTo>
                  <a:lnTo>
                    <a:pt x="13291" y="2413000"/>
                  </a:lnTo>
                  <a:cubicBezTo>
                    <a:pt x="5950" y="2413000"/>
                    <a:pt x="0" y="2407050"/>
                    <a:pt x="0" y="2399709"/>
                  </a:cubicBezTo>
                  <a:lnTo>
                    <a:pt x="0" y="13291"/>
                  </a:lnTo>
                  <a:cubicBezTo>
                    <a:pt x="0" y="5950"/>
                    <a:pt x="5950" y="0"/>
                    <a:pt x="13291" y="0"/>
                  </a:cubicBezTo>
                  <a:close/>
                </a:path>
              </a:pathLst>
            </a:custGeom>
            <a:solidFill>
              <a:srgbClr val="F1F5FA"/>
            </a:solidFill>
          </p:spPr>
        </p:sp>
        <p:sp>
          <p:nvSpPr>
            <p:cNvPr name="TextBox 72" id="72"/>
            <p:cNvSpPr txBox="true"/>
            <p:nvPr/>
          </p:nvSpPr>
          <p:spPr>
            <a:xfrm>
              <a:off x="0" y="-38100"/>
              <a:ext cx="21844000" cy="2451100"/>
            </a:xfrm>
            <a:prstGeom prst="rect">
              <a:avLst/>
            </a:prstGeom>
          </p:spPr>
          <p:txBody>
            <a:bodyPr anchor="ctr" rtlCol="false" tIns="50800" lIns="50800" bIns="50800" rIns="50800"/>
            <a:lstStyle/>
            <a:p>
              <a:pPr algn="l">
                <a:lnSpc>
                  <a:spcPts val="1679"/>
                </a:lnSpc>
              </a:pPr>
            </a:p>
          </p:txBody>
        </p:sp>
      </p:grpSp>
      <p:grpSp>
        <p:nvGrpSpPr>
          <p:cNvPr name="Group 73" id="73"/>
          <p:cNvGrpSpPr/>
          <p:nvPr/>
        </p:nvGrpSpPr>
        <p:grpSpPr>
          <a:xfrm rot="0">
            <a:off x="952500" y="7810500"/>
            <a:ext cx="95250" cy="1809750"/>
            <a:chOff x="0" y="0"/>
            <a:chExt cx="127000" cy="2413000"/>
          </a:xfrm>
        </p:grpSpPr>
        <p:sp>
          <p:nvSpPr>
            <p:cNvPr name="Freeform 74" id="74"/>
            <p:cNvSpPr/>
            <p:nvPr/>
          </p:nvSpPr>
          <p:spPr>
            <a:xfrm flipH="false" flipV="false" rot="0">
              <a:off x="0" y="0"/>
              <a:ext cx="127000" cy="2413000"/>
            </a:xfrm>
            <a:custGeom>
              <a:avLst/>
              <a:gdLst/>
              <a:ahLst/>
              <a:cxnLst/>
              <a:rect r="r" b="b" t="t" l="l"/>
              <a:pathLst>
                <a:path h="2413000" w="127000">
                  <a:moveTo>
                    <a:pt x="0" y="0"/>
                  </a:moveTo>
                  <a:lnTo>
                    <a:pt x="127000" y="0"/>
                  </a:lnTo>
                  <a:lnTo>
                    <a:pt x="127000" y="2413000"/>
                  </a:lnTo>
                  <a:lnTo>
                    <a:pt x="0" y="2413000"/>
                  </a:lnTo>
                  <a:close/>
                </a:path>
              </a:pathLst>
            </a:custGeom>
            <a:solidFill>
              <a:srgbClr val="4390F8"/>
            </a:solidFill>
          </p:spPr>
        </p:sp>
        <p:sp>
          <p:nvSpPr>
            <p:cNvPr name="TextBox 75" id="75"/>
            <p:cNvSpPr txBox="true"/>
            <p:nvPr/>
          </p:nvSpPr>
          <p:spPr>
            <a:xfrm>
              <a:off x="0" y="-38100"/>
              <a:ext cx="127000" cy="2451100"/>
            </a:xfrm>
            <a:prstGeom prst="rect">
              <a:avLst/>
            </a:prstGeom>
          </p:spPr>
          <p:txBody>
            <a:bodyPr anchor="ctr" rtlCol="false" tIns="50800" lIns="50800" bIns="50800" rIns="50800"/>
            <a:lstStyle/>
            <a:p>
              <a:pPr algn="l">
                <a:lnSpc>
                  <a:spcPts val="1679"/>
                </a:lnSpc>
              </a:pPr>
            </a:p>
          </p:txBody>
        </p:sp>
      </p:grpSp>
      <p:sp>
        <p:nvSpPr>
          <p:cNvPr name="TextBox 76" id="76"/>
          <p:cNvSpPr txBox="true"/>
          <p:nvPr/>
        </p:nvSpPr>
        <p:spPr>
          <a:xfrm rot="0">
            <a:off x="1333500" y="7972425"/>
            <a:ext cx="7620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HEADLINE RESULT SO FAR</a:t>
            </a:r>
          </a:p>
        </p:txBody>
      </p:sp>
      <p:sp>
        <p:nvSpPr>
          <p:cNvPr name="TextBox 77" id="77"/>
          <p:cNvSpPr txBox="true"/>
          <p:nvPr/>
        </p:nvSpPr>
        <p:spPr>
          <a:xfrm rot="0">
            <a:off x="1333500" y="8334375"/>
            <a:ext cx="15716250" cy="677227"/>
          </a:xfrm>
          <a:prstGeom prst="rect">
            <a:avLst/>
          </a:prstGeom>
        </p:spPr>
        <p:txBody>
          <a:bodyPr anchor="t" rtlCol="false" tIns="0" lIns="0" bIns="0" rIns="0">
            <a:spAutoFit/>
          </a:bodyPr>
          <a:lstStyle/>
          <a:p>
            <a:pPr algn="l">
              <a:lnSpc>
                <a:spcPts val="2632"/>
              </a:lnSpc>
            </a:pPr>
            <a:r>
              <a:rPr lang="en-US" sz="1950">
                <a:solidFill>
                  <a:srgbClr val="0E1E3A"/>
                </a:solidFill>
                <a:latin typeface="Arimo"/>
                <a:ea typeface="Arimo"/>
                <a:cs typeface="Arimo"/>
                <a:sym typeface="Arimo"/>
              </a:rPr>
              <a:t>The bare actuator balloons and snaps through at 104.7 kPa. A hoop-reinforced actuator bends smoothly, 2.8× more at 60 kPa, and the simple beam models match it within 5 % at low pressure. We recommend building the reinforced design.</a:t>
            </a:r>
          </a:p>
        </p:txBody>
      </p:sp>
      <p:sp>
        <p:nvSpPr>
          <p:cNvPr name="TextBox 78" id="78"/>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79" id="79"/>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THE PROBLEM</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An off-centre cavity turns pressure into bending</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Goal: a reliable map from cavity pressure P to tip deflection δ, first by hand, then with 3-D FE, then by experiment</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333625"/>
            <a:ext cx="10858500" cy="4000500"/>
            <a:chOff x="0" y="0"/>
            <a:chExt cx="14478000" cy="5334000"/>
          </a:xfrm>
        </p:grpSpPr>
        <p:sp>
          <p:nvSpPr>
            <p:cNvPr name="Freeform 15" id="15"/>
            <p:cNvSpPr/>
            <p:nvPr/>
          </p:nvSpPr>
          <p:spPr>
            <a:xfrm flipH="false" flipV="false" rot="0">
              <a:off x="0" y="0"/>
              <a:ext cx="14478000" cy="5334000"/>
            </a:xfrm>
            <a:custGeom>
              <a:avLst/>
              <a:gdLst/>
              <a:ahLst/>
              <a:cxnLst/>
              <a:rect r="r" b="b" t="t" l="l"/>
              <a:pathLst>
                <a:path h="5334000" w="14478000">
                  <a:moveTo>
                    <a:pt x="20053" y="0"/>
                  </a:moveTo>
                  <a:lnTo>
                    <a:pt x="14457947" y="0"/>
                  </a:lnTo>
                  <a:cubicBezTo>
                    <a:pt x="14469022" y="0"/>
                    <a:pt x="14478000" y="8978"/>
                    <a:pt x="14478000" y="20053"/>
                  </a:cubicBezTo>
                  <a:lnTo>
                    <a:pt x="14478000" y="5313947"/>
                  </a:lnTo>
                  <a:cubicBezTo>
                    <a:pt x="14478000" y="5325022"/>
                    <a:pt x="14469022" y="5334000"/>
                    <a:pt x="14457947" y="5334000"/>
                  </a:cubicBezTo>
                  <a:lnTo>
                    <a:pt x="20053" y="5334000"/>
                  </a:lnTo>
                  <a:cubicBezTo>
                    <a:pt x="8978" y="5334000"/>
                    <a:pt x="0" y="5325022"/>
                    <a:pt x="0" y="5313947"/>
                  </a:cubicBezTo>
                  <a:lnTo>
                    <a:pt x="0" y="20053"/>
                  </a:lnTo>
                  <a:cubicBezTo>
                    <a:pt x="0" y="8978"/>
                    <a:pt x="8978" y="0"/>
                    <a:pt x="20053" y="0"/>
                  </a:cubicBezTo>
                  <a:close/>
                </a:path>
              </a:pathLst>
            </a:custGeom>
            <a:solidFill>
              <a:srgbClr val="F1F5FA"/>
            </a:solidFill>
          </p:spPr>
        </p:sp>
        <p:sp>
          <p:nvSpPr>
            <p:cNvPr name="TextBox 16" id="16"/>
            <p:cNvSpPr txBox="true"/>
            <p:nvPr/>
          </p:nvSpPr>
          <p:spPr>
            <a:xfrm>
              <a:off x="0" y="-38100"/>
              <a:ext cx="14478000" cy="5372100"/>
            </a:xfrm>
            <a:prstGeom prst="rect">
              <a:avLst/>
            </a:prstGeom>
          </p:spPr>
          <p:txBody>
            <a:bodyPr anchor="ctr" rtlCol="false" tIns="50800" lIns="50800" bIns="50800" rIns="50800"/>
            <a:lstStyle/>
            <a:p>
              <a:pPr algn="l">
                <a:lnSpc>
                  <a:spcPts val="1679"/>
                </a:lnSpc>
              </a:pPr>
            </a:p>
          </p:txBody>
        </p:sp>
      </p:grpSp>
      <p:sp>
        <p:nvSpPr>
          <p:cNvPr name="Freeform 17" id="17" descr="Schematic of the actuator: side view of the bending tube and cross-section with the off-centre cavity"/>
          <p:cNvSpPr/>
          <p:nvPr/>
        </p:nvSpPr>
        <p:spPr>
          <a:xfrm flipH="false" flipV="false" rot="0">
            <a:off x="1143000" y="2600325"/>
            <a:ext cx="10477500" cy="3467100"/>
          </a:xfrm>
          <a:custGeom>
            <a:avLst/>
            <a:gdLst/>
            <a:ahLst/>
            <a:cxnLst/>
            <a:rect r="r" b="b" t="t" l="l"/>
            <a:pathLst>
              <a:path h="3467100" w="10477500">
                <a:moveTo>
                  <a:pt x="0" y="0"/>
                </a:moveTo>
                <a:lnTo>
                  <a:pt x="10477500" y="0"/>
                </a:lnTo>
                <a:lnTo>
                  <a:pt x="10477500" y="3467100"/>
                </a:lnTo>
                <a:lnTo>
                  <a:pt x="0" y="3467100"/>
                </a:lnTo>
                <a:lnTo>
                  <a:pt x="0" y="0"/>
                </a:lnTo>
                <a:close/>
              </a:path>
            </a:pathLst>
          </a:custGeom>
          <a:blipFill>
            <a:blip r:embed="rId2"/>
            <a:stretch>
              <a:fillRect l="-137" t="0" r="-137" b="0"/>
            </a:stretch>
          </a:blipFill>
        </p:spPr>
      </p:sp>
      <p:grpSp>
        <p:nvGrpSpPr>
          <p:cNvPr name="Group 18" id="18"/>
          <p:cNvGrpSpPr/>
          <p:nvPr/>
        </p:nvGrpSpPr>
        <p:grpSpPr>
          <a:xfrm rot="0">
            <a:off x="952500" y="6572250"/>
            <a:ext cx="10858500" cy="3048000"/>
            <a:chOff x="0" y="0"/>
            <a:chExt cx="14478000" cy="4064000"/>
          </a:xfrm>
        </p:grpSpPr>
        <p:sp>
          <p:nvSpPr>
            <p:cNvPr name="Freeform 19" id="19"/>
            <p:cNvSpPr/>
            <p:nvPr/>
          </p:nvSpPr>
          <p:spPr>
            <a:xfrm flipH="false" flipV="false" rot="0">
              <a:off x="0" y="0"/>
              <a:ext cx="14478000" cy="4064000"/>
            </a:xfrm>
            <a:custGeom>
              <a:avLst/>
              <a:gdLst/>
              <a:ahLst/>
              <a:cxnLst/>
              <a:rect r="r" b="b" t="t" l="l"/>
              <a:pathLst>
                <a:path h="4064000" w="14478000">
                  <a:moveTo>
                    <a:pt x="20053" y="0"/>
                  </a:moveTo>
                  <a:lnTo>
                    <a:pt x="14457947" y="0"/>
                  </a:lnTo>
                  <a:cubicBezTo>
                    <a:pt x="14469022" y="0"/>
                    <a:pt x="14478000" y="8978"/>
                    <a:pt x="14478000" y="20053"/>
                  </a:cubicBezTo>
                  <a:lnTo>
                    <a:pt x="14478000" y="4043947"/>
                  </a:lnTo>
                  <a:cubicBezTo>
                    <a:pt x="14478000" y="4055022"/>
                    <a:pt x="14469022" y="4064000"/>
                    <a:pt x="14457947" y="4064000"/>
                  </a:cubicBezTo>
                  <a:lnTo>
                    <a:pt x="20053" y="4064000"/>
                  </a:lnTo>
                  <a:cubicBezTo>
                    <a:pt x="8978" y="4064000"/>
                    <a:pt x="0" y="4055022"/>
                    <a:pt x="0" y="4043947"/>
                  </a:cubicBezTo>
                  <a:lnTo>
                    <a:pt x="0" y="20053"/>
                  </a:lnTo>
                  <a:cubicBezTo>
                    <a:pt x="0" y="8978"/>
                    <a:pt x="8978" y="0"/>
                    <a:pt x="20053" y="0"/>
                  </a:cubicBezTo>
                  <a:close/>
                </a:path>
              </a:pathLst>
            </a:custGeom>
            <a:solidFill>
              <a:srgbClr val="F1F5FA"/>
            </a:solidFill>
          </p:spPr>
        </p:sp>
        <p:sp>
          <p:nvSpPr>
            <p:cNvPr name="TextBox 20" id="20"/>
            <p:cNvSpPr txBox="true"/>
            <p:nvPr/>
          </p:nvSpPr>
          <p:spPr>
            <a:xfrm>
              <a:off x="0" y="-38100"/>
              <a:ext cx="14478000" cy="4102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1257300" y="675322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HOW IT BENDS</a:t>
            </a:r>
          </a:p>
        </p:txBody>
      </p:sp>
      <p:sp>
        <p:nvSpPr>
          <p:cNvPr name="TextBox 22" id="22"/>
          <p:cNvSpPr txBox="true"/>
          <p:nvPr/>
        </p:nvSpPr>
        <p:spPr>
          <a:xfrm rot="0">
            <a:off x="1257300" y="7096125"/>
            <a:ext cx="10287000" cy="1304925"/>
          </a:xfrm>
          <a:prstGeom prst="rect">
            <a:avLst/>
          </a:prstGeom>
        </p:spPr>
        <p:txBody>
          <a:bodyPr anchor="t" rtlCol="false" tIns="0" lIns="0" bIns="0" rIns="0">
            <a:spAutoFit/>
          </a:bodyPr>
          <a:lstStyle/>
          <a:p>
            <a:pPr algn="l">
              <a:lnSpc>
                <a:spcPts val="2610"/>
              </a:lnSpc>
            </a:pPr>
            <a:r>
              <a:rPr lang="en-US" sz="1800">
                <a:solidFill>
                  <a:srgbClr val="3B4A5E"/>
                </a:solidFill>
                <a:latin typeface="Arimo"/>
                <a:ea typeface="Arimo"/>
                <a:cs typeface="Arimo"/>
                <a:sym typeface="Arimo"/>
              </a:rPr>
              <a:t>Air pressure P pushes on the cavity wall. Because the cavity sits 3 mm off-centre, the wall on one side is thin (3 mm) and on the other thick (9 mm). The thin side stretches more, so the tube curls towards the thick side. The question is how far the tip moves for a given pressure, and which model predicts it reliably.</a:t>
            </a:r>
          </a:p>
        </p:txBody>
      </p:sp>
      <p:grpSp>
        <p:nvGrpSpPr>
          <p:cNvPr name="Group 23" id="23"/>
          <p:cNvGrpSpPr/>
          <p:nvPr/>
        </p:nvGrpSpPr>
        <p:grpSpPr>
          <a:xfrm rot="0">
            <a:off x="12096750" y="2333625"/>
            <a:ext cx="5238750" cy="7286625"/>
            <a:chOff x="0" y="0"/>
            <a:chExt cx="6985000" cy="9715500"/>
          </a:xfrm>
        </p:grpSpPr>
        <p:sp>
          <p:nvSpPr>
            <p:cNvPr name="Freeform 24" id="24"/>
            <p:cNvSpPr/>
            <p:nvPr/>
          </p:nvSpPr>
          <p:spPr>
            <a:xfrm flipH="false" flipV="false" rot="0">
              <a:off x="0" y="0"/>
              <a:ext cx="6985000" cy="9715500"/>
            </a:xfrm>
            <a:custGeom>
              <a:avLst/>
              <a:gdLst/>
              <a:ahLst/>
              <a:cxnLst/>
              <a:rect r="r" b="b" t="t" l="l"/>
              <a:pathLst>
                <a:path h="9715500" w="6985000">
                  <a:moveTo>
                    <a:pt x="41564" y="0"/>
                  </a:moveTo>
                  <a:lnTo>
                    <a:pt x="6943437" y="0"/>
                  </a:lnTo>
                  <a:cubicBezTo>
                    <a:pt x="6954460" y="0"/>
                    <a:pt x="6965031" y="4379"/>
                    <a:pt x="6972826" y="12174"/>
                  </a:cubicBezTo>
                  <a:cubicBezTo>
                    <a:pt x="6980621" y="19968"/>
                    <a:pt x="6985000" y="30540"/>
                    <a:pt x="6985000" y="41564"/>
                  </a:cubicBezTo>
                  <a:lnTo>
                    <a:pt x="6985000" y="9673937"/>
                  </a:lnTo>
                  <a:cubicBezTo>
                    <a:pt x="6985000" y="9684960"/>
                    <a:pt x="6980621" y="9695531"/>
                    <a:pt x="6972826" y="9703326"/>
                  </a:cubicBezTo>
                  <a:cubicBezTo>
                    <a:pt x="6965031" y="9711121"/>
                    <a:pt x="6954460" y="9715500"/>
                    <a:pt x="6943437" y="9715500"/>
                  </a:cubicBezTo>
                  <a:lnTo>
                    <a:pt x="41564" y="9715500"/>
                  </a:lnTo>
                  <a:cubicBezTo>
                    <a:pt x="30540" y="9715500"/>
                    <a:pt x="19968" y="9711121"/>
                    <a:pt x="12174" y="9703326"/>
                  </a:cubicBezTo>
                  <a:cubicBezTo>
                    <a:pt x="4379" y="9695531"/>
                    <a:pt x="0" y="9684960"/>
                    <a:pt x="0" y="9673937"/>
                  </a:cubicBezTo>
                  <a:lnTo>
                    <a:pt x="0" y="41564"/>
                  </a:lnTo>
                  <a:cubicBezTo>
                    <a:pt x="0" y="30540"/>
                    <a:pt x="4379" y="19968"/>
                    <a:pt x="12174" y="12174"/>
                  </a:cubicBezTo>
                  <a:cubicBezTo>
                    <a:pt x="19968" y="4379"/>
                    <a:pt x="30540" y="0"/>
                    <a:pt x="41564" y="0"/>
                  </a:cubicBezTo>
                  <a:close/>
                </a:path>
              </a:pathLst>
            </a:custGeom>
            <a:solidFill>
              <a:srgbClr val="0E1E3A"/>
            </a:solidFill>
          </p:spPr>
        </p:sp>
        <p:sp>
          <p:nvSpPr>
            <p:cNvPr name="TextBox 25" id="25"/>
            <p:cNvSpPr txBox="true"/>
            <p:nvPr/>
          </p:nvSpPr>
          <p:spPr>
            <a:xfrm>
              <a:off x="0" y="-38100"/>
              <a:ext cx="6985000" cy="97536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12401550" y="2571750"/>
            <a:ext cx="466725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PLACEHOLDER DESIGN</a:t>
            </a:r>
          </a:p>
        </p:txBody>
      </p:sp>
      <p:sp>
        <p:nvSpPr>
          <p:cNvPr name="TextBox 27" id="27"/>
          <p:cNvSpPr txBox="true"/>
          <p:nvPr/>
        </p:nvSpPr>
        <p:spPr>
          <a:xfrm rot="0">
            <a:off x="12401550" y="2924175"/>
            <a:ext cx="4667250" cy="3845242"/>
          </a:xfrm>
          <a:prstGeom prst="rect">
            <a:avLst/>
          </a:prstGeom>
        </p:spPr>
        <p:txBody>
          <a:bodyPr anchor="t" rtlCol="false" tIns="0" lIns="0" bIns="0" rIns="0">
            <a:spAutoFit/>
          </a:bodyPr>
          <a:lstStyle/>
          <a:p>
            <a:pPr algn="l">
              <a:lnSpc>
                <a:spcPts val="3412"/>
              </a:lnSpc>
            </a:pPr>
            <a:r>
              <a:rPr lang="en-US" sz="1950">
                <a:solidFill>
                  <a:srgbClr val="FFFFFF"/>
                </a:solidFill>
                <a:latin typeface="Arimo"/>
                <a:ea typeface="Arimo"/>
                <a:cs typeface="Arimo"/>
                <a:sym typeface="Arimo"/>
              </a:rPr>
              <a:t>Outer radius   R = 10 mm</a:t>
            </a:r>
          </a:p>
          <a:p>
            <a:pPr algn="l">
              <a:lnSpc>
                <a:spcPts val="3412"/>
              </a:lnSpc>
            </a:pPr>
            <a:r>
              <a:rPr lang="en-US" sz="1950">
                <a:solidFill>
                  <a:srgbClr val="FFFFFF"/>
                </a:solidFill>
                <a:latin typeface="Arimo"/>
                <a:ea typeface="Arimo"/>
                <a:cs typeface="Arimo"/>
                <a:sym typeface="Arimo"/>
              </a:rPr>
              <a:t>Cavity radius   r = 4 mm</a:t>
            </a:r>
          </a:p>
          <a:p>
            <a:pPr algn="l">
              <a:lnSpc>
                <a:spcPts val="3412"/>
              </a:lnSpc>
            </a:pPr>
            <a:r>
              <a:rPr lang="en-US" sz="1950">
                <a:solidFill>
                  <a:srgbClr val="FFFFFF"/>
                </a:solidFill>
                <a:latin typeface="Arimo"/>
                <a:ea typeface="Arimo"/>
                <a:cs typeface="Arimo"/>
                <a:sym typeface="Arimo"/>
              </a:rPr>
              <a:t>Cavity offset   rₚ = 3 mm</a:t>
            </a:r>
          </a:p>
          <a:p>
            <a:pPr algn="l">
              <a:lnSpc>
                <a:spcPts val="3412"/>
              </a:lnSpc>
            </a:pPr>
            <a:r>
              <a:rPr lang="en-US" sz="1950">
                <a:solidFill>
                  <a:srgbClr val="FFFFFF"/>
                </a:solidFill>
                <a:latin typeface="Arimo"/>
                <a:ea typeface="Arimo"/>
                <a:cs typeface="Arimo"/>
                <a:sym typeface="Arimo"/>
              </a:rPr>
              <a:t>Length   L = 100 mm</a:t>
            </a:r>
          </a:p>
          <a:p>
            <a:pPr algn="l">
              <a:lnSpc>
                <a:spcPts val="3412"/>
              </a:lnSpc>
            </a:pPr>
            <a:r>
              <a:rPr lang="en-US" sz="1950">
                <a:solidFill>
                  <a:srgbClr val="FFFFFF"/>
                </a:solidFill>
                <a:latin typeface="Arimo"/>
                <a:ea typeface="Arimo"/>
                <a:cs typeface="Arimo"/>
                <a:sym typeface="Arimo"/>
              </a:rPr>
              <a:t>Thin wall   3 mm</a:t>
            </a:r>
          </a:p>
          <a:p>
            <a:pPr algn="l">
              <a:lnSpc>
                <a:spcPts val="3412"/>
              </a:lnSpc>
            </a:pPr>
            <a:r>
              <a:rPr lang="en-US" sz="1950">
                <a:solidFill>
                  <a:srgbClr val="FFFFFF"/>
                </a:solidFill>
                <a:latin typeface="Arimo"/>
                <a:ea typeface="Arimo"/>
                <a:cs typeface="Arimo"/>
                <a:sym typeface="Arimo"/>
              </a:rPr>
              <a:t>Thick wall   9 mm</a:t>
            </a:r>
          </a:p>
          <a:p>
            <a:pPr algn="l">
              <a:lnSpc>
                <a:spcPts val="3412"/>
              </a:lnSpc>
            </a:pPr>
            <a:r>
              <a:rPr lang="en-US" sz="1950">
                <a:solidFill>
                  <a:srgbClr val="FFFFFF"/>
                </a:solidFill>
                <a:latin typeface="Arimo"/>
                <a:ea typeface="Arimo"/>
                <a:cs typeface="Arimo"/>
                <a:sym typeface="Arimo"/>
              </a:rPr>
              <a:t>Silicone   neo-Hookean</a:t>
            </a:r>
          </a:p>
          <a:p>
            <a:pPr algn="l">
              <a:lnSpc>
                <a:spcPts val="3412"/>
              </a:lnSpc>
            </a:pPr>
            <a:r>
              <a:rPr lang="en-US" sz="1950">
                <a:solidFill>
                  <a:srgbClr val="FFFFFF"/>
                </a:solidFill>
                <a:latin typeface="Arimo"/>
                <a:ea typeface="Arimo"/>
                <a:cs typeface="Arimo"/>
                <a:sym typeface="Arimo"/>
              </a:rPr>
              <a:t>E = 0.6 MPa  (μ = 0.2 MPa)</a:t>
            </a:r>
          </a:p>
          <a:p>
            <a:pPr algn="l">
              <a:lnSpc>
                <a:spcPts val="3412"/>
              </a:lnSpc>
            </a:pPr>
            <a:r>
              <a:rPr lang="en-US" sz="1950">
                <a:solidFill>
                  <a:srgbClr val="FFFFFF"/>
                </a:solidFill>
                <a:latin typeface="Arimo"/>
                <a:ea typeface="Arimo"/>
                <a:cs typeface="Arimo"/>
                <a:sym typeface="Arimo"/>
              </a:rPr>
              <a:t>Pressure   0 – 110 kPa</a:t>
            </a:r>
          </a:p>
        </p:txBody>
      </p:sp>
      <p:sp>
        <p:nvSpPr>
          <p:cNvPr name="TextBox 28" id="28"/>
          <p:cNvSpPr txBox="true"/>
          <p:nvPr/>
        </p:nvSpPr>
        <p:spPr>
          <a:xfrm rot="0">
            <a:off x="12401550" y="8334375"/>
            <a:ext cx="4667250" cy="809625"/>
          </a:xfrm>
          <a:prstGeom prst="rect">
            <a:avLst/>
          </a:prstGeom>
        </p:spPr>
        <p:txBody>
          <a:bodyPr anchor="t" rtlCol="false" tIns="0" lIns="0" bIns="0" rIns="0">
            <a:spAutoFit/>
          </a:bodyPr>
          <a:lstStyle/>
          <a:p>
            <a:pPr algn="l">
              <a:lnSpc>
                <a:spcPts val="2100"/>
              </a:lnSpc>
            </a:pPr>
            <a:r>
              <a:rPr lang="en-US" sz="1500">
                <a:solidFill>
                  <a:srgbClr val="C9D6E8"/>
                </a:solidFill>
                <a:latin typeface="Arimo"/>
                <a:ea typeface="Arimo"/>
                <a:cs typeface="Arimo"/>
                <a:sym typeface="Arimo"/>
              </a:rPr>
              <a:t>These are placeholder values. Every model in this deck is parametric, so the real geometry and silicone drop straight in.</a:t>
            </a:r>
          </a:p>
        </p:txBody>
      </p:sp>
      <p:sp>
        <p:nvSpPr>
          <p:cNvPr name="TextBox 29" id="29"/>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30" id="30"/>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marL="0" indent="0" lvl="0">
              <a:lnSpc>
                <a:spcPts val="2100"/>
              </a:lnSpc>
              <a:spcBef>
                <a:spcPct val="0"/>
              </a:spcBef>
            </a:pPr>
            <a:r>
              <a:rPr lang="en-US" b="true" sz="1500" strike="noStrike" u="none">
                <a:solidFill>
                  <a:srgbClr val="4390F8"/>
                </a:solidFill>
                <a:latin typeface="Arimo Bold"/>
                <a:ea typeface="Arimo Bold"/>
                <a:cs typeface="Arimo Bold"/>
                <a:sym typeface="Arimo Bold"/>
              </a:rPr>
              <a:t>DERIVATION 1 · SECTION GEOMETRY</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Cross-section: area and neutral axis</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located the neutral axis of the off-centre (eccentric) section</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286000"/>
            <a:ext cx="6286500" cy="4762500"/>
            <a:chOff x="0" y="0"/>
            <a:chExt cx="8382000" cy="6350000"/>
          </a:xfrm>
        </p:grpSpPr>
        <p:sp>
          <p:nvSpPr>
            <p:cNvPr name="Freeform 15" id="15"/>
            <p:cNvSpPr/>
            <p:nvPr/>
          </p:nvSpPr>
          <p:spPr>
            <a:xfrm flipH="false" flipV="false" rot="0">
              <a:off x="0" y="0"/>
              <a:ext cx="8382000" cy="6350000"/>
            </a:xfrm>
            <a:custGeom>
              <a:avLst/>
              <a:gdLst/>
              <a:ahLst/>
              <a:cxnLst/>
              <a:rect r="r" b="b" t="t" l="l"/>
              <a:pathLst>
                <a:path h="6350000" w="8382000">
                  <a:moveTo>
                    <a:pt x="34636" y="0"/>
                  </a:moveTo>
                  <a:lnTo>
                    <a:pt x="8347363" y="0"/>
                  </a:lnTo>
                  <a:cubicBezTo>
                    <a:pt x="8366492" y="0"/>
                    <a:pt x="8382000" y="15507"/>
                    <a:pt x="8382000" y="34636"/>
                  </a:cubicBezTo>
                  <a:lnTo>
                    <a:pt x="8382000" y="6315364"/>
                  </a:lnTo>
                  <a:cubicBezTo>
                    <a:pt x="8382000" y="6334493"/>
                    <a:pt x="8366492" y="6350000"/>
                    <a:pt x="8347363" y="6350000"/>
                  </a:cubicBezTo>
                  <a:lnTo>
                    <a:pt x="34636" y="6350000"/>
                  </a:lnTo>
                  <a:cubicBezTo>
                    <a:pt x="15507" y="6350000"/>
                    <a:pt x="0" y="6334493"/>
                    <a:pt x="0" y="6315364"/>
                  </a:cubicBezTo>
                  <a:lnTo>
                    <a:pt x="0" y="34636"/>
                  </a:lnTo>
                  <a:cubicBezTo>
                    <a:pt x="0" y="15507"/>
                    <a:pt x="15507" y="0"/>
                    <a:pt x="34636" y="0"/>
                  </a:cubicBezTo>
                  <a:close/>
                </a:path>
              </a:pathLst>
            </a:custGeom>
            <a:solidFill>
              <a:srgbClr val="F1F5FA"/>
            </a:solidFill>
          </p:spPr>
        </p:sp>
        <p:sp>
          <p:nvSpPr>
            <p:cNvPr name="TextBox 16" id="16"/>
            <p:cNvSpPr txBox="true"/>
            <p:nvPr/>
          </p:nvSpPr>
          <p:spPr>
            <a:xfrm>
              <a:off x="0" y="-38100"/>
              <a:ext cx="8382000" cy="6388100"/>
            </a:xfrm>
            <a:prstGeom prst="rect">
              <a:avLst/>
            </a:prstGeom>
          </p:spPr>
          <p:txBody>
            <a:bodyPr anchor="ctr" rtlCol="false" tIns="50800" lIns="50800" bIns="50800" rIns="50800"/>
            <a:lstStyle/>
            <a:p>
              <a:pPr algn="l">
                <a:lnSpc>
                  <a:spcPts val="1679"/>
                </a:lnSpc>
              </a:pPr>
            </a:p>
          </p:txBody>
        </p:sp>
      </p:grpSp>
      <p:sp>
        <p:nvSpPr>
          <p:cNvPr name="Freeform 17" id="17" descr="Cross-section with cavity, neutral axis and moment arm"/>
          <p:cNvSpPr/>
          <p:nvPr/>
        </p:nvSpPr>
        <p:spPr>
          <a:xfrm flipH="false" flipV="false" rot="0">
            <a:off x="1428750" y="2571750"/>
            <a:ext cx="5334000" cy="3724275"/>
          </a:xfrm>
          <a:custGeom>
            <a:avLst/>
            <a:gdLst/>
            <a:ahLst/>
            <a:cxnLst/>
            <a:rect r="r" b="b" t="t" l="l"/>
            <a:pathLst>
              <a:path h="3724275" w="5334000">
                <a:moveTo>
                  <a:pt x="0" y="0"/>
                </a:moveTo>
                <a:lnTo>
                  <a:pt x="5334000" y="0"/>
                </a:lnTo>
                <a:lnTo>
                  <a:pt x="5334000" y="3724275"/>
                </a:lnTo>
                <a:lnTo>
                  <a:pt x="0" y="3724275"/>
                </a:lnTo>
                <a:lnTo>
                  <a:pt x="0" y="0"/>
                </a:lnTo>
                <a:close/>
              </a:path>
            </a:pathLst>
          </a:custGeom>
          <a:blipFill>
            <a:blip r:embed="rId2"/>
            <a:stretch>
              <a:fillRect l="-51" t="0" r="-51" b="0"/>
            </a:stretch>
          </a:blipFill>
        </p:spPr>
      </p:sp>
      <p:sp>
        <p:nvSpPr>
          <p:cNvPr name="TextBox 18" id="18"/>
          <p:cNvSpPr txBox="true"/>
          <p:nvPr/>
        </p:nvSpPr>
        <p:spPr>
          <a:xfrm rot="0">
            <a:off x="1238250" y="6353175"/>
            <a:ext cx="5715000" cy="560070"/>
          </a:xfrm>
          <a:prstGeom prst="rect">
            <a:avLst/>
          </a:prstGeom>
        </p:spPr>
        <p:txBody>
          <a:bodyPr anchor="t" rtlCol="false" tIns="0" lIns="0" bIns="0" rIns="0">
            <a:spAutoFit/>
          </a:bodyPr>
          <a:lstStyle/>
          <a:p>
            <a:pPr algn="ctr">
              <a:lnSpc>
                <a:spcPts val="2204"/>
              </a:lnSpc>
            </a:pPr>
            <a:r>
              <a:rPr lang="en-US" sz="1575">
                <a:solidFill>
                  <a:srgbClr val="3B4A5E"/>
                </a:solidFill>
                <a:latin typeface="Arimo"/>
                <a:ea typeface="Arimo"/>
                <a:cs typeface="Arimo"/>
                <a:sym typeface="Arimo"/>
              </a:rPr>
              <a:t>The cavity is a negative area centred at C, so the neutral axis moves toward the thick wall.</a:t>
            </a:r>
          </a:p>
        </p:txBody>
      </p:sp>
      <p:grpSp>
        <p:nvGrpSpPr>
          <p:cNvPr name="Group 19" id="19"/>
          <p:cNvGrpSpPr/>
          <p:nvPr/>
        </p:nvGrpSpPr>
        <p:grpSpPr>
          <a:xfrm rot="0">
            <a:off x="952500" y="7286625"/>
            <a:ext cx="6286500" cy="2333625"/>
            <a:chOff x="0" y="0"/>
            <a:chExt cx="8382000" cy="3111500"/>
          </a:xfrm>
        </p:grpSpPr>
        <p:sp>
          <p:nvSpPr>
            <p:cNvPr name="Freeform 20" id="20"/>
            <p:cNvSpPr/>
            <p:nvPr/>
          </p:nvSpPr>
          <p:spPr>
            <a:xfrm flipH="false" flipV="false" rot="0">
              <a:off x="0" y="0"/>
              <a:ext cx="8382000" cy="3111500"/>
            </a:xfrm>
            <a:custGeom>
              <a:avLst/>
              <a:gdLst/>
              <a:ahLst/>
              <a:cxnLst/>
              <a:rect r="r" b="b" t="t" l="l"/>
              <a:pathLst>
                <a:path h="3111500" w="8382000">
                  <a:moveTo>
                    <a:pt x="34636" y="0"/>
                  </a:moveTo>
                  <a:lnTo>
                    <a:pt x="8347363" y="0"/>
                  </a:lnTo>
                  <a:cubicBezTo>
                    <a:pt x="8366492" y="0"/>
                    <a:pt x="8382000" y="15507"/>
                    <a:pt x="8382000" y="34636"/>
                  </a:cubicBezTo>
                  <a:lnTo>
                    <a:pt x="8382000" y="3076864"/>
                  </a:lnTo>
                  <a:cubicBezTo>
                    <a:pt x="8382000" y="3095993"/>
                    <a:pt x="8366492" y="3111500"/>
                    <a:pt x="8347363" y="3111500"/>
                  </a:cubicBezTo>
                  <a:lnTo>
                    <a:pt x="34636" y="3111500"/>
                  </a:lnTo>
                  <a:cubicBezTo>
                    <a:pt x="15507" y="3111500"/>
                    <a:pt x="0" y="3095993"/>
                    <a:pt x="0" y="3076864"/>
                  </a:cubicBezTo>
                  <a:lnTo>
                    <a:pt x="0" y="34636"/>
                  </a:lnTo>
                  <a:cubicBezTo>
                    <a:pt x="0" y="15507"/>
                    <a:pt x="15507" y="0"/>
                    <a:pt x="34636" y="0"/>
                  </a:cubicBezTo>
                  <a:close/>
                </a:path>
              </a:pathLst>
            </a:custGeom>
            <a:solidFill>
              <a:srgbClr val="0E1E3A"/>
            </a:solidFill>
          </p:spPr>
        </p:sp>
        <p:sp>
          <p:nvSpPr>
            <p:cNvPr name="TextBox 21" id="21"/>
            <p:cNvSpPr txBox="true"/>
            <p:nvPr/>
          </p:nvSpPr>
          <p:spPr>
            <a:xfrm>
              <a:off x="0" y="-38100"/>
              <a:ext cx="8382000" cy="31496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257300" y="745807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23" id="23"/>
          <p:cNvSpPr txBox="true"/>
          <p:nvPr/>
        </p:nvSpPr>
        <p:spPr>
          <a:xfrm rot="0">
            <a:off x="1257300" y="7848600"/>
            <a:ext cx="5715000" cy="650081"/>
          </a:xfrm>
          <a:prstGeom prst="rect">
            <a:avLst/>
          </a:prstGeom>
        </p:spPr>
        <p:txBody>
          <a:bodyPr anchor="t" rtlCol="false" tIns="0" lIns="0" bIns="0" rIns="0">
            <a:spAutoFit/>
          </a:bodyPr>
          <a:lstStyle/>
          <a:p>
            <a:pPr algn="l" marL="0" indent="0" lvl="0">
              <a:lnSpc>
                <a:spcPts val="2531"/>
              </a:lnSpc>
              <a:spcBef>
                <a:spcPct val="0"/>
              </a:spcBef>
            </a:pPr>
            <a:r>
              <a:rPr lang="en-US" sz="1875" strike="noStrike" u="none">
                <a:solidFill>
                  <a:srgbClr val="FFFFFF"/>
                </a:solidFill>
                <a:latin typeface="Arimo"/>
                <a:ea typeface="Arimo"/>
                <a:cs typeface="Arimo"/>
                <a:sym typeface="Arimo"/>
              </a:rPr>
              <a:t>The neutral axis sits 0.57 mm below the outer centre, on the thick-wall side: ȳ = −r²rₚ/(R² − r²).</a:t>
            </a:r>
          </a:p>
        </p:txBody>
      </p:sp>
      <p:sp>
        <p:nvSpPr>
          <p:cNvPr name="TextBox 24" id="24"/>
          <p:cNvSpPr txBox="true"/>
          <p:nvPr/>
        </p:nvSpPr>
        <p:spPr>
          <a:xfrm rot="0">
            <a:off x="7810500" y="2200275"/>
            <a:ext cx="952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HOW — STEP BY STEP</a:t>
            </a:r>
          </a:p>
        </p:txBody>
      </p:sp>
      <p:sp>
        <p:nvSpPr>
          <p:cNvPr name="Freeform 25" id="25" descr="Step-by-step derivation of the elastomer area and neutral axis"/>
          <p:cNvSpPr/>
          <p:nvPr/>
        </p:nvSpPr>
        <p:spPr>
          <a:xfrm flipH="false" flipV="false" rot="0">
            <a:off x="7810500" y="2647950"/>
            <a:ext cx="9525000" cy="5819775"/>
          </a:xfrm>
          <a:custGeom>
            <a:avLst/>
            <a:gdLst/>
            <a:ahLst/>
            <a:cxnLst/>
            <a:rect r="r" b="b" t="t" l="l"/>
            <a:pathLst>
              <a:path h="5819775" w="9525000">
                <a:moveTo>
                  <a:pt x="0" y="0"/>
                </a:moveTo>
                <a:lnTo>
                  <a:pt x="9525000" y="0"/>
                </a:lnTo>
                <a:lnTo>
                  <a:pt x="9525000" y="5819775"/>
                </a:lnTo>
                <a:lnTo>
                  <a:pt x="0" y="5819775"/>
                </a:lnTo>
                <a:lnTo>
                  <a:pt x="0" y="0"/>
                </a:lnTo>
                <a:close/>
              </a:path>
            </a:pathLst>
          </a:custGeom>
          <a:blipFill>
            <a:blip r:embed="rId3"/>
            <a:stretch>
              <a:fillRect l="0" t="0" r="0" b="0"/>
            </a:stretch>
          </a:blipFill>
        </p:spPr>
      </p:sp>
      <p:sp>
        <p:nvSpPr>
          <p:cNvPr name="TextBox 26" id="26"/>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27" id="27"/>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marL="0" indent="0" lvl="0">
              <a:lnSpc>
                <a:spcPts val="2100"/>
              </a:lnSpc>
              <a:spcBef>
                <a:spcPct val="0"/>
              </a:spcBef>
            </a:pPr>
            <a:r>
              <a:rPr lang="en-US" b="true" sz="1500" strike="noStrike" u="none">
                <a:solidFill>
                  <a:srgbClr val="4390F8"/>
                </a:solidFill>
                <a:latin typeface="Arimo Bold"/>
                <a:ea typeface="Arimo Bold"/>
                <a:cs typeface="Arimo Bold"/>
                <a:sym typeface="Arimo Bold"/>
              </a:rPr>
              <a:t>DERIVATION 1 · SECTION STIFFNESS</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Cross-section: second moment of area</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computed the bending stiffness I_zz of the eccentric section</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286000"/>
            <a:ext cx="6286500" cy="4762500"/>
            <a:chOff x="0" y="0"/>
            <a:chExt cx="8382000" cy="6350000"/>
          </a:xfrm>
        </p:grpSpPr>
        <p:sp>
          <p:nvSpPr>
            <p:cNvPr name="Freeform 15" id="15"/>
            <p:cNvSpPr/>
            <p:nvPr/>
          </p:nvSpPr>
          <p:spPr>
            <a:xfrm flipH="false" flipV="false" rot="0">
              <a:off x="0" y="0"/>
              <a:ext cx="8382000" cy="6350000"/>
            </a:xfrm>
            <a:custGeom>
              <a:avLst/>
              <a:gdLst/>
              <a:ahLst/>
              <a:cxnLst/>
              <a:rect r="r" b="b" t="t" l="l"/>
              <a:pathLst>
                <a:path h="6350000" w="8382000">
                  <a:moveTo>
                    <a:pt x="34636" y="0"/>
                  </a:moveTo>
                  <a:lnTo>
                    <a:pt x="8347363" y="0"/>
                  </a:lnTo>
                  <a:cubicBezTo>
                    <a:pt x="8366492" y="0"/>
                    <a:pt x="8382000" y="15507"/>
                    <a:pt x="8382000" y="34636"/>
                  </a:cubicBezTo>
                  <a:lnTo>
                    <a:pt x="8382000" y="6315364"/>
                  </a:lnTo>
                  <a:cubicBezTo>
                    <a:pt x="8382000" y="6334493"/>
                    <a:pt x="8366492" y="6350000"/>
                    <a:pt x="8347363" y="6350000"/>
                  </a:cubicBezTo>
                  <a:lnTo>
                    <a:pt x="34636" y="6350000"/>
                  </a:lnTo>
                  <a:cubicBezTo>
                    <a:pt x="15507" y="6350000"/>
                    <a:pt x="0" y="6334493"/>
                    <a:pt x="0" y="6315364"/>
                  </a:cubicBezTo>
                  <a:lnTo>
                    <a:pt x="0" y="34636"/>
                  </a:lnTo>
                  <a:cubicBezTo>
                    <a:pt x="0" y="15507"/>
                    <a:pt x="15507" y="0"/>
                    <a:pt x="34636" y="0"/>
                  </a:cubicBezTo>
                  <a:close/>
                </a:path>
              </a:pathLst>
            </a:custGeom>
            <a:solidFill>
              <a:srgbClr val="F1F5FA"/>
            </a:solidFill>
          </p:spPr>
        </p:sp>
        <p:sp>
          <p:nvSpPr>
            <p:cNvPr name="TextBox 16" id="16"/>
            <p:cNvSpPr txBox="true"/>
            <p:nvPr/>
          </p:nvSpPr>
          <p:spPr>
            <a:xfrm>
              <a:off x="0" y="-38100"/>
              <a:ext cx="8382000" cy="6388100"/>
            </a:xfrm>
            <a:prstGeom prst="rect">
              <a:avLst/>
            </a:prstGeom>
          </p:spPr>
          <p:txBody>
            <a:bodyPr anchor="ctr" rtlCol="false" tIns="50800" lIns="50800" bIns="50800" rIns="50800"/>
            <a:lstStyle/>
            <a:p>
              <a:pPr algn="l">
                <a:lnSpc>
                  <a:spcPts val="1679"/>
                </a:lnSpc>
              </a:pPr>
            </a:p>
          </p:txBody>
        </p:sp>
      </p:grpSp>
      <p:sp>
        <p:nvSpPr>
          <p:cNvPr name="Freeform 17" id="17" descr="Cross-section showing the parallel-axis distances"/>
          <p:cNvSpPr/>
          <p:nvPr/>
        </p:nvSpPr>
        <p:spPr>
          <a:xfrm flipH="false" flipV="false" rot="0">
            <a:off x="1428750" y="2571750"/>
            <a:ext cx="5334000" cy="3724275"/>
          </a:xfrm>
          <a:custGeom>
            <a:avLst/>
            <a:gdLst/>
            <a:ahLst/>
            <a:cxnLst/>
            <a:rect r="r" b="b" t="t" l="l"/>
            <a:pathLst>
              <a:path h="3724275" w="5334000">
                <a:moveTo>
                  <a:pt x="0" y="0"/>
                </a:moveTo>
                <a:lnTo>
                  <a:pt x="5334000" y="0"/>
                </a:lnTo>
                <a:lnTo>
                  <a:pt x="5334000" y="3724275"/>
                </a:lnTo>
                <a:lnTo>
                  <a:pt x="0" y="3724275"/>
                </a:lnTo>
                <a:lnTo>
                  <a:pt x="0" y="0"/>
                </a:lnTo>
                <a:close/>
              </a:path>
            </a:pathLst>
          </a:custGeom>
          <a:blipFill>
            <a:blip r:embed="rId2"/>
            <a:stretch>
              <a:fillRect l="-51" t="0" r="-51" b="0"/>
            </a:stretch>
          </a:blipFill>
        </p:spPr>
      </p:sp>
      <p:sp>
        <p:nvSpPr>
          <p:cNvPr name="TextBox 18" id="18"/>
          <p:cNvSpPr txBox="true"/>
          <p:nvPr/>
        </p:nvSpPr>
        <p:spPr>
          <a:xfrm rot="0">
            <a:off x="1238250" y="6353175"/>
            <a:ext cx="5715000" cy="560070"/>
          </a:xfrm>
          <a:prstGeom prst="rect">
            <a:avLst/>
          </a:prstGeom>
        </p:spPr>
        <p:txBody>
          <a:bodyPr anchor="t" rtlCol="false" tIns="0" lIns="0" bIns="0" rIns="0">
            <a:spAutoFit/>
          </a:bodyPr>
          <a:lstStyle/>
          <a:p>
            <a:pPr algn="ctr">
              <a:lnSpc>
                <a:spcPts val="2204"/>
              </a:lnSpc>
            </a:pPr>
            <a:r>
              <a:rPr lang="en-US" sz="1575">
                <a:solidFill>
                  <a:srgbClr val="3B4A5E"/>
                </a:solidFill>
                <a:latin typeface="Arimo"/>
                <a:ea typeface="Arimo"/>
                <a:cs typeface="Arimo"/>
                <a:sym typeface="Arimo"/>
              </a:rPr>
              <a:t>Parallel-axis theorem about the neutral axis: outer disc at |ȳ|, cavity at e = rₚ − ȳ.</a:t>
            </a:r>
          </a:p>
        </p:txBody>
      </p:sp>
      <p:grpSp>
        <p:nvGrpSpPr>
          <p:cNvPr name="Group 19" id="19"/>
          <p:cNvGrpSpPr/>
          <p:nvPr/>
        </p:nvGrpSpPr>
        <p:grpSpPr>
          <a:xfrm rot="0">
            <a:off x="952500" y="7286625"/>
            <a:ext cx="6286500" cy="2333625"/>
            <a:chOff x="0" y="0"/>
            <a:chExt cx="8382000" cy="3111500"/>
          </a:xfrm>
        </p:grpSpPr>
        <p:sp>
          <p:nvSpPr>
            <p:cNvPr name="Freeform 20" id="20"/>
            <p:cNvSpPr/>
            <p:nvPr/>
          </p:nvSpPr>
          <p:spPr>
            <a:xfrm flipH="false" flipV="false" rot="0">
              <a:off x="0" y="0"/>
              <a:ext cx="8382000" cy="3111500"/>
            </a:xfrm>
            <a:custGeom>
              <a:avLst/>
              <a:gdLst/>
              <a:ahLst/>
              <a:cxnLst/>
              <a:rect r="r" b="b" t="t" l="l"/>
              <a:pathLst>
                <a:path h="3111500" w="8382000">
                  <a:moveTo>
                    <a:pt x="34636" y="0"/>
                  </a:moveTo>
                  <a:lnTo>
                    <a:pt x="8347363" y="0"/>
                  </a:lnTo>
                  <a:cubicBezTo>
                    <a:pt x="8366492" y="0"/>
                    <a:pt x="8382000" y="15507"/>
                    <a:pt x="8382000" y="34636"/>
                  </a:cubicBezTo>
                  <a:lnTo>
                    <a:pt x="8382000" y="3076864"/>
                  </a:lnTo>
                  <a:cubicBezTo>
                    <a:pt x="8382000" y="3095993"/>
                    <a:pt x="8366492" y="3111500"/>
                    <a:pt x="8347363" y="3111500"/>
                  </a:cubicBezTo>
                  <a:lnTo>
                    <a:pt x="34636" y="3111500"/>
                  </a:lnTo>
                  <a:cubicBezTo>
                    <a:pt x="15507" y="3111500"/>
                    <a:pt x="0" y="3095993"/>
                    <a:pt x="0" y="3076864"/>
                  </a:cubicBezTo>
                  <a:lnTo>
                    <a:pt x="0" y="34636"/>
                  </a:lnTo>
                  <a:cubicBezTo>
                    <a:pt x="0" y="15507"/>
                    <a:pt x="15507" y="0"/>
                    <a:pt x="34636" y="0"/>
                  </a:cubicBezTo>
                  <a:close/>
                </a:path>
              </a:pathLst>
            </a:custGeom>
            <a:solidFill>
              <a:srgbClr val="0E1E3A"/>
            </a:solidFill>
          </p:spPr>
        </p:sp>
        <p:sp>
          <p:nvSpPr>
            <p:cNvPr name="TextBox 21" id="21"/>
            <p:cNvSpPr txBox="true"/>
            <p:nvPr/>
          </p:nvSpPr>
          <p:spPr>
            <a:xfrm>
              <a:off x="0" y="-38100"/>
              <a:ext cx="8382000" cy="31496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257300" y="745807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23" id="23"/>
          <p:cNvSpPr txBox="true"/>
          <p:nvPr/>
        </p:nvSpPr>
        <p:spPr>
          <a:xfrm rot="0">
            <a:off x="1257300" y="7858125"/>
            <a:ext cx="5715000" cy="927735"/>
          </a:xfrm>
          <a:prstGeom prst="rect">
            <a:avLst/>
          </a:prstGeom>
        </p:spPr>
        <p:txBody>
          <a:bodyPr anchor="t" rtlCol="false" tIns="0" lIns="0" bIns="0" rIns="0">
            <a:spAutoFit/>
          </a:bodyPr>
          <a:lstStyle/>
          <a:p>
            <a:pPr algn="l" marL="0" indent="0" lvl="0">
              <a:lnSpc>
                <a:spcPts val="2430"/>
              </a:lnSpc>
              <a:spcBef>
                <a:spcPct val="0"/>
              </a:spcBef>
            </a:pPr>
            <a:r>
              <a:rPr lang="en-US" sz="1800" strike="noStrike" u="none">
                <a:solidFill>
                  <a:srgbClr val="FFFFFF"/>
                </a:solidFill>
                <a:latin typeface="Arimo"/>
                <a:ea typeface="Arimo"/>
                <a:cs typeface="Arimo"/>
                <a:sym typeface="Arimo"/>
              </a:rPr>
              <a:t>I_zz = 7114 mm⁴, 7 % below a concentric tube (7653 mm⁴). The identity rₚ − ȳ = R²rₚ/(R² − r²) is reused for the moment arm.</a:t>
            </a:r>
          </a:p>
        </p:txBody>
      </p:sp>
      <p:sp>
        <p:nvSpPr>
          <p:cNvPr name="TextBox 24" id="24"/>
          <p:cNvSpPr txBox="true"/>
          <p:nvPr/>
        </p:nvSpPr>
        <p:spPr>
          <a:xfrm rot="0">
            <a:off x="7810500" y="2200275"/>
            <a:ext cx="952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HOW — STEP BY STEP</a:t>
            </a:r>
          </a:p>
        </p:txBody>
      </p:sp>
      <p:sp>
        <p:nvSpPr>
          <p:cNvPr name="Freeform 25" id="25" descr="Step-by-step derivation of the second moment of area"/>
          <p:cNvSpPr/>
          <p:nvPr/>
        </p:nvSpPr>
        <p:spPr>
          <a:xfrm flipH="false" flipV="false" rot="0">
            <a:off x="7810500" y="2647950"/>
            <a:ext cx="9525000" cy="6115050"/>
          </a:xfrm>
          <a:custGeom>
            <a:avLst/>
            <a:gdLst/>
            <a:ahLst/>
            <a:cxnLst/>
            <a:rect r="r" b="b" t="t" l="l"/>
            <a:pathLst>
              <a:path h="6115050" w="9525000">
                <a:moveTo>
                  <a:pt x="0" y="0"/>
                </a:moveTo>
                <a:lnTo>
                  <a:pt x="9525000" y="0"/>
                </a:lnTo>
                <a:lnTo>
                  <a:pt x="9525000" y="6115050"/>
                </a:lnTo>
                <a:lnTo>
                  <a:pt x="0" y="6115050"/>
                </a:lnTo>
                <a:lnTo>
                  <a:pt x="0" y="0"/>
                </a:lnTo>
                <a:close/>
              </a:path>
            </a:pathLst>
          </a:custGeom>
          <a:blipFill>
            <a:blip r:embed="rId3"/>
            <a:stretch>
              <a:fillRect l="0" t="-4" r="0" b="-4"/>
            </a:stretch>
          </a:blipFill>
        </p:spPr>
      </p:sp>
      <p:sp>
        <p:nvSpPr>
          <p:cNvPr name="TextBox 26" id="26"/>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27" id="27"/>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marL="0" indent="0" lvl="0">
              <a:lnSpc>
                <a:spcPts val="2100"/>
              </a:lnSpc>
              <a:spcBef>
                <a:spcPct val="0"/>
              </a:spcBef>
            </a:pPr>
            <a:r>
              <a:rPr lang="en-US" b="true" sz="1500" strike="noStrike" u="none">
                <a:solidFill>
                  <a:srgbClr val="4390F8"/>
                </a:solidFill>
                <a:latin typeface="Arimo Bold"/>
                <a:ea typeface="Arimo Bold"/>
                <a:cs typeface="Arimo Bold"/>
                <a:sym typeface="Arimo Bold"/>
              </a:rPr>
              <a:t>DERIVATION 2 · PRESSURE LOADING</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Pressure load and bending moment</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turned the cavity pressure into an end thrust and the bending moment it creates</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286000"/>
            <a:ext cx="6286500" cy="4762500"/>
            <a:chOff x="0" y="0"/>
            <a:chExt cx="8382000" cy="6350000"/>
          </a:xfrm>
        </p:grpSpPr>
        <p:sp>
          <p:nvSpPr>
            <p:cNvPr name="Freeform 15" id="15"/>
            <p:cNvSpPr/>
            <p:nvPr/>
          </p:nvSpPr>
          <p:spPr>
            <a:xfrm flipH="false" flipV="false" rot="0">
              <a:off x="0" y="0"/>
              <a:ext cx="8382000" cy="6350000"/>
            </a:xfrm>
            <a:custGeom>
              <a:avLst/>
              <a:gdLst/>
              <a:ahLst/>
              <a:cxnLst/>
              <a:rect r="r" b="b" t="t" l="l"/>
              <a:pathLst>
                <a:path h="6350000" w="8382000">
                  <a:moveTo>
                    <a:pt x="34636" y="0"/>
                  </a:moveTo>
                  <a:lnTo>
                    <a:pt x="8347363" y="0"/>
                  </a:lnTo>
                  <a:cubicBezTo>
                    <a:pt x="8366492" y="0"/>
                    <a:pt x="8382000" y="15507"/>
                    <a:pt x="8382000" y="34636"/>
                  </a:cubicBezTo>
                  <a:lnTo>
                    <a:pt x="8382000" y="6315364"/>
                  </a:lnTo>
                  <a:cubicBezTo>
                    <a:pt x="8382000" y="6334493"/>
                    <a:pt x="8366492" y="6350000"/>
                    <a:pt x="8347363" y="6350000"/>
                  </a:cubicBezTo>
                  <a:lnTo>
                    <a:pt x="34636" y="6350000"/>
                  </a:lnTo>
                  <a:cubicBezTo>
                    <a:pt x="15507" y="6350000"/>
                    <a:pt x="0" y="6334493"/>
                    <a:pt x="0" y="6315364"/>
                  </a:cubicBezTo>
                  <a:lnTo>
                    <a:pt x="0" y="34636"/>
                  </a:lnTo>
                  <a:cubicBezTo>
                    <a:pt x="0" y="15507"/>
                    <a:pt x="15507" y="0"/>
                    <a:pt x="34636" y="0"/>
                  </a:cubicBezTo>
                  <a:close/>
                </a:path>
              </a:pathLst>
            </a:custGeom>
            <a:solidFill>
              <a:srgbClr val="F1F5FA"/>
            </a:solidFill>
          </p:spPr>
        </p:sp>
        <p:sp>
          <p:nvSpPr>
            <p:cNvPr name="TextBox 16" id="16"/>
            <p:cNvSpPr txBox="true"/>
            <p:nvPr/>
          </p:nvSpPr>
          <p:spPr>
            <a:xfrm>
              <a:off x="0" y="-38100"/>
              <a:ext cx="8382000" cy="6388100"/>
            </a:xfrm>
            <a:prstGeom prst="rect">
              <a:avLst/>
            </a:prstGeom>
          </p:spPr>
          <p:txBody>
            <a:bodyPr anchor="ctr" rtlCol="false" tIns="50800" lIns="50800" bIns="50800" rIns="50800"/>
            <a:lstStyle/>
            <a:p>
              <a:pPr algn="l">
                <a:lnSpc>
                  <a:spcPts val="1679"/>
                </a:lnSpc>
              </a:pPr>
            </a:p>
          </p:txBody>
        </p:sp>
      </p:grpSp>
      <p:sp>
        <p:nvSpPr>
          <p:cNvPr name="Freeform 17" id="17" descr="Free-body diagram from a cut to the tip"/>
          <p:cNvSpPr/>
          <p:nvPr/>
        </p:nvSpPr>
        <p:spPr>
          <a:xfrm flipH="false" flipV="false" rot="0">
            <a:off x="1238250" y="2762250"/>
            <a:ext cx="5715000" cy="1638300"/>
          </a:xfrm>
          <a:custGeom>
            <a:avLst/>
            <a:gdLst/>
            <a:ahLst/>
            <a:cxnLst/>
            <a:rect r="r" b="b" t="t" l="l"/>
            <a:pathLst>
              <a:path h="1638300" w="5715000">
                <a:moveTo>
                  <a:pt x="0" y="0"/>
                </a:moveTo>
                <a:lnTo>
                  <a:pt x="5715000" y="0"/>
                </a:lnTo>
                <a:lnTo>
                  <a:pt x="5715000" y="1638300"/>
                </a:lnTo>
                <a:lnTo>
                  <a:pt x="0" y="1638300"/>
                </a:lnTo>
                <a:lnTo>
                  <a:pt x="0" y="0"/>
                </a:lnTo>
                <a:close/>
              </a:path>
            </a:pathLst>
          </a:custGeom>
          <a:blipFill>
            <a:blip r:embed="rId2"/>
            <a:stretch>
              <a:fillRect l="-72" t="0" r="-72" b="0"/>
            </a:stretch>
          </a:blipFill>
        </p:spPr>
      </p:sp>
      <p:sp>
        <p:nvSpPr>
          <p:cNvPr name="TextBox 18" id="18"/>
          <p:cNvSpPr txBox="true"/>
          <p:nvPr/>
        </p:nvSpPr>
        <p:spPr>
          <a:xfrm rot="0">
            <a:off x="1238250" y="4552950"/>
            <a:ext cx="5715000" cy="2066925"/>
          </a:xfrm>
          <a:prstGeom prst="rect">
            <a:avLst/>
          </a:prstGeom>
        </p:spPr>
        <p:txBody>
          <a:bodyPr anchor="t" rtlCol="false" tIns="0" lIns="0" bIns="0" rIns="0">
            <a:spAutoFit/>
          </a:bodyPr>
          <a:lstStyle/>
          <a:p>
            <a:pPr algn="l">
              <a:lnSpc>
                <a:spcPts val="2025"/>
              </a:lnSpc>
            </a:pPr>
            <a:r>
              <a:rPr lang="en-US" sz="1500">
                <a:solidFill>
                  <a:srgbClr val="3B4A5E"/>
                </a:solidFill>
                <a:latin typeface="Arimo"/>
                <a:ea typeface="Arimo"/>
                <a:cs typeface="Arimo"/>
                <a:sym typeface="Arimo"/>
              </a:rPr>
              <a:t>Cut the actuator at any x and keep the tip piece together with the fluid inside it.</a:t>
            </a:r>
          </a:p>
          <a:p>
            <a:pPr algn="l">
              <a:lnSpc>
                <a:spcPts val="2025"/>
              </a:lnSpc>
            </a:pPr>
          </a:p>
          <a:p>
            <a:pPr algn="l">
              <a:lnSpc>
                <a:spcPts val="2025"/>
              </a:lnSpc>
            </a:pPr>
            <a:r>
              <a:rPr lang="en-US" sz="1500">
                <a:solidFill>
                  <a:srgbClr val="3B4A5E"/>
                </a:solidFill>
                <a:latin typeface="Arimo"/>
                <a:ea typeface="Arimo"/>
                <a:cs typeface="Arimo"/>
                <a:sym typeface="Arimo"/>
              </a:rPr>
              <a:t>The fluid beyond the cut pushes with Pπr² through the cavity centre C; the silicone wall pulls back with σₓ.</a:t>
            </a:r>
          </a:p>
          <a:p>
            <a:pPr algn="l">
              <a:lnSpc>
                <a:spcPts val="2025"/>
              </a:lnSpc>
            </a:pPr>
          </a:p>
          <a:p>
            <a:pPr algn="l">
              <a:lnSpc>
                <a:spcPts val="2025"/>
              </a:lnSpc>
            </a:pPr>
            <a:r>
              <a:rPr lang="en-US" sz="1500">
                <a:solidFill>
                  <a:srgbClr val="3B4A5E"/>
                </a:solidFill>
                <a:latin typeface="Arimo"/>
                <a:ea typeface="Arimo"/>
                <a:cs typeface="Arimo"/>
                <a:sym typeface="Arimo"/>
              </a:rPr>
              <a:t>The push acts a distance e above the neutral axis, so it bends the actuator with M = F·e.</a:t>
            </a:r>
          </a:p>
        </p:txBody>
      </p:sp>
      <p:grpSp>
        <p:nvGrpSpPr>
          <p:cNvPr name="Group 19" id="19"/>
          <p:cNvGrpSpPr/>
          <p:nvPr/>
        </p:nvGrpSpPr>
        <p:grpSpPr>
          <a:xfrm rot="0">
            <a:off x="952500" y="7286625"/>
            <a:ext cx="6286500" cy="2333625"/>
            <a:chOff x="0" y="0"/>
            <a:chExt cx="8382000" cy="3111500"/>
          </a:xfrm>
        </p:grpSpPr>
        <p:sp>
          <p:nvSpPr>
            <p:cNvPr name="Freeform 20" id="20"/>
            <p:cNvSpPr/>
            <p:nvPr/>
          </p:nvSpPr>
          <p:spPr>
            <a:xfrm flipH="false" flipV="false" rot="0">
              <a:off x="0" y="0"/>
              <a:ext cx="8382000" cy="3111500"/>
            </a:xfrm>
            <a:custGeom>
              <a:avLst/>
              <a:gdLst/>
              <a:ahLst/>
              <a:cxnLst/>
              <a:rect r="r" b="b" t="t" l="l"/>
              <a:pathLst>
                <a:path h="3111500" w="8382000">
                  <a:moveTo>
                    <a:pt x="34636" y="0"/>
                  </a:moveTo>
                  <a:lnTo>
                    <a:pt x="8347363" y="0"/>
                  </a:lnTo>
                  <a:cubicBezTo>
                    <a:pt x="8366492" y="0"/>
                    <a:pt x="8382000" y="15507"/>
                    <a:pt x="8382000" y="34636"/>
                  </a:cubicBezTo>
                  <a:lnTo>
                    <a:pt x="8382000" y="3076864"/>
                  </a:lnTo>
                  <a:cubicBezTo>
                    <a:pt x="8382000" y="3095993"/>
                    <a:pt x="8366492" y="3111500"/>
                    <a:pt x="8347363" y="3111500"/>
                  </a:cubicBezTo>
                  <a:lnTo>
                    <a:pt x="34636" y="3111500"/>
                  </a:lnTo>
                  <a:cubicBezTo>
                    <a:pt x="15507" y="3111500"/>
                    <a:pt x="0" y="3095993"/>
                    <a:pt x="0" y="3076864"/>
                  </a:cubicBezTo>
                  <a:lnTo>
                    <a:pt x="0" y="34636"/>
                  </a:lnTo>
                  <a:cubicBezTo>
                    <a:pt x="0" y="15507"/>
                    <a:pt x="15507" y="0"/>
                    <a:pt x="34636" y="0"/>
                  </a:cubicBezTo>
                  <a:close/>
                </a:path>
              </a:pathLst>
            </a:custGeom>
            <a:solidFill>
              <a:srgbClr val="0E1E3A"/>
            </a:solidFill>
          </p:spPr>
        </p:sp>
        <p:sp>
          <p:nvSpPr>
            <p:cNvPr name="TextBox 21" id="21"/>
            <p:cNvSpPr txBox="true"/>
            <p:nvPr/>
          </p:nvSpPr>
          <p:spPr>
            <a:xfrm>
              <a:off x="0" y="-38100"/>
              <a:ext cx="8382000" cy="31496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257300" y="745807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23" id="23"/>
          <p:cNvSpPr txBox="true"/>
          <p:nvPr/>
        </p:nvSpPr>
        <p:spPr>
          <a:xfrm rot="0">
            <a:off x="1257300" y="7848600"/>
            <a:ext cx="5715000" cy="964406"/>
          </a:xfrm>
          <a:prstGeom prst="rect">
            <a:avLst/>
          </a:prstGeom>
        </p:spPr>
        <p:txBody>
          <a:bodyPr anchor="t" rtlCol="false" tIns="0" lIns="0" bIns="0" rIns="0">
            <a:spAutoFit/>
          </a:bodyPr>
          <a:lstStyle/>
          <a:p>
            <a:pPr algn="l" marL="0" indent="0" lvl="0">
              <a:lnSpc>
                <a:spcPts val="2531"/>
              </a:lnSpc>
              <a:spcBef>
                <a:spcPct val="0"/>
              </a:spcBef>
            </a:pPr>
            <a:r>
              <a:rPr lang="en-US" sz="1875" strike="noStrike" u="none">
                <a:solidFill>
                  <a:srgbClr val="FFFFFF"/>
                </a:solidFill>
                <a:latin typeface="Arimo"/>
                <a:ea typeface="Arimo"/>
                <a:cs typeface="Arimo"/>
                <a:sym typeface="Arimo"/>
              </a:rPr>
              <a:t>M = F·e is linear in P and the same at every cross-section (0.18 N·mm per kPa). The thrust acts on the cavity area: F = P·πr².</a:t>
            </a:r>
          </a:p>
        </p:txBody>
      </p:sp>
      <p:sp>
        <p:nvSpPr>
          <p:cNvPr name="TextBox 24" id="24"/>
          <p:cNvSpPr txBox="true"/>
          <p:nvPr/>
        </p:nvSpPr>
        <p:spPr>
          <a:xfrm rot="0">
            <a:off x="7810500" y="2200275"/>
            <a:ext cx="952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HOW — STEP BY STEP</a:t>
            </a:r>
          </a:p>
        </p:txBody>
      </p:sp>
      <p:sp>
        <p:nvSpPr>
          <p:cNvPr name="Freeform 25" id="25" descr="Step-by-step derivation of the thrust, moment arm and bending moment"/>
          <p:cNvSpPr/>
          <p:nvPr/>
        </p:nvSpPr>
        <p:spPr>
          <a:xfrm flipH="false" flipV="false" rot="0">
            <a:off x="7810500" y="2571750"/>
            <a:ext cx="9525000" cy="6667500"/>
          </a:xfrm>
          <a:custGeom>
            <a:avLst/>
            <a:gdLst/>
            <a:ahLst/>
            <a:cxnLst/>
            <a:rect r="r" b="b" t="t" l="l"/>
            <a:pathLst>
              <a:path h="6667500" w="9525000">
                <a:moveTo>
                  <a:pt x="0" y="0"/>
                </a:moveTo>
                <a:lnTo>
                  <a:pt x="9525000" y="0"/>
                </a:lnTo>
                <a:lnTo>
                  <a:pt x="9525000" y="6667500"/>
                </a:lnTo>
                <a:lnTo>
                  <a:pt x="0" y="6667500"/>
                </a:lnTo>
                <a:lnTo>
                  <a:pt x="0" y="0"/>
                </a:lnTo>
                <a:close/>
              </a:path>
            </a:pathLst>
          </a:custGeom>
          <a:blipFill>
            <a:blip r:embed="rId3"/>
            <a:stretch>
              <a:fillRect l="0" t="0" r="0" b="0"/>
            </a:stretch>
          </a:blipFill>
        </p:spPr>
      </p:sp>
      <p:sp>
        <p:nvSpPr>
          <p:cNvPr name="TextBox 26" id="26"/>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27" id="27"/>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marL="0" indent="0" lvl="0">
              <a:lnSpc>
                <a:spcPts val="2100"/>
              </a:lnSpc>
              <a:spcBef>
                <a:spcPct val="0"/>
              </a:spcBef>
            </a:pPr>
            <a:r>
              <a:rPr lang="en-US" b="true" sz="1500" strike="noStrike" u="none">
                <a:solidFill>
                  <a:srgbClr val="4390F8"/>
                </a:solidFill>
                <a:latin typeface="Arimo Bold"/>
                <a:ea typeface="Arimo Bold"/>
                <a:cs typeface="Arimo Bold"/>
                <a:sym typeface="Arimo Bold"/>
              </a:rPr>
              <a:t>DERIVATION 3 · BEAM RESPONSE</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Beam response: curvature, tip angle, deflection</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converted the moment into curvature, tip angle and tip deflection (Euler–Bernoulli beam)</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286000"/>
            <a:ext cx="6286500" cy="4762500"/>
            <a:chOff x="0" y="0"/>
            <a:chExt cx="8382000" cy="6350000"/>
          </a:xfrm>
        </p:grpSpPr>
        <p:sp>
          <p:nvSpPr>
            <p:cNvPr name="Freeform 15" id="15"/>
            <p:cNvSpPr/>
            <p:nvPr/>
          </p:nvSpPr>
          <p:spPr>
            <a:xfrm flipH="false" flipV="false" rot="0">
              <a:off x="0" y="0"/>
              <a:ext cx="8382000" cy="6350000"/>
            </a:xfrm>
            <a:custGeom>
              <a:avLst/>
              <a:gdLst/>
              <a:ahLst/>
              <a:cxnLst/>
              <a:rect r="r" b="b" t="t" l="l"/>
              <a:pathLst>
                <a:path h="6350000" w="8382000">
                  <a:moveTo>
                    <a:pt x="34636" y="0"/>
                  </a:moveTo>
                  <a:lnTo>
                    <a:pt x="8347363" y="0"/>
                  </a:lnTo>
                  <a:cubicBezTo>
                    <a:pt x="8366492" y="0"/>
                    <a:pt x="8382000" y="15507"/>
                    <a:pt x="8382000" y="34636"/>
                  </a:cubicBezTo>
                  <a:lnTo>
                    <a:pt x="8382000" y="6315364"/>
                  </a:lnTo>
                  <a:cubicBezTo>
                    <a:pt x="8382000" y="6334493"/>
                    <a:pt x="8366492" y="6350000"/>
                    <a:pt x="8347363" y="6350000"/>
                  </a:cubicBezTo>
                  <a:lnTo>
                    <a:pt x="34636" y="6350000"/>
                  </a:lnTo>
                  <a:cubicBezTo>
                    <a:pt x="15507" y="6350000"/>
                    <a:pt x="0" y="6334493"/>
                    <a:pt x="0" y="6315364"/>
                  </a:cubicBezTo>
                  <a:lnTo>
                    <a:pt x="0" y="34636"/>
                  </a:lnTo>
                  <a:cubicBezTo>
                    <a:pt x="0" y="15507"/>
                    <a:pt x="15507" y="0"/>
                    <a:pt x="34636" y="0"/>
                  </a:cubicBezTo>
                  <a:close/>
                </a:path>
              </a:pathLst>
            </a:custGeom>
            <a:solidFill>
              <a:srgbClr val="F1F5FA"/>
            </a:solidFill>
          </p:spPr>
        </p:sp>
        <p:sp>
          <p:nvSpPr>
            <p:cNvPr name="TextBox 16" id="16"/>
            <p:cNvSpPr txBox="true"/>
            <p:nvPr/>
          </p:nvSpPr>
          <p:spPr>
            <a:xfrm>
              <a:off x="0" y="-38100"/>
              <a:ext cx="8382000" cy="6388100"/>
            </a:xfrm>
            <a:prstGeom prst="rect">
              <a:avLst/>
            </a:prstGeom>
          </p:spPr>
          <p:txBody>
            <a:bodyPr anchor="ctr" rtlCol="false" tIns="50800" lIns="50800" bIns="50800" rIns="50800"/>
            <a:lstStyle/>
            <a:p>
              <a:pPr algn="l">
                <a:lnSpc>
                  <a:spcPts val="1679"/>
                </a:lnSpc>
              </a:pPr>
            </a:p>
          </p:txBody>
        </p:sp>
      </p:grpSp>
      <p:sp>
        <p:nvSpPr>
          <p:cNvPr name="Freeform 17" id="17" descr="Circular-arc geometry of the bent actuator"/>
          <p:cNvSpPr/>
          <p:nvPr/>
        </p:nvSpPr>
        <p:spPr>
          <a:xfrm flipH="false" flipV="false" rot="0">
            <a:off x="1333500" y="2552700"/>
            <a:ext cx="5524500" cy="3171825"/>
          </a:xfrm>
          <a:custGeom>
            <a:avLst/>
            <a:gdLst/>
            <a:ahLst/>
            <a:cxnLst/>
            <a:rect r="r" b="b" t="t" l="l"/>
            <a:pathLst>
              <a:path h="3171825" w="5524500">
                <a:moveTo>
                  <a:pt x="0" y="0"/>
                </a:moveTo>
                <a:lnTo>
                  <a:pt x="5524500" y="0"/>
                </a:lnTo>
                <a:lnTo>
                  <a:pt x="5524500" y="3171825"/>
                </a:lnTo>
                <a:lnTo>
                  <a:pt x="0" y="3171825"/>
                </a:lnTo>
                <a:lnTo>
                  <a:pt x="0" y="0"/>
                </a:lnTo>
                <a:close/>
              </a:path>
            </a:pathLst>
          </a:custGeom>
          <a:blipFill>
            <a:blip r:embed="rId2"/>
            <a:stretch>
              <a:fillRect l="-33" t="0" r="-33" b="0"/>
            </a:stretch>
          </a:blipFill>
        </p:spPr>
      </p:sp>
      <p:sp>
        <p:nvSpPr>
          <p:cNvPr name="TextBox 18" id="18"/>
          <p:cNvSpPr txBox="true"/>
          <p:nvPr/>
        </p:nvSpPr>
        <p:spPr>
          <a:xfrm rot="0">
            <a:off x="1238250" y="5934075"/>
            <a:ext cx="5715000" cy="560070"/>
          </a:xfrm>
          <a:prstGeom prst="rect">
            <a:avLst/>
          </a:prstGeom>
        </p:spPr>
        <p:txBody>
          <a:bodyPr anchor="t" rtlCol="false" tIns="0" lIns="0" bIns="0" rIns="0">
            <a:spAutoFit/>
          </a:bodyPr>
          <a:lstStyle/>
          <a:p>
            <a:pPr algn="ctr">
              <a:lnSpc>
                <a:spcPts val="2204"/>
              </a:lnSpc>
            </a:pPr>
            <a:r>
              <a:rPr lang="en-US" sz="1575">
                <a:solidFill>
                  <a:srgbClr val="3B4A5E"/>
                </a:solidFill>
                <a:latin typeface="Arimo"/>
                <a:ea typeface="Arimo"/>
                <a:cs typeface="Arimo"/>
                <a:sym typeface="Arimo"/>
              </a:rPr>
              <a:t>Uniform moment → constant curvature → the centreline is a circular arc of radius ρ = 1/κ turning through θ.</a:t>
            </a:r>
          </a:p>
        </p:txBody>
      </p:sp>
      <p:grpSp>
        <p:nvGrpSpPr>
          <p:cNvPr name="Group 19" id="19"/>
          <p:cNvGrpSpPr/>
          <p:nvPr/>
        </p:nvGrpSpPr>
        <p:grpSpPr>
          <a:xfrm rot="0">
            <a:off x="952500" y="7286625"/>
            <a:ext cx="6286500" cy="2333625"/>
            <a:chOff x="0" y="0"/>
            <a:chExt cx="8382000" cy="3111500"/>
          </a:xfrm>
        </p:grpSpPr>
        <p:sp>
          <p:nvSpPr>
            <p:cNvPr name="Freeform 20" id="20"/>
            <p:cNvSpPr/>
            <p:nvPr/>
          </p:nvSpPr>
          <p:spPr>
            <a:xfrm flipH="false" flipV="false" rot="0">
              <a:off x="0" y="0"/>
              <a:ext cx="8382000" cy="3111500"/>
            </a:xfrm>
            <a:custGeom>
              <a:avLst/>
              <a:gdLst/>
              <a:ahLst/>
              <a:cxnLst/>
              <a:rect r="r" b="b" t="t" l="l"/>
              <a:pathLst>
                <a:path h="3111500" w="8382000">
                  <a:moveTo>
                    <a:pt x="34636" y="0"/>
                  </a:moveTo>
                  <a:lnTo>
                    <a:pt x="8347363" y="0"/>
                  </a:lnTo>
                  <a:cubicBezTo>
                    <a:pt x="8366492" y="0"/>
                    <a:pt x="8382000" y="15507"/>
                    <a:pt x="8382000" y="34636"/>
                  </a:cubicBezTo>
                  <a:lnTo>
                    <a:pt x="8382000" y="3076864"/>
                  </a:lnTo>
                  <a:cubicBezTo>
                    <a:pt x="8382000" y="3095993"/>
                    <a:pt x="8366492" y="3111500"/>
                    <a:pt x="8347363" y="3111500"/>
                  </a:cubicBezTo>
                  <a:lnTo>
                    <a:pt x="34636" y="3111500"/>
                  </a:lnTo>
                  <a:cubicBezTo>
                    <a:pt x="15507" y="3111500"/>
                    <a:pt x="0" y="3095993"/>
                    <a:pt x="0" y="3076864"/>
                  </a:cubicBezTo>
                  <a:lnTo>
                    <a:pt x="0" y="34636"/>
                  </a:lnTo>
                  <a:cubicBezTo>
                    <a:pt x="0" y="15507"/>
                    <a:pt x="15507" y="0"/>
                    <a:pt x="34636" y="0"/>
                  </a:cubicBezTo>
                  <a:close/>
                </a:path>
              </a:pathLst>
            </a:custGeom>
            <a:solidFill>
              <a:srgbClr val="0E1E3A"/>
            </a:solidFill>
          </p:spPr>
        </p:sp>
        <p:sp>
          <p:nvSpPr>
            <p:cNvPr name="TextBox 21" id="21"/>
            <p:cNvSpPr txBox="true"/>
            <p:nvPr/>
          </p:nvSpPr>
          <p:spPr>
            <a:xfrm>
              <a:off x="0" y="-38100"/>
              <a:ext cx="8382000" cy="31496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257300" y="745807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23" id="23"/>
          <p:cNvSpPr txBox="true"/>
          <p:nvPr/>
        </p:nvSpPr>
        <p:spPr>
          <a:xfrm rot="0">
            <a:off x="1257300" y="7848600"/>
            <a:ext cx="5715000" cy="964406"/>
          </a:xfrm>
          <a:prstGeom prst="rect">
            <a:avLst/>
          </a:prstGeom>
        </p:spPr>
        <p:txBody>
          <a:bodyPr anchor="t" rtlCol="false" tIns="0" lIns="0" bIns="0" rIns="0">
            <a:spAutoFit/>
          </a:bodyPr>
          <a:lstStyle/>
          <a:p>
            <a:pPr algn="l" marL="0" indent="0" lvl="0">
              <a:lnSpc>
                <a:spcPts val="2531"/>
              </a:lnSpc>
              <a:spcBef>
                <a:spcPct val="0"/>
              </a:spcBef>
            </a:pPr>
            <a:r>
              <a:rPr lang="en-US" sz="1875" strike="noStrike" u="none">
                <a:solidFill>
                  <a:srgbClr val="FFFFFF"/>
                </a:solidFill>
                <a:latin typeface="Arimo"/>
                <a:ea typeface="Arimo"/>
                <a:cs typeface="Arimo"/>
                <a:sym typeface="Arimo"/>
              </a:rPr>
              <a:t>θ = 4.82°, δ = 4.20 mm at 20 kPa, linear in P. Holds only if each fibre is in uniaxial stress, which is true with a hoop sleeve.</a:t>
            </a:r>
          </a:p>
        </p:txBody>
      </p:sp>
      <p:sp>
        <p:nvSpPr>
          <p:cNvPr name="TextBox 24" id="24"/>
          <p:cNvSpPr txBox="true"/>
          <p:nvPr/>
        </p:nvSpPr>
        <p:spPr>
          <a:xfrm rot="0">
            <a:off x="7810500" y="2200275"/>
            <a:ext cx="952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HOW — STEP BY STEP</a:t>
            </a:r>
          </a:p>
        </p:txBody>
      </p:sp>
      <p:sp>
        <p:nvSpPr>
          <p:cNvPr name="Freeform 25" id="25" descr="Step-by-step derivation of curvature, tip angle and tip deflection"/>
          <p:cNvSpPr/>
          <p:nvPr/>
        </p:nvSpPr>
        <p:spPr>
          <a:xfrm flipH="false" flipV="false" rot="0">
            <a:off x="7810500" y="2590800"/>
            <a:ext cx="9525000" cy="6172200"/>
          </a:xfrm>
          <a:custGeom>
            <a:avLst/>
            <a:gdLst/>
            <a:ahLst/>
            <a:cxnLst/>
            <a:rect r="r" b="b" t="t" l="l"/>
            <a:pathLst>
              <a:path h="6172200" w="9525000">
                <a:moveTo>
                  <a:pt x="0" y="0"/>
                </a:moveTo>
                <a:lnTo>
                  <a:pt x="9525000" y="0"/>
                </a:lnTo>
                <a:lnTo>
                  <a:pt x="9525000" y="6172200"/>
                </a:lnTo>
                <a:lnTo>
                  <a:pt x="0" y="6172200"/>
                </a:lnTo>
                <a:lnTo>
                  <a:pt x="0" y="0"/>
                </a:lnTo>
                <a:close/>
              </a:path>
            </a:pathLst>
          </a:custGeom>
          <a:blipFill>
            <a:blip r:embed="rId3"/>
            <a:stretch>
              <a:fillRect l="0" t="0" r="0" b="0"/>
            </a:stretch>
          </a:blipFill>
        </p:spPr>
      </p:sp>
      <p:sp>
        <p:nvSpPr>
          <p:cNvPr name="TextBox 26" id="26"/>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27" id="27"/>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marL="0" indent="0" lvl="0">
              <a:lnSpc>
                <a:spcPts val="2100"/>
              </a:lnSpc>
              <a:spcBef>
                <a:spcPct val="0"/>
              </a:spcBef>
            </a:pPr>
            <a:r>
              <a:rPr lang="en-US" b="true" sz="1500" strike="noStrike" u="none">
                <a:solidFill>
                  <a:srgbClr val="4390F8"/>
                </a:solidFill>
                <a:latin typeface="Arimo Bold"/>
                <a:ea typeface="Arimo Bold"/>
                <a:cs typeface="Arimo Bold"/>
                <a:sym typeface="Arimo Bold"/>
              </a:rPr>
              <a:t>DERIVATION 4 · IN-PLANE WALL STRESSES</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marL="0" indent="0" lvl="0">
              <a:lnSpc>
                <a:spcPts val="5250"/>
              </a:lnSpc>
              <a:spcBef>
                <a:spcPct val="0"/>
              </a:spcBef>
            </a:pPr>
            <a:r>
              <a:rPr lang="en-US" b="true" sz="3750" strike="noStrike" u="none">
                <a:solidFill>
                  <a:srgbClr val="0E1E3A"/>
                </a:solidFill>
                <a:latin typeface="Arimo Bold"/>
                <a:ea typeface="Arimo Bold"/>
                <a:cs typeface="Arimo Bold"/>
                <a:sym typeface="Arimo Bold"/>
              </a:rPr>
              <a:t>The (1 − 2ν) factor: why a bare actuator barely bends</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put back the in-plane wall stresses that the beam model ignores</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286000"/>
            <a:ext cx="6286500" cy="4762500"/>
            <a:chOff x="0" y="0"/>
            <a:chExt cx="8382000" cy="6350000"/>
          </a:xfrm>
        </p:grpSpPr>
        <p:sp>
          <p:nvSpPr>
            <p:cNvPr name="Freeform 15" id="15"/>
            <p:cNvSpPr/>
            <p:nvPr/>
          </p:nvSpPr>
          <p:spPr>
            <a:xfrm flipH="false" flipV="false" rot="0">
              <a:off x="0" y="0"/>
              <a:ext cx="8382000" cy="6350000"/>
            </a:xfrm>
            <a:custGeom>
              <a:avLst/>
              <a:gdLst/>
              <a:ahLst/>
              <a:cxnLst/>
              <a:rect r="r" b="b" t="t" l="l"/>
              <a:pathLst>
                <a:path h="6350000" w="8382000">
                  <a:moveTo>
                    <a:pt x="34636" y="0"/>
                  </a:moveTo>
                  <a:lnTo>
                    <a:pt x="8347363" y="0"/>
                  </a:lnTo>
                  <a:cubicBezTo>
                    <a:pt x="8366492" y="0"/>
                    <a:pt x="8382000" y="15507"/>
                    <a:pt x="8382000" y="34636"/>
                  </a:cubicBezTo>
                  <a:lnTo>
                    <a:pt x="8382000" y="6315364"/>
                  </a:lnTo>
                  <a:cubicBezTo>
                    <a:pt x="8382000" y="6334493"/>
                    <a:pt x="8366492" y="6350000"/>
                    <a:pt x="8347363" y="6350000"/>
                  </a:cubicBezTo>
                  <a:lnTo>
                    <a:pt x="34636" y="6350000"/>
                  </a:lnTo>
                  <a:cubicBezTo>
                    <a:pt x="15507" y="6350000"/>
                    <a:pt x="0" y="6334493"/>
                    <a:pt x="0" y="6315364"/>
                  </a:cubicBezTo>
                  <a:lnTo>
                    <a:pt x="0" y="34636"/>
                  </a:lnTo>
                  <a:cubicBezTo>
                    <a:pt x="0" y="15507"/>
                    <a:pt x="15507" y="0"/>
                    <a:pt x="34636" y="0"/>
                  </a:cubicBezTo>
                  <a:close/>
                </a:path>
              </a:pathLst>
            </a:custGeom>
            <a:solidFill>
              <a:srgbClr val="F1F5FA"/>
            </a:solidFill>
          </p:spPr>
        </p:sp>
        <p:sp>
          <p:nvSpPr>
            <p:cNvPr name="TextBox 16" id="16"/>
            <p:cNvSpPr txBox="true"/>
            <p:nvPr/>
          </p:nvSpPr>
          <p:spPr>
            <a:xfrm>
              <a:off x="0" y="-38100"/>
              <a:ext cx="8382000" cy="6388100"/>
            </a:xfrm>
            <a:prstGeom prst="rect">
              <a:avLst/>
            </a:prstGeom>
          </p:spPr>
          <p:txBody>
            <a:bodyPr anchor="ctr" rtlCol="false" tIns="50800" lIns="50800" bIns="50800" rIns="50800"/>
            <a:lstStyle/>
            <a:p>
              <a:pPr algn="l">
                <a:lnSpc>
                  <a:spcPts val="1679"/>
                </a:lnSpc>
              </a:pPr>
            </a:p>
          </p:txBody>
        </p:sp>
      </p:grpSp>
      <p:sp>
        <p:nvSpPr>
          <p:cNvPr name="Freeform 17" id="17" descr="In-plane hoop and radial stresses in the wall"/>
          <p:cNvSpPr/>
          <p:nvPr/>
        </p:nvSpPr>
        <p:spPr>
          <a:xfrm flipH="false" flipV="false" rot="0">
            <a:off x="1123950" y="2533650"/>
            <a:ext cx="2495550" cy="2905125"/>
          </a:xfrm>
          <a:custGeom>
            <a:avLst/>
            <a:gdLst/>
            <a:ahLst/>
            <a:cxnLst/>
            <a:rect r="r" b="b" t="t" l="l"/>
            <a:pathLst>
              <a:path h="2905125" w="2495550">
                <a:moveTo>
                  <a:pt x="0" y="0"/>
                </a:moveTo>
                <a:lnTo>
                  <a:pt x="2495550" y="0"/>
                </a:lnTo>
                <a:lnTo>
                  <a:pt x="2495550" y="2905125"/>
                </a:lnTo>
                <a:lnTo>
                  <a:pt x="0" y="2905125"/>
                </a:lnTo>
                <a:lnTo>
                  <a:pt x="0" y="0"/>
                </a:lnTo>
                <a:close/>
              </a:path>
            </a:pathLst>
          </a:custGeom>
          <a:blipFill>
            <a:blip r:embed="rId2"/>
            <a:stretch>
              <a:fillRect l="-68" t="0" r="-68" b="0"/>
            </a:stretch>
          </a:blipFill>
        </p:spPr>
      </p:sp>
      <p:sp>
        <p:nvSpPr>
          <p:cNvPr name="Freeform 18" id="18" descr="FE curvature ratio against Poisson's ratio follows 1 - 2 nu"/>
          <p:cNvSpPr/>
          <p:nvPr/>
        </p:nvSpPr>
        <p:spPr>
          <a:xfrm flipH="false" flipV="false" rot="0">
            <a:off x="3733800" y="2762250"/>
            <a:ext cx="3352800" cy="2447925"/>
          </a:xfrm>
          <a:custGeom>
            <a:avLst/>
            <a:gdLst/>
            <a:ahLst/>
            <a:cxnLst/>
            <a:rect r="r" b="b" t="t" l="l"/>
            <a:pathLst>
              <a:path h="2447925" w="3352800">
                <a:moveTo>
                  <a:pt x="0" y="0"/>
                </a:moveTo>
                <a:lnTo>
                  <a:pt x="3352800" y="0"/>
                </a:lnTo>
                <a:lnTo>
                  <a:pt x="3352800" y="2447925"/>
                </a:lnTo>
                <a:lnTo>
                  <a:pt x="0" y="2447925"/>
                </a:lnTo>
                <a:lnTo>
                  <a:pt x="0" y="0"/>
                </a:lnTo>
                <a:close/>
              </a:path>
            </a:pathLst>
          </a:custGeom>
          <a:blipFill>
            <a:blip r:embed="rId3"/>
            <a:stretch>
              <a:fillRect l="-7" t="0" r="-7" b="0"/>
            </a:stretch>
          </a:blipFill>
        </p:spPr>
      </p:sp>
      <p:sp>
        <p:nvSpPr>
          <p:cNvPr name="TextBox 19" id="19"/>
          <p:cNvSpPr txBox="true"/>
          <p:nvPr/>
        </p:nvSpPr>
        <p:spPr>
          <a:xfrm rot="0">
            <a:off x="1238250" y="5667375"/>
            <a:ext cx="5715000" cy="836295"/>
          </a:xfrm>
          <a:prstGeom prst="rect">
            <a:avLst/>
          </a:prstGeom>
        </p:spPr>
        <p:txBody>
          <a:bodyPr anchor="t" rtlCol="false" tIns="0" lIns="0" bIns="0" rIns="0">
            <a:spAutoFit/>
          </a:bodyPr>
          <a:lstStyle/>
          <a:p>
            <a:pPr algn="ctr">
              <a:lnSpc>
                <a:spcPts val="2204"/>
              </a:lnSpc>
            </a:pPr>
            <a:r>
              <a:rPr lang="en-US" sz="1575">
                <a:solidFill>
                  <a:srgbClr val="3B4A5E"/>
                </a:solidFill>
                <a:latin typeface="Arimo"/>
                <a:ea typeface="Arimo"/>
                <a:cs typeface="Arimo"/>
                <a:sym typeface="Arimo"/>
              </a:rPr>
              <a:t>Pressure also loads the wall in its own plane (left). Through Poisson's ratio this cancels the thrust moment; the 3-D FE curvature follows 1 − 2ν exactly (right).</a:t>
            </a:r>
          </a:p>
        </p:txBody>
      </p:sp>
      <p:grpSp>
        <p:nvGrpSpPr>
          <p:cNvPr name="Group 20" id="20"/>
          <p:cNvGrpSpPr/>
          <p:nvPr/>
        </p:nvGrpSpPr>
        <p:grpSpPr>
          <a:xfrm rot="0">
            <a:off x="952500" y="7286625"/>
            <a:ext cx="6286500" cy="2333625"/>
            <a:chOff x="0" y="0"/>
            <a:chExt cx="8382000" cy="3111500"/>
          </a:xfrm>
        </p:grpSpPr>
        <p:sp>
          <p:nvSpPr>
            <p:cNvPr name="Freeform 21" id="21"/>
            <p:cNvSpPr/>
            <p:nvPr/>
          </p:nvSpPr>
          <p:spPr>
            <a:xfrm flipH="false" flipV="false" rot="0">
              <a:off x="0" y="0"/>
              <a:ext cx="8382000" cy="3111500"/>
            </a:xfrm>
            <a:custGeom>
              <a:avLst/>
              <a:gdLst/>
              <a:ahLst/>
              <a:cxnLst/>
              <a:rect r="r" b="b" t="t" l="l"/>
              <a:pathLst>
                <a:path h="3111500" w="8382000">
                  <a:moveTo>
                    <a:pt x="34636" y="0"/>
                  </a:moveTo>
                  <a:lnTo>
                    <a:pt x="8347363" y="0"/>
                  </a:lnTo>
                  <a:cubicBezTo>
                    <a:pt x="8366492" y="0"/>
                    <a:pt x="8382000" y="15507"/>
                    <a:pt x="8382000" y="34636"/>
                  </a:cubicBezTo>
                  <a:lnTo>
                    <a:pt x="8382000" y="3076864"/>
                  </a:lnTo>
                  <a:cubicBezTo>
                    <a:pt x="8382000" y="3095993"/>
                    <a:pt x="8366492" y="3111500"/>
                    <a:pt x="8347363" y="3111500"/>
                  </a:cubicBezTo>
                  <a:lnTo>
                    <a:pt x="34636" y="3111500"/>
                  </a:lnTo>
                  <a:cubicBezTo>
                    <a:pt x="15507" y="3111500"/>
                    <a:pt x="0" y="3095993"/>
                    <a:pt x="0" y="3076864"/>
                  </a:cubicBezTo>
                  <a:lnTo>
                    <a:pt x="0" y="34636"/>
                  </a:lnTo>
                  <a:cubicBezTo>
                    <a:pt x="0" y="15507"/>
                    <a:pt x="15507" y="0"/>
                    <a:pt x="34636" y="0"/>
                  </a:cubicBezTo>
                  <a:close/>
                </a:path>
              </a:pathLst>
            </a:custGeom>
            <a:solidFill>
              <a:srgbClr val="0E1E3A"/>
            </a:solidFill>
          </p:spPr>
        </p:sp>
        <p:sp>
          <p:nvSpPr>
            <p:cNvPr name="TextBox 22" id="22"/>
            <p:cNvSpPr txBox="true"/>
            <p:nvPr/>
          </p:nvSpPr>
          <p:spPr>
            <a:xfrm>
              <a:off x="0" y="-38100"/>
              <a:ext cx="8382000" cy="3149600"/>
            </a:xfrm>
            <a:prstGeom prst="rect">
              <a:avLst/>
            </a:prstGeom>
          </p:spPr>
          <p:txBody>
            <a:bodyPr anchor="ctr" rtlCol="false" tIns="50800" lIns="50800" bIns="50800" rIns="50800"/>
            <a:lstStyle/>
            <a:p>
              <a:pPr algn="l">
                <a:lnSpc>
                  <a:spcPts val="1679"/>
                </a:lnSpc>
              </a:pPr>
            </a:p>
          </p:txBody>
        </p:sp>
      </p:grpSp>
      <p:sp>
        <p:nvSpPr>
          <p:cNvPr name="TextBox 23" id="23"/>
          <p:cNvSpPr txBox="true"/>
          <p:nvPr/>
        </p:nvSpPr>
        <p:spPr>
          <a:xfrm rot="0">
            <a:off x="1257300" y="745807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24" id="24"/>
          <p:cNvSpPr txBox="true"/>
          <p:nvPr/>
        </p:nvSpPr>
        <p:spPr>
          <a:xfrm rot="0">
            <a:off x="1257300" y="7848600"/>
            <a:ext cx="5715000" cy="964406"/>
          </a:xfrm>
          <a:prstGeom prst="rect">
            <a:avLst/>
          </a:prstGeom>
        </p:spPr>
        <p:txBody>
          <a:bodyPr anchor="t" rtlCol="false" tIns="0" lIns="0" bIns="0" rIns="0">
            <a:spAutoFit/>
          </a:bodyPr>
          <a:lstStyle/>
          <a:p>
            <a:pPr algn="l" marL="0" indent="0" lvl="0">
              <a:lnSpc>
                <a:spcPts val="2531"/>
              </a:lnSpc>
              <a:spcBef>
                <a:spcPct val="0"/>
              </a:spcBef>
            </a:pPr>
            <a:r>
              <a:rPr lang="en-US" sz="1875" strike="noStrike" u="none">
                <a:solidFill>
                  <a:srgbClr val="FFFFFF"/>
                </a:solidFill>
                <a:latin typeface="Arimo"/>
                <a:ea typeface="Arimo"/>
                <a:cs typeface="Arimo"/>
                <a:sym typeface="Arimo"/>
              </a:rPr>
              <a:t>κ = (1 − 2ν)·M/(E I_zz) → 0 for silicone. A bare actuator does not bend at first order; the beam formula holds only with a hoop sleeve.</a:t>
            </a:r>
          </a:p>
        </p:txBody>
      </p:sp>
      <p:sp>
        <p:nvSpPr>
          <p:cNvPr name="TextBox 25" id="25"/>
          <p:cNvSpPr txBox="true"/>
          <p:nvPr/>
        </p:nvSpPr>
        <p:spPr>
          <a:xfrm rot="0">
            <a:off x="7810500" y="2200275"/>
            <a:ext cx="952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HOW — STEP BY STEP</a:t>
            </a:r>
          </a:p>
        </p:txBody>
      </p:sp>
      <p:sp>
        <p:nvSpPr>
          <p:cNvPr name="Freeform 26" id="26" descr="Step-by-step derivation of the (1 - 2 nu) factor from the in-plane wall stresses"/>
          <p:cNvSpPr/>
          <p:nvPr/>
        </p:nvSpPr>
        <p:spPr>
          <a:xfrm flipH="false" flipV="false" rot="0">
            <a:off x="7810500" y="2590800"/>
            <a:ext cx="9525000" cy="6915150"/>
          </a:xfrm>
          <a:custGeom>
            <a:avLst/>
            <a:gdLst/>
            <a:ahLst/>
            <a:cxnLst/>
            <a:rect r="r" b="b" t="t" l="l"/>
            <a:pathLst>
              <a:path h="6915150" w="9525000">
                <a:moveTo>
                  <a:pt x="0" y="0"/>
                </a:moveTo>
                <a:lnTo>
                  <a:pt x="9525000" y="0"/>
                </a:lnTo>
                <a:lnTo>
                  <a:pt x="9525000" y="6915150"/>
                </a:lnTo>
                <a:lnTo>
                  <a:pt x="0" y="6915150"/>
                </a:lnTo>
                <a:lnTo>
                  <a:pt x="0" y="0"/>
                </a:lnTo>
                <a:close/>
              </a:path>
            </a:pathLst>
          </a:custGeom>
          <a:blipFill>
            <a:blip r:embed="rId4"/>
            <a:stretch>
              <a:fillRect l="0" t="0" r="0" b="0"/>
            </a:stretch>
          </a:blipFill>
        </p:spPr>
      </p:sp>
      <p:sp>
        <p:nvSpPr>
          <p:cNvPr name="TextBox 27" id="27"/>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28" id="28"/>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marL="0" indent="0" lvl="0">
              <a:lnSpc>
                <a:spcPts val="2100"/>
              </a:lnSpc>
              <a:spcBef>
                <a:spcPct val="0"/>
              </a:spcBef>
            </a:pPr>
            <a:r>
              <a:rPr lang="en-US" b="true" sz="1500" strike="noStrike" u="none">
                <a:solidFill>
                  <a:srgbClr val="4390F8"/>
                </a:solidFill>
                <a:latin typeface="Arimo Bold"/>
                <a:ea typeface="Arimo Bold"/>
                <a:cs typeface="Arimo Bold"/>
                <a:sym typeface="Arimo Bold"/>
              </a:rPr>
              <a:t>DERIVATION 5 · WALL GEOMETRY</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marL="0" indent="0" lvl="0">
              <a:lnSpc>
                <a:spcPts val="5250"/>
              </a:lnSpc>
              <a:spcBef>
                <a:spcPct val="0"/>
              </a:spcBef>
            </a:pPr>
            <a:r>
              <a:rPr lang="en-US" b="true" sz="3750" strike="noStrike" u="none">
                <a:solidFill>
                  <a:srgbClr val="0E1E3A"/>
                </a:solidFill>
                <a:latin typeface="Arimo Bold"/>
                <a:ea typeface="Arimo Bold"/>
                <a:cs typeface="Arimo Bold"/>
                <a:sym typeface="Arimo Bold"/>
              </a:rPr>
              <a:t>Wall thickness and a linear wall-expansion estimate</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3B4A5E"/>
                </a:solidFill>
                <a:latin typeface="Arimo"/>
                <a:ea typeface="Arimo"/>
                <a:cs typeface="Arimo"/>
                <a:sym typeface="Arimo"/>
              </a:rPr>
              <a:t>What we did: derived the wall thickness t(φ) and tested a curvature that is linear in the wall expansion</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286000"/>
            <a:ext cx="6286500" cy="4762500"/>
            <a:chOff x="0" y="0"/>
            <a:chExt cx="8382000" cy="6350000"/>
          </a:xfrm>
        </p:grpSpPr>
        <p:sp>
          <p:nvSpPr>
            <p:cNvPr name="Freeform 15" id="15"/>
            <p:cNvSpPr/>
            <p:nvPr/>
          </p:nvSpPr>
          <p:spPr>
            <a:xfrm flipH="false" flipV="false" rot="0">
              <a:off x="0" y="0"/>
              <a:ext cx="8382000" cy="6350000"/>
            </a:xfrm>
            <a:custGeom>
              <a:avLst/>
              <a:gdLst/>
              <a:ahLst/>
              <a:cxnLst/>
              <a:rect r="r" b="b" t="t" l="l"/>
              <a:pathLst>
                <a:path h="6350000" w="8382000">
                  <a:moveTo>
                    <a:pt x="34636" y="0"/>
                  </a:moveTo>
                  <a:lnTo>
                    <a:pt x="8347363" y="0"/>
                  </a:lnTo>
                  <a:cubicBezTo>
                    <a:pt x="8366492" y="0"/>
                    <a:pt x="8382000" y="15507"/>
                    <a:pt x="8382000" y="34636"/>
                  </a:cubicBezTo>
                  <a:lnTo>
                    <a:pt x="8382000" y="6315364"/>
                  </a:lnTo>
                  <a:cubicBezTo>
                    <a:pt x="8382000" y="6334493"/>
                    <a:pt x="8366492" y="6350000"/>
                    <a:pt x="8347363" y="6350000"/>
                  </a:cubicBezTo>
                  <a:lnTo>
                    <a:pt x="34636" y="6350000"/>
                  </a:lnTo>
                  <a:cubicBezTo>
                    <a:pt x="15507" y="6350000"/>
                    <a:pt x="0" y="6334493"/>
                    <a:pt x="0" y="6315364"/>
                  </a:cubicBezTo>
                  <a:lnTo>
                    <a:pt x="0" y="34636"/>
                  </a:lnTo>
                  <a:cubicBezTo>
                    <a:pt x="0" y="15507"/>
                    <a:pt x="15507" y="0"/>
                    <a:pt x="34636" y="0"/>
                  </a:cubicBezTo>
                  <a:close/>
                </a:path>
              </a:pathLst>
            </a:custGeom>
            <a:solidFill>
              <a:srgbClr val="F1F5FA"/>
            </a:solidFill>
          </p:spPr>
        </p:sp>
        <p:sp>
          <p:nvSpPr>
            <p:cNvPr name="TextBox 16" id="16"/>
            <p:cNvSpPr txBox="true"/>
            <p:nvPr/>
          </p:nvSpPr>
          <p:spPr>
            <a:xfrm>
              <a:off x="0" y="-38100"/>
              <a:ext cx="8382000" cy="6388100"/>
            </a:xfrm>
            <a:prstGeom prst="rect">
              <a:avLst/>
            </a:prstGeom>
          </p:spPr>
          <p:txBody>
            <a:bodyPr anchor="ctr" rtlCol="false" tIns="50800" lIns="50800" bIns="50800" rIns="50800"/>
            <a:lstStyle/>
            <a:p>
              <a:pPr algn="l">
                <a:lnSpc>
                  <a:spcPts val="1679"/>
                </a:lnSpc>
              </a:pPr>
            </a:p>
          </p:txBody>
        </p:sp>
      </p:grpSp>
      <p:sp>
        <p:nvSpPr>
          <p:cNvPr name="Freeform 17" id="17" descr="Wall thickness along a ray from the cavity centre"/>
          <p:cNvSpPr/>
          <p:nvPr/>
        </p:nvSpPr>
        <p:spPr>
          <a:xfrm flipH="false" flipV="false" rot="0">
            <a:off x="2705100" y="2457450"/>
            <a:ext cx="2781300" cy="3619500"/>
          </a:xfrm>
          <a:custGeom>
            <a:avLst/>
            <a:gdLst/>
            <a:ahLst/>
            <a:cxnLst/>
            <a:rect r="r" b="b" t="t" l="l"/>
            <a:pathLst>
              <a:path h="3619500" w="2781300">
                <a:moveTo>
                  <a:pt x="0" y="0"/>
                </a:moveTo>
                <a:lnTo>
                  <a:pt x="2781300" y="0"/>
                </a:lnTo>
                <a:lnTo>
                  <a:pt x="2781300" y="3619500"/>
                </a:lnTo>
                <a:lnTo>
                  <a:pt x="0" y="3619500"/>
                </a:lnTo>
                <a:lnTo>
                  <a:pt x="0" y="0"/>
                </a:lnTo>
                <a:close/>
              </a:path>
            </a:pathLst>
          </a:custGeom>
          <a:blipFill>
            <a:blip r:embed="rId2"/>
            <a:stretch>
              <a:fillRect l="0" t="-63" r="0" b="-63"/>
            </a:stretch>
          </a:blipFill>
        </p:spPr>
      </p:sp>
      <p:sp>
        <p:nvSpPr>
          <p:cNvPr name="TextBox 18" id="18"/>
          <p:cNvSpPr txBox="true"/>
          <p:nvPr/>
        </p:nvSpPr>
        <p:spPr>
          <a:xfrm rot="0">
            <a:off x="1238250" y="6191250"/>
            <a:ext cx="5715000" cy="560070"/>
          </a:xfrm>
          <a:prstGeom prst="rect">
            <a:avLst/>
          </a:prstGeom>
        </p:spPr>
        <p:txBody>
          <a:bodyPr anchor="t" rtlCol="false" tIns="0" lIns="0" bIns="0" rIns="0">
            <a:spAutoFit/>
          </a:bodyPr>
          <a:lstStyle/>
          <a:p>
            <a:pPr algn="ctr">
              <a:lnSpc>
                <a:spcPts val="2204"/>
              </a:lnSpc>
            </a:pPr>
            <a:r>
              <a:rPr lang="en-US" sz="1575">
                <a:solidFill>
                  <a:srgbClr val="3B4A5E"/>
                </a:solidFill>
                <a:latin typeface="Arimo"/>
                <a:ea typeface="Arimo"/>
                <a:cs typeface="Arimo"/>
                <a:sym typeface="Arimo"/>
              </a:rPr>
              <a:t>Wall thickness t(φ) along a ray from the cavity centre C: 3 mm at φ = 0 (thin wall), 9 mm at φ = π (thick wall).</a:t>
            </a:r>
          </a:p>
        </p:txBody>
      </p:sp>
      <p:grpSp>
        <p:nvGrpSpPr>
          <p:cNvPr name="Group 19" id="19"/>
          <p:cNvGrpSpPr/>
          <p:nvPr/>
        </p:nvGrpSpPr>
        <p:grpSpPr>
          <a:xfrm rot="0">
            <a:off x="952500" y="7286625"/>
            <a:ext cx="6286500" cy="2333625"/>
            <a:chOff x="0" y="0"/>
            <a:chExt cx="8382000" cy="3111500"/>
          </a:xfrm>
        </p:grpSpPr>
        <p:sp>
          <p:nvSpPr>
            <p:cNvPr name="Freeform 20" id="20"/>
            <p:cNvSpPr/>
            <p:nvPr/>
          </p:nvSpPr>
          <p:spPr>
            <a:xfrm flipH="false" flipV="false" rot="0">
              <a:off x="0" y="0"/>
              <a:ext cx="8382000" cy="3111500"/>
            </a:xfrm>
            <a:custGeom>
              <a:avLst/>
              <a:gdLst/>
              <a:ahLst/>
              <a:cxnLst/>
              <a:rect r="r" b="b" t="t" l="l"/>
              <a:pathLst>
                <a:path h="3111500" w="8382000">
                  <a:moveTo>
                    <a:pt x="34636" y="0"/>
                  </a:moveTo>
                  <a:lnTo>
                    <a:pt x="8347363" y="0"/>
                  </a:lnTo>
                  <a:cubicBezTo>
                    <a:pt x="8366492" y="0"/>
                    <a:pt x="8382000" y="15507"/>
                    <a:pt x="8382000" y="34636"/>
                  </a:cubicBezTo>
                  <a:lnTo>
                    <a:pt x="8382000" y="3076864"/>
                  </a:lnTo>
                  <a:cubicBezTo>
                    <a:pt x="8382000" y="3095993"/>
                    <a:pt x="8366492" y="3111500"/>
                    <a:pt x="8347363" y="3111500"/>
                  </a:cubicBezTo>
                  <a:lnTo>
                    <a:pt x="34636" y="3111500"/>
                  </a:lnTo>
                  <a:cubicBezTo>
                    <a:pt x="15507" y="3111500"/>
                    <a:pt x="0" y="3095993"/>
                    <a:pt x="0" y="3076864"/>
                  </a:cubicBezTo>
                  <a:lnTo>
                    <a:pt x="0" y="34636"/>
                  </a:lnTo>
                  <a:cubicBezTo>
                    <a:pt x="0" y="15507"/>
                    <a:pt x="15507" y="0"/>
                    <a:pt x="34636" y="0"/>
                  </a:cubicBezTo>
                  <a:close/>
                </a:path>
              </a:pathLst>
            </a:custGeom>
            <a:solidFill>
              <a:srgbClr val="0E1E3A"/>
            </a:solidFill>
          </p:spPr>
        </p:sp>
        <p:sp>
          <p:nvSpPr>
            <p:cNvPr name="TextBox 21" id="21"/>
            <p:cNvSpPr txBox="true"/>
            <p:nvPr/>
          </p:nvSpPr>
          <p:spPr>
            <a:xfrm>
              <a:off x="0" y="-38100"/>
              <a:ext cx="8382000" cy="31496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257300" y="745807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23" id="23"/>
          <p:cNvSpPr txBox="true"/>
          <p:nvPr/>
        </p:nvSpPr>
        <p:spPr>
          <a:xfrm rot="0">
            <a:off x="1257300" y="7848600"/>
            <a:ext cx="5715000" cy="964406"/>
          </a:xfrm>
          <a:prstGeom prst="rect">
            <a:avLst/>
          </a:prstGeom>
        </p:spPr>
        <p:txBody>
          <a:bodyPr anchor="t" rtlCol="false" tIns="0" lIns="0" bIns="0" rIns="0">
            <a:spAutoFit/>
          </a:bodyPr>
          <a:lstStyle/>
          <a:p>
            <a:pPr algn="l" marL="0" indent="0" lvl="0">
              <a:lnSpc>
                <a:spcPts val="2531"/>
              </a:lnSpc>
              <a:spcBef>
                <a:spcPct val="0"/>
              </a:spcBef>
            </a:pPr>
            <a:r>
              <a:rPr lang="en-US" sz="1875" strike="noStrike" u="none">
                <a:solidFill>
                  <a:srgbClr val="FFFFFF"/>
                </a:solidFill>
                <a:latin typeface="Arimo"/>
                <a:ea typeface="Arimo"/>
                <a:cs typeface="Arimo"/>
                <a:sym typeface="Arimo"/>
              </a:rPr>
              <a:t>t(φ) is exact; the FE mesh is built on it. A wall-expansion curvature that is linear in P cannot be added to the beam term.</a:t>
            </a:r>
          </a:p>
        </p:txBody>
      </p:sp>
      <p:sp>
        <p:nvSpPr>
          <p:cNvPr name="TextBox 24" id="24"/>
          <p:cNvSpPr txBox="true"/>
          <p:nvPr/>
        </p:nvSpPr>
        <p:spPr>
          <a:xfrm rot="0">
            <a:off x="7810500" y="2200275"/>
            <a:ext cx="952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HOW — STEP BY STEP</a:t>
            </a:r>
          </a:p>
        </p:txBody>
      </p:sp>
      <p:sp>
        <p:nvSpPr>
          <p:cNvPr name="Freeform 25" id="25" descr="Step-by-step derivation of the wall thickness and a linear wall-expansion estimate"/>
          <p:cNvSpPr/>
          <p:nvPr/>
        </p:nvSpPr>
        <p:spPr>
          <a:xfrm flipH="false" flipV="false" rot="0">
            <a:off x="8048625" y="2571750"/>
            <a:ext cx="9048750" cy="6657975"/>
          </a:xfrm>
          <a:custGeom>
            <a:avLst/>
            <a:gdLst/>
            <a:ahLst/>
            <a:cxnLst/>
            <a:rect r="r" b="b" t="t" l="l"/>
            <a:pathLst>
              <a:path h="6657975" w="9048750">
                <a:moveTo>
                  <a:pt x="0" y="0"/>
                </a:moveTo>
                <a:lnTo>
                  <a:pt x="9048750" y="0"/>
                </a:lnTo>
                <a:lnTo>
                  <a:pt x="9048750" y="6657975"/>
                </a:lnTo>
                <a:lnTo>
                  <a:pt x="0" y="6657975"/>
                </a:lnTo>
                <a:lnTo>
                  <a:pt x="0" y="0"/>
                </a:lnTo>
                <a:close/>
              </a:path>
            </a:pathLst>
          </a:custGeom>
          <a:blipFill>
            <a:blip r:embed="rId3"/>
            <a:stretch>
              <a:fillRect l="0" t="0" r="0" b="0"/>
            </a:stretch>
          </a:blipFill>
        </p:spPr>
      </p:sp>
      <p:sp>
        <p:nvSpPr>
          <p:cNvPr name="TextBox 26" id="26"/>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27" id="27"/>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marL="0" indent="0" lvl="0">
              <a:lnSpc>
                <a:spcPts val="2100"/>
              </a:lnSpc>
              <a:spcBef>
                <a:spcPct val="0"/>
              </a:spcBef>
            </a:pPr>
            <a:r>
              <a:rPr lang="en-US" b="true" sz="1500" strike="noStrike" u="none">
                <a:solidFill>
                  <a:srgbClr val="4390F8"/>
                </a:solidFill>
                <a:latin typeface="Arimo Bold"/>
                <a:ea typeface="Arimo Bold"/>
                <a:cs typeface="Arimo Bold"/>
                <a:sym typeface="Arimo Bold"/>
              </a:rPr>
              <a:t>DERIVATION 5 · SECOND-ORDER LENGTHENING</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What really bends a bare actuator: second-order lengthening</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expanded the large-strain equations of a closed rubber tube to second order</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286000"/>
            <a:ext cx="6286500" cy="4762500"/>
            <a:chOff x="0" y="0"/>
            <a:chExt cx="8382000" cy="6350000"/>
          </a:xfrm>
        </p:grpSpPr>
        <p:sp>
          <p:nvSpPr>
            <p:cNvPr name="Freeform 15" id="15"/>
            <p:cNvSpPr/>
            <p:nvPr/>
          </p:nvSpPr>
          <p:spPr>
            <a:xfrm flipH="false" flipV="false" rot="0">
              <a:off x="0" y="0"/>
              <a:ext cx="8382000" cy="6350000"/>
            </a:xfrm>
            <a:custGeom>
              <a:avLst/>
              <a:gdLst/>
              <a:ahLst/>
              <a:cxnLst/>
              <a:rect r="r" b="b" t="t" l="l"/>
              <a:pathLst>
                <a:path h="6350000" w="8382000">
                  <a:moveTo>
                    <a:pt x="34636" y="0"/>
                  </a:moveTo>
                  <a:lnTo>
                    <a:pt x="8347363" y="0"/>
                  </a:lnTo>
                  <a:cubicBezTo>
                    <a:pt x="8366492" y="0"/>
                    <a:pt x="8382000" y="15507"/>
                    <a:pt x="8382000" y="34636"/>
                  </a:cubicBezTo>
                  <a:lnTo>
                    <a:pt x="8382000" y="6315364"/>
                  </a:lnTo>
                  <a:cubicBezTo>
                    <a:pt x="8382000" y="6334493"/>
                    <a:pt x="8366492" y="6350000"/>
                    <a:pt x="8347363" y="6350000"/>
                  </a:cubicBezTo>
                  <a:lnTo>
                    <a:pt x="34636" y="6350000"/>
                  </a:lnTo>
                  <a:cubicBezTo>
                    <a:pt x="15507" y="6350000"/>
                    <a:pt x="0" y="6334493"/>
                    <a:pt x="0" y="6315364"/>
                  </a:cubicBezTo>
                  <a:lnTo>
                    <a:pt x="0" y="34636"/>
                  </a:lnTo>
                  <a:cubicBezTo>
                    <a:pt x="0" y="15507"/>
                    <a:pt x="15507" y="0"/>
                    <a:pt x="34636" y="0"/>
                  </a:cubicBezTo>
                  <a:close/>
                </a:path>
              </a:pathLst>
            </a:custGeom>
            <a:solidFill>
              <a:srgbClr val="F1F5FA"/>
            </a:solidFill>
          </p:spPr>
        </p:sp>
        <p:sp>
          <p:nvSpPr>
            <p:cNvPr name="TextBox 16" id="16"/>
            <p:cNvSpPr txBox="true"/>
            <p:nvPr/>
          </p:nvSpPr>
          <p:spPr>
            <a:xfrm>
              <a:off x="0" y="-38100"/>
              <a:ext cx="8382000" cy="6388100"/>
            </a:xfrm>
            <a:prstGeom prst="rect">
              <a:avLst/>
            </a:prstGeom>
          </p:spPr>
          <p:txBody>
            <a:bodyPr anchor="ctr" rtlCol="false" tIns="50800" lIns="50800" bIns="50800" rIns="50800"/>
            <a:lstStyle/>
            <a:p>
              <a:pPr algn="l">
                <a:lnSpc>
                  <a:spcPts val="1679"/>
                </a:lnSpc>
              </a:pPr>
            </a:p>
          </p:txBody>
        </p:sp>
      </p:grpSp>
      <p:sp>
        <p:nvSpPr>
          <p:cNvPr name="Freeform 17" id="17" descr="Log-log plot of bare-actuator curvature against pressure: FE follows slope 2"/>
          <p:cNvSpPr/>
          <p:nvPr/>
        </p:nvSpPr>
        <p:spPr>
          <a:xfrm flipH="false" flipV="false" rot="0">
            <a:off x="1428750" y="2457450"/>
            <a:ext cx="5334000" cy="3781425"/>
          </a:xfrm>
          <a:custGeom>
            <a:avLst/>
            <a:gdLst/>
            <a:ahLst/>
            <a:cxnLst/>
            <a:rect r="r" b="b" t="t" l="l"/>
            <a:pathLst>
              <a:path h="3781425" w="5334000">
                <a:moveTo>
                  <a:pt x="0" y="0"/>
                </a:moveTo>
                <a:lnTo>
                  <a:pt x="5334000" y="0"/>
                </a:lnTo>
                <a:lnTo>
                  <a:pt x="5334000" y="3781425"/>
                </a:lnTo>
                <a:lnTo>
                  <a:pt x="0" y="3781425"/>
                </a:lnTo>
                <a:lnTo>
                  <a:pt x="0" y="0"/>
                </a:lnTo>
                <a:close/>
              </a:path>
            </a:pathLst>
          </a:custGeom>
          <a:blipFill>
            <a:blip r:embed="rId2"/>
            <a:stretch>
              <a:fillRect l="-100" t="0" r="-100" b="0"/>
            </a:stretch>
          </a:blipFill>
        </p:spPr>
      </p:sp>
      <p:sp>
        <p:nvSpPr>
          <p:cNvPr name="TextBox 18" id="18"/>
          <p:cNvSpPr txBox="true"/>
          <p:nvPr/>
        </p:nvSpPr>
        <p:spPr>
          <a:xfrm rot="0">
            <a:off x="1238250" y="6315075"/>
            <a:ext cx="5715000" cy="560070"/>
          </a:xfrm>
          <a:prstGeom prst="rect">
            <a:avLst/>
          </a:prstGeom>
        </p:spPr>
        <p:txBody>
          <a:bodyPr anchor="t" rtlCol="false" tIns="0" lIns="0" bIns="0" rIns="0">
            <a:spAutoFit/>
          </a:bodyPr>
          <a:lstStyle/>
          <a:p>
            <a:pPr algn="ctr">
              <a:lnSpc>
                <a:spcPts val="2204"/>
              </a:lnSpc>
            </a:pPr>
            <a:r>
              <a:rPr lang="en-US" sz="1575">
                <a:solidFill>
                  <a:srgbClr val="3B4A5E"/>
                </a:solidFill>
                <a:latin typeface="Arimo"/>
                <a:ea typeface="Arimo"/>
                <a:cs typeface="Arimo"/>
                <a:sym typeface="Arimo"/>
              </a:rPr>
              <a:t>On log axes the FE curvature of the bare actuator rises with slope 2, like the ⅔ε² estimate — not slope 1 like beam theory.</a:t>
            </a:r>
          </a:p>
        </p:txBody>
      </p:sp>
      <p:grpSp>
        <p:nvGrpSpPr>
          <p:cNvPr name="Group 19" id="19"/>
          <p:cNvGrpSpPr/>
          <p:nvPr/>
        </p:nvGrpSpPr>
        <p:grpSpPr>
          <a:xfrm rot="0">
            <a:off x="952500" y="7286625"/>
            <a:ext cx="6286500" cy="2333625"/>
            <a:chOff x="0" y="0"/>
            <a:chExt cx="8382000" cy="3111500"/>
          </a:xfrm>
        </p:grpSpPr>
        <p:sp>
          <p:nvSpPr>
            <p:cNvPr name="Freeform 20" id="20"/>
            <p:cNvSpPr/>
            <p:nvPr/>
          </p:nvSpPr>
          <p:spPr>
            <a:xfrm flipH="false" flipV="false" rot="0">
              <a:off x="0" y="0"/>
              <a:ext cx="8382000" cy="3111500"/>
            </a:xfrm>
            <a:custGeom>
              <a:avLst/>
              <a:gdLst/>
              <a:ahLst/>
              <a:cxnLst/>
              <a:rect r="r" b="b" t="t" l="l"/>
              <a:pathLst>
                <a:path h="3111500" w="8382000">
                  <a:moveTo>
                    <a:pt x="34636" y="0"/>
                  </a:moveTo>
                  <a:lnTo>
                    <a:pt x="8347363" y="0"/>
                  </a:lnTo>
                  <a:cubicBezTo>
                    <a:pt x="8366492" y="0"/>
                    <a:pt x="8382000" y="15507"/>
                    <a:pt x="8382000" y="34636"/>
                  </a:cubicBezTo>
                  <a:lnTo>
                    <a:pt x="8382000" y="3076864"/>
                  </a:lnTo>
                  <a:cubicBezTo>
                    <a:pt x="8382000" y="3095993"/>
                    <a:pt x="8366492" y="3111500"/>
                    <a:pt x="8347363" y="3111500"/>
                  </a:cubicBezTo>
                  <a:lnTo>
                    <a:pt x="34636" y="3111500"/>
                  </a:lnTo>
                  <a:cubicBezTo>
                    <a:pt x="15507" y="3111500"/>
                    <a:pt x="0" y="3095993"/>
                    <a:pt x="0" y="3076864"/>
                  </a:cubicBezTo>
                  <a:lnTo>
                    <a:pt x="0" y="34636"/>
                  </a:lnTo>
                  <a:cubicBezTo>
                    <a:pt x="0" y="15507"/>
                    <a:pt x="15507" y="0"/>
                    <a:pt x="34636" y="0"/>
                  </a:cubicBezTo>
                  <a:close/>
                </a:path>
              </a:pathLst>
            </a:custGeom>
            <a:solidFill>
              <a:srgbClr val="0E1E3A"/>
            </a:solidFill>
          </p:spPr>
        </p:sp>
        <p:sp>
          <p:nvSpPr>
            <p:cNvPr name="TextBox 21" id="21"/>
            <p:cNvSpPr txBox="true"/>
            <p:nvPr/>
          </p:nvSpPr>
          <p:spPr>
            <a:xfrm>
              <a:off x="0" y="-38100"/>
              <a:ext cx="8382000" cy="31496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257300" y="745807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23" id="23"/>
          <p:cNvSpPr txBox="true"/>
          <p:nvPr/>
        </p:nvSpPr>
        <p:spPr>
          <a:xfrm rot="0">
            <a:off x="1257300" y="7848600"/>
            <a:ext cx="5715000" cy="964406"/>
          </a:xfrm>
          <a:prstGeom prst="rect">
            <a:avLst/>
          </a:prstGeom>
        </p:spPr>
        <p:txBody>
          <a:bodyPr anchor="t" rtlCol="false" tIns="0" lIns="0" bIns="0" rIns="0">
            <a:spAutoFit/>
          </a:bodyPr>
          <a:lstStyle/>
          <a:p>
            <a:pPr algn="l">
              <a:lnSpc>
                <a:spcPts val="2531"/>
              </a:lnSpc>
            </a:pPr>
            <a:r>
              <a:rPr lang="en-US" sz="1875">
                <a:solidFill>
                  <a:srgbClr val="FFFFFF"/>
                </a:solidFill>
                <a:latin typeface="Arimo"/>
                <a:ea typeface="Arimo"/>
                <a:cs typeface="Arimo"/>
                <a:sym typeface="Arimo"/>
              </a:rPr>
              <a:t>Axial strain ≈ ⅔(hoop strain)², so curvature grows like P², not P. The thin wall finally balloons at P_lim = 0.523 μ = 104.7 kPa.</a:t>
            </a:r>
          </a:p>
        </p:txBody>
      </p:sp>
      <p:sp>
        <p:nvSpPr>
          <p:cNvPr name="TextBox 24" id="24"/>
          <p:cNvSpPr txBox="true"/>
          <p:nvPr/>
        </p:nvSpPr>
        <p:spPr>
          <a:xfrm rot="0">
            <a:off x="7810500" y="2200275"/>
            <a:ext cx="952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HOW — STEP BY STEP</a:t>
            </a:r>
          </a:p>
        </p:txBody>
      </p:sp>
      <p:sp>
        <p:nvSpPr>
          <p:cNvPr name="Freeform 25" id="25" descr="Step-by-step derivation of second-order lengthening and the limit pressure"/>
          <p:cNvSpPr/>
          <p:nvPr/>
        </p:nvSpPr>
        <p:spPr>
          <a:xfrm flipH="false" flipV="false" rot="0">
            <a:off x="7810500" y="2590800"/>
            <a:ext cx="9525000" cy="6429375"/>
          </a:xfrm>
          <a:custGeom>
            <a:avLst/>
            <a:gdLst/>
            <a:ahLst/>
            <a:cxnLst/>
            <a:rect r="r" b="b" t="t" l="l"/>
            <a:pathLst>
              <a:path h="6429375" w="9525000">
                <a:moveTo>
                  <a:pt x="0" y="0"/>
                </a:moveTo>
                <a:lnTo>
                  <a:pt x="9525000" y="0"/>
                </a:lnTo>
                <a:lnTo>
                  <a:pt x="9525000" y="6429375"/>
                </a:lnTo>
                <a:lnTo>
                  <a:pt x="0" y="6429375"/>
                </a:lnTo>
                <a:lnTo>
                  <a:pt x="0" y="0"/>
                </a:lnTo>
                <a:close/>
              </a:path>
            </a:pathLst>
          </a:custGeom>
          <a:blipFill>
            <a:blip r:embed="rId3"/>
            <a:stretch>
              <a:fillRect l="0" t="-62" r="0" b="-62"/>
            </a:stretch>
          </a:blipFill>
        </p:spPr>
      </p:sp>
      <p:sp>
        <p:nvSpPr>
          <p:cNvPr name="TextBox 26" id="26"/>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27" id="27"/>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DERIVATION · SUMMARY</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marL="0" indent="0" lvl="0">
              <a:lnSpc>
                <a:spcPts val="5250"/>
              </a:lnSpc>
              <a:spcBef>
                <a:spcPct val="0"/>
              </a:spcBef>
            </a:pPr>
            <a:r>
              <a:rPr lang="en-US" b="true" sz="3750" strike="noStrike" u="none">
                <a:solidFill>
                  <a:srgbClr val="0E1E3A"/>
                </a:solidFill>
                <a:latin typeface="Arimo Bold"/>
                <a:ea typeface="Arimo Bold"/>
                <a:cs typeface="Arimo Bold"/>
                <a:sym typeface="Arimo Bold"/>
              </a:rPr>
              <a:t>The derivation at a glance: key results</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3B4A5E"/>
                </a:solidFill>
                <a:latin typeface="Arimo"/>
                <a:ea typeface="Arimo"/>
                <a:cs typeface="Arimo"/>
                <a:sym typeface="Arimo"/>
              </a:rPr>
              <a:t>Nine results carry the whole model. Every step is written out in report/final/btp_derivation.pdf</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Freeform 14" id="14" descr="Table of the nine key results of the derivation and where each holds"/>
          <p:cNvSpPr/>
          <p:nvPr/>
        </p:nvSpPr>
        <p:spPr>
          <a:xfrm flipH="false" flipV="false" rot="0">
            <a:off x="2190750" y="2362200"/>
            <a:ext cx="13906500" cy="7267575"/>
          </a:xfrm>
          <a:custGeom>
            <a:avLst/>
            <a:gdLst/>
            <a:ahLst/>
            <a:cxnLst/>
            <a:rect r="r" b="b" t="t" l="l"/>
            <a:pathLst>
              <a:path h="7267575" w="13906500">
                <a:moveTo>
                  <a:pt x="0" y="0"/>
                </a:moveTo>
                <a:lnTo>
                  <a:pt x="13906500" y="0"/>
                </a:lnTo>
                <a:lnTo>
                  <a:pt x="13906500" y="7267575"/>
                </a:lnTo>
                <a:lnTo>
                  <a:pt x="0" y="7267575"/>
                </a:lnTo>
                <a:lnTo>
                  <a:pt x="0" y="0"/>
                </a:lnTo>
                <a:close/>
              </a:path>
            </a:pathLst>
          </a:custGeom>
          <a:blipFill>
            <a:blip r:embed="rId2"/>
            <a:stretch>
              <a:fillRect l="0" t="0" r="0" b="0"/>
            </a:stretch>
          </a:blipFill>
        </p:spPr>
      </p:sp>
      <p:sp>
        <p:nvSpPr>
          <p:cNvPr name="TextBox 15" id="15"/>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16" id="16"/>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MODELLING FINDINGS</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Four model tiers, from closed form to 3-D FE</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built and compared four models of increasing fidelity (actuator_model.py, actuator_fea.py)</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333625"/>
            <a:ext cx="3905250" cy="1952625"/>
            <a:chOff x="0" y="0"/>
            <a:chExt cx="5207000" cy="2603500"/>
          </a:xfrm>
        </p:grpSpPr>
        <p:sp>
          <p:nvSpPr>
            <p:cNvPr name="Freeform 15" id="15"/>
            <p:cNvSpPr/>
            <p:nvPr/>
          </p:nvSpPr>
          <p:spPr>
            <a:xfrm flipH="false" flipV="false" rot="0">
              <a:off x="0" y="0"/>
              <a:ext cx="5207000" cy="2603500"/>
            </a:xfrm>
            <a:custGeom>
              <a:avLst/>
              <a:gdLst/>
              <a:ahLst/>
              <a:cxnLst/>
              <a:rect r="r" b="b" t="t" l="l"/>
              <a:pathLst>
                <a:path h="2603500" w="5207000">
                  <a:moveTo>
                    <a:pt x="49561" y="0"/>
                  </a:moveTo>
                  <a:lnTo>
                    <a:pt x="5157439" y="0"/>
                  </a:lnTo>
                  <a:cubicBezTo>
                    <a:pt x="5170583" y="0"/>
                    <a:pt x="5183189" y="5222"/>
                    <a:pt x="5192484" y="14516"/>
                  </a:cubicBezTo>
                  <a:cubicBezTo>
                    <a:pt x="5201779" y="23811"/>
                    <a:pt x="5207000" y="36417"/>
                    <a:pt x="5207000" y="49561"/>
                  </a:cubicBezTo>
                  <a:lnTo>
                    <a:pt x="5207000" y="2553939"/>
                  </a:lnTo>
                  <a:cubicBezTo>
                    <a:pt x="5207000" y="2567083"/>
                    <a:pt x="5201779" y="2579689"/>
                    <a:pt x="5192484" y="2588984"/>
                  </a:cubicBezTo>
                  <a:cubicBezTo>
                    <a:pt x="5183189" y="2598278"/>
                    <a:pt x="5170583" y="2603500"/>
                    <a:pt x="5157439" y="2603500"/>
                  </a:cubicBezTo>
                  <a:lnTo>
                    <a:pt x="49561" y="2603500"/>
                  </a:lnTo>
                  <a:cubicBezTo>
                    <a:pt x="36417" y="2603500"/>
                    <a:pt x="23811" y="2598278"/>
                    <a:pt x="14516" y="2588984"/>
                  </a:cubicBezTo>
                  <a:cubicBezTo>
                    <a:pt x="5222" y="2579689"/>
                    <a:pt x="0" y="2567083"/>
                    <a:pt x="0" y="2553939"/>
                  </a:cubicBezTo>
                  <a:lnTo>
                    <a:pt x="0" y="49561"/>
                  </a:lnTo>
                  <a:cubicBezTo>
                    <a:pt x="0" y="36417"/>
                    <a:pt x="5222" y="23811"/>
                    <a:pt x="14516" y="14516"/>
                  </a:cubicBezTo>
                  <a:cubicBezTo>
                    <a:pt x="23811" y="5222"/>
                    <a:pt x="36417" y="0"/>
                    <a:pt x="49561" y="0"/>
                  </a:cubicBezTo>
                  <a:close/>
                </a:path>
              </a:pathLst>
            </a:custGeom>
            <a:solidFill>
              <a:srgbClr val="F1F5FA"/>
            </a:solidFill>
          </p:spPr>
        </p:sp>
        <p:sp>
          <p:nvSpPr>
            <p:cNvPr name="TextBox 16" id="16"/>
            <p:cNvSpPr txBox="true"/>
            <p:nvPr/>
          </p:nvSpPr>
          <p:spPr>
            <a:xfrm>
              <a:off x="0" y="-38100"/>
              <a:ext cx="5207000" cy="26416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5105400" y="2333625"/>
            <a:ext cx="3905250" cy="1952625"/>
            <a:chOff x="0" y="0"/>
            <a:chExt cx="5207000" cy="2603500"/>
          </a:xfrm>
        </p:grpSpPr>
        <p:sp>
          <p:nvSpPr>
            <p:cNvPr name="Freeform 18" id="18"/>
            <p:cNvSpPr/>
            <p:nvPr/>
          </p:nvSpPr>
          <p:spPr>
            <a:xfrm flipH="false" flipV="false" rot="0">
              <a:off x="0" y="0"/>
              <a:ext cx="5207000" cy="2603500"/>
            </a:xfrm>
            <a:custGeom>
              <a:avLst/>
              <a:gdLst/>
              <a:ahLst/>
              <a:cxnLst/>
              <a:rect r="r" b="b" t="t" l="l"/>
              <a:pathLst>
                <a:path h="2603500" w="5207000">
                  <a:moveTo>
                    <a:pt x="49561" y="0"/>
                  </a:moveTo>
                  <a:lnTo>
                    <a:pt x="5157439" y="0"/>
                  </a:lnTo>
                  <a:cubicBezTo>
                    <a:pt x="5170583" y="0"/>
                    <a:pt x="5183189" y="5222"/>
                    <a:pt x="5192484" y="14516"/>
                  </a:cubicBezTo>
                  <a:cubicBezTo>
                    <a:pt x="5201779" y="23811"/>
                    <a:pt x="5207000" y="36417"/>
                    <a:pt x="5207000" y="49561"/>
                  </a:cubicBezTo>
                  <a:lnTo>
                    <a:pt x="5207000" y="2553939"/>
                  </a:lnTo>
                  <a:cubicBezTo>
                    <a:pt x="5207000" y="2567083"/>
                    <a:pt x="5201779" y="2579689"/>
                    <a:pt x="5192484" y="2588984"/>
                  </a:cubicBezTo>
                  <a:cubicBezTo>
                    <a:pt x="5183189" y="2598278"/>
                    <a:pt x="5170583" y="2603500"/>
                    <a:pt x="5157439" y="2603500"/>
                  </a:cubicBezTo>
                  <a:lnTo>
                    <a:pt x="49561" y="2603500"/>
                  </a:lnTo>
                  <a:cubicBezTo>
                    <a:pt x="36417" y="2603500"/>
                    <a:pt x="23811" y="2598278"/>
                    <a:pt x="14516" y="2588984"/>
                  </a:cubicBezTo>
                  <a:cubicBezTo>
                    <a:pt x="5222" y="2579689"/>
                    <a:pt x="0" y="2567083"/>
                    <a:pt x="0" y="2553939"/>
                  </a:cubicBezTo>
                  <a:lnTo>
                    <a:pt x="0" y="49561"/>
                  </a:lnTo>
                  <a:cubicBezTo>
                    <a:pt x="0" y="36417"/>
                    <a:pt x="5222" y="23811"/>
                    <a:pt x="14516" y="14516"/>
                  </a:cubicBezTo>
                  <a:cubicBezTo>
                    <a:pt x="23811" y="5222"/>
                    <a:pt x="36417" y="0"/>
                    <a:pt x="49561" y="0"/>
                  </a:cubicBezTo>
                  <a:close/>
                </a:path>
              </a:pathLst>
            </a:custGeom>
            <a:solidFill>
              <a:srgbClr val="F1F5FA"/>
            </a:solidFill>
          </p:spPr>
        </p:sp>
        <p:sp>
          <p:nvSpPr>
            <p:cNvPr name="TextBox 19" id="19"/>
            <p:cNvSpPr txBox="true"/>
            <p:nvPr/>
          </p:nvSpPr>
          <p:spPr>
            <a:xfrm>
              <a:off x="0" y="-38100"/>
              <a:ext cx="5207000" cy="26416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9258300" y="2333625"/>
            <a:ext cx="3905250" cy="1952625"/>
            <a:chOff x="0" y="0"/>
            <a:chExt cx="5207000" cy="2603500"/>
          </a:xfrm>
        </p:grpSpPr>
        <p:sp>
          <p:nvSpPr>
            <p:cNvPr name="Freeform 21" id="21"/>
            <p:cNvSpPr/>
            <p:nvPr/>
          </p:nvSpPr>
          <p:spPr>
            <a:xfrm flipH="false" flipV="false" rot="0">
              <a:off x="0" y="0"/>
              <a:ext cx="5207000" cy="2603500"/>
            </a:xfrm>
            <a:custGeom>
              <a:avLst/>
              <a:gdLst/>
              <a:ahLst/>
              <a:cxnLst/>
              <a:rect r="r" b="b" t="t" l="l"/>
              <a:pathLst>
                <a:path h="2603500" w="5207000">
                  <a:moveTo>
                    <a:pt x="49561" y="0"/>
                  </a:moveTo>
                  <a:lnTo>
                    <a:pt x="5157439" y="0"/>
                  </a:lnTo>
                  <a:cubicBezTo>
                    <a:pt x="5170583" y="0"/>
                    <a:pt x="5183189" y="5222"/>
                    <a:pt x="5192484" y="14516"/>
                  </a:cubicBezTo>
                  <a:cubicBezTo>
                    <a:pt x="5201779" y="23811"/>
                    <a:pt x="5207000" y="36417"/>
                    <a:pt x="5207000" y="49561"/>
                  </a:cubicBezTo>
                  <a:lnTo>
                    <a:pt x="5207000" y="2553939"/>
                  </a:lnTo>
                  <a:cubicBezTo>
                    <a:pt x="5207000" y="2567083"/>
                    <a:pt x="5201779" y="2579689"/>
                    <a:pt x="5192484" y="2588984"/>
                  </a:cubicBezTo>
                  <a:cubicBezTo>
                    <a:pt x="5183189" y="2598278"/>
                    <a:pt x="5170583" y="2603500"/>
                    <a:pt x="5157439" y="2603500"/>
                  </a:cubicBezTo>
                  <a:lnTo>
                    <a:pt x="49561" y="2603500"/>
                  </a:lnTo>
                  <a:cubicBezTo>
                    <a:pt x="36417" y="2603500"/>
                    <a:pt x="23811" y="2598278"/>
                    <a:pt x="14516" y="2588984"/>
                  </a:cubicBezTo>
                  <a:cubicBezTo>
                    <a:pt x="5222" y="2579689"/>
                    <a:pt x="0" y="2567083"/>
                    <a:pt x="0" y="2553939"/>
                  </a:cubicBezTo>
                  <a:lnTo>
                    <a:pt x="0" y="49561"/>
                  </a:lnTo>
                  <a:cubicBezTo>
                    <a:pt x="0" y="36417"/>
                    <a:pt x="5222" y="23811"/>
                    <a:pt x="14516" y="14516"/>
                  </a:cubicBezTo>
                  <a:cubicBezTo>
                    <a:pt x="23811" y="5222"/>
                    <a:pt x="36417" y="0"/>
                    <a:pt x="49561" y="0"/>
                  </a:cubicBezTo>
                  <a:close/>
                </a:path>
              </a:pathLst>
            </a:custGeom>
            <a:solidFill>
              <a:srgbClr val="F1F5FA"/>
            </a:solidFill>
          </p:spPr>
        </p:sp>
        <p:sp>
          <p:nvSpPr>
            <p:cNvPr name="TextBox 22" id="22"/>
            <p:cNvSpPr txBox="true"/>
            <p:nvPr/>
          </p:nvSpPr>
          <p:spPr>
            <a:xfrm>
              <a:off x="0" y="-38100"/>
              <a:ext cx="5207000" cy="26416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13411200" y="2333625"/>
            <a:ext cx="3924300" cy="1952625"/>
            <a:chOff x="0" y="0"/>
            <a:chExt cx="5232400" cy="2603500"/>
          </a:xfrm>
        </p:grpSpPr>
        <p:sp>
          <p:nvSpPr>
            <p:cNvPr name="Freeform 24" id="24"/>
            <p:cNvSpPr/>
            <p:nvPr/>
          </p:nvSpPr>
          <p:spPr>
            <a:xfrm flipH="false" flipV="false" rot="0">
              <a:off x="0" y="0"/>
              <a:ext cx="5232400" cy="2603500"/>
            </a:xfrm>
            <a:custGeom>
              <a:avLst/>
              <a:gdLst/>
              <a:ahLst/>
              <a:cxnLst/>
              <a:rect r="r" b="b" t="t" l="l"/>
              <a:pathLst>
                <a:path h="2603500" w="5232400">
                  <a:moveTo>
                    <a:pt x="49320" y="0"/>
                  </a:moveTo>
                  <a:lnTo>
                    <a:pt x="5183080" y="0"/>
                  </a:lnTo>
                  <a:cubicBezTo>
                    <a:pt x="5210318" y="0"/>
                    <a:pt x="5232400" y="22081"/>
                    <a:pt x="5232400" y="49320"/>
                  </a:cubicBezTo>
                  <a:lnTo>
                    <a:pt x="5232400" y="2554180"/>
                  </a:lnTo>
                  <a:cubicBezTo>
                    <a:pt x="5232400" y="2581419"/>
                    <a:pt x="5210318" y="2603500"/>
                    <a:pt x="5183080" y="2603500"/>
                  </a:cubicBezTo>
                  <a:lnTo>
                    <a:pt x="49320" y="2603500"/>
                  </a:lnTo>
                  <a:cubicBezTo>
                    <a:pt x="22081" y="2603500"/>
                    <a:pt x="0" y="2581419"/>
                    <a:pt x="0" y="2554180"/>
                  </a:cubicBezTo>
                  <a:lnTo>
                    <a:pt x="0" y="49320"/>
                  </a:lnTo>
                  <a:cubicBezTo>
                    <a:pt x="0" y="22081"/>
                    <a:pt x="22081" y="0"/>
                    <a:pt x="49320" y="0"/>
                  </a:cubicBezTo>
                  <a:close/>
                </a:path>
              </a:pathLst>
            </a:custGeom>
            <a:solidFill>
              <a:srgbClr val="0E1E3A"/>
            </a:solidFill>
          </p:spPr>
        </p:sp>
        <p:sp>
          <p:nvSpPr>
            <p:cNvPr name="TextBox 25" id="25"/>
            <p:cNvSpPr txBox="true"/>
            <p:nvPr/>
          </p:nvSpPr>
          <p:spPr>
            <a:xfrm>
              <a:off x="0" y="-38100"/>
              <a:ext cx="5232400" cy="26416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1181100" y="2428875"/>
            <a:ext cx="3448050" cy="352425"/>
          </a:xfrm>
          <a:prstGeom prst="rect">
            <a:avLst/>
          </a:prstGeom>
        </p:spPr>
        <p:txBody>
          <a:bodyPr anchor="t" rtlCol="false" tIns="0" lIns="0" bIns="0" rIns="0">
            <a:spAutoFit/>
          </a:bodyPr>
          <a:lstStyle/>
          <a:p>
            <a:pPr algn="l">
              <a:lnSpc>
                <a:spcPts val="2625"/>
              </a:lnSpc>
            </a:pPr>
            <a:r>
              <a:rPr lang="en-US" sz="1875" b="true">
                <a:solidFill>
                  <a:srgbClr val="0E1E3A"/>
                </a:solidFill>
                <a:latin typeface="Arimo Bold"/>
                <a:ea typeface="Arimo Bold"/>
                <a:cs typeface="Arimo Bold"/>
                <a:sym typeface="Arimo Bold"/>
              </a:rPr>
              <a:t>Tier 1 · Linear beam</a:t>
            </a:r>
          </a:p>
        </p:txBody>
      </p:sp>
      <p:sp>
        <p:nvSpPr>
          <p:cNvPr name="TextBox 27" id="27"/>
          <p:cNvSpPr txBox="true"/>
          <p:nvPr/>
        </p:nvSpPr>
        <p:spPr>
          <a:xfrm rot="0">
            <a:off x="1181100" y="2895600"/>
            <a:ext cx="3448050" cy="808196"/>
          </a:xfrm>
          <a:prstGeom prst="rect">
            <a:avLst/>
          </a:prstGeom>
        </p:spPr>
        <p:txBody>
          <a:bodyPr anchor="t" rtlCol="false" tIns="0" lIns="0" bIns="0" rIns="0">
            <a:spAutoFit/>
          </a:bodyPr>
          <a:lstStyle/>
          <a:p>
            <a:pPr algn="l" marL="0" indent="0" lvl="0">
              <a:lnSpc>
                <a:spcPts val="2126"/>
              </a:lnSpc>
              <a:spcBef>
                <a:spcPct val="0"/>
              </a:spcBef>
            </a:pPr>
            <a:r>
              <a:rPr lang="en-US" sz="1575" strike="noStrike" u="none">
                <a:solidFill>
                  <a:srgbClr val="3B4A5E"/>
                </a:solidFill>
                <a:latin typeface="Arimo"/>
                <a:ea typeface="Arimo"/>
                <a:cs typeface="Arimo"/>
                <a:sym typeface="Arimo"/>
              </a:rPr>
              <a:t>Closed-form Euler–Bernoulli result. Instant; valid for the sleeved actuator at low pressure.</a:t>
            </a:r>
          </a:p>
        </p:txBody>
      </p:sp>
      <p:sp>
        <p:nvSpPr>
          <p:cNvPr name="TextBox 28" id="28"/>
          <p:cNvSpPr txBox="true"/>
          <p:nvPr/>
        </p:nvSpPr>
        <p:spPr>
          <a:xfrm rot="0">
            <a:off x="5334000" y="2428875"/>
            <a:ext cx="3448050" cy="352425"/>
          </a:xfrm>
          <a:prstGeom prst="rect">
            <a:avLst/>
          </a:prstGeom>
        </p:spPr>
        <p:txBody>
          <a:bodyPr anchor="t" rtlCol="false" tIns="0" lIns="0" bIns="0" rIns="0">
            <a:spAutoFit/>
          </a:bodyPr>
          <a:lstStyle/>
          <a:p>
            <a:pPr algn="l">
              <a:lnSpc>
                <a:spcPts val="2625"/>
              </a:lnSpc>
            </a:pPr>
            <a:r>
              <a:rPr lang="en-US" sz="1875" b="true">
                <a:solidFill>
                  <a:srgbClr val="0E1E3A"/>
                </a:solidFill>
                <a:latin typeface="Arimo Bold"/>
                <a:ea typeface="Arimo Bold"/>
                <a:cs typeface="Arimo Bold"/>
                <a:sym typeface="Arimo Bold"/>
              </a:rPr>
              <a:t>Tier 2 · Arc kinematics</a:t>
            </a:r>
          </a:p>
        </p:txBody>
      </p:sp>
      <p:sp>
        <p:nvSpPr>
          <p:cNvPr name="TextBox 29" id="29"/>
          <p:cNvSpPr txBox="true"/>
          <p:nvPr/>
        </p:nvSpPr>
        <p:spPr>
          <a:xfrm rot="0">
            <a:off x="5334000" y="2895600"/>
            <a:ext cx="3448050" cy="808196"/>
          </a:xfrm>
          <a:prstGeom prst="rect">
            <a:avLst/>
          </a:prstGeom>
        </p:spPr>
        <p:txBody>
          <a:bodyPr anchor="t" rtlCol="false" tIns="0" lIns="0" bIns="0" rIns="0">
            <a:spAutoFit/>
          </a:bodyPr>
          <a:lstStyle/>
          <a:p>
            <a:pPr algn="l">
              <a:lnSpc>
                <a:spcPts val="2126"/>
              </a:lnSpc>
            </a:pPr>
            <a:r>
              <a:rPr lang="en-US" sz="1575">
                <a:solidFill>
                  <a:srgbClr val="3B4A5E"/>
                </a:solidFill>
                <a:latin typeface="Arimo"/>
                <a:ea typeface="Arimo"/>
                <a:cs typeface="Arimo"/>
                <a:sym typeface="Arimo"/>
              </a:rPr>
              <a:t>Tier 1 curvature with large rotation and axial stretch: x_tip = ρ sin θ, δ = ρ(1 − cos θ).</a:t>
            </a:r>
          </a:p>
        </p:txBody>
      </p:sp>
      <p:sp>
        <p:nvSpPr>
          <p:cNvPr name="TextBox 30" id="30"/>
          <p:cNvSpPr txBox="true"/>
          <p:nvPr/>
        </p:nvSpPr>
        <p:spPr>
          <a:xfrm rot="0">
            <a:off x="9486900" y="2428875"/>
            <a:ext cx="3448050" cy="352425"/>
          </a:xfrm>
          <a:prstGeom prst="rect">
            <a:avLst/>
          </a:prstGeom>
        </p:spPr>
        <p:txBody>
          <a:bodyPr anchor="t" rtlCol="false" tIns="0" lIns="0" bIns="0" rIns="0">
            <a:spAutoFit/>
          </a:bodyPr>
          <a:lstStyle/>
          <a:p>
            <a:pPr algn="l">
              <a:lnSpc>
                <a:spcPts val="2625"/>
              </a:lnSpc>
            </a:pPr>
            <a:r>
              <a:rPr lang="en-US" sz="1875" b="true">
                <a:solidFill>
                  <a:srgbClr val="0E1E3A"/>
                </a:solidFill>
                <a:latin typeface="Arimo Bold"/>
                <a:ea typeface="Arimo Bold"/>
                <a:cs typeface="Arimo Bold"/>
                <a:sym typeface="Arimo Bold"/>
              </a:rPr>
              <a:t>Tier 3 · Hyperelastic section</a:t>
            </a:r>
          </a:p>
        </p:txBody>
      </p:sp>
      <p:sp>
        <p:nvSpPr>
          <p:cNvPr name="TextBox 31" id="31"/>
          <p:cNvSpPr txBox="true"/>
          <p:nvPr/>
        </p:nvSpPr>
        <p:spPr>
          <a:xfrm rot="0">
            <a:off x="9486900" y="2895600"/>
            <a:ext cx="3448050" cy="808196"/>
          </a:xfrm>
          <a:prstGeom prst="rect">
            <a:avLst/>
          </a:prstGeom>
        </p:spPr>
        <p:txBody>
          <a:bodyPr anchor="t" rtlCol="false" tIns="0" lIns="0" bIns="0" rIns="0">
            <a:spAutoFit/>
          </a:bodyPr>
          <a:lstStyle/>
          <a:p>
            <a:pPr algn="l">
              <a:lnSpc>
                <a:spcPts val="2126"/>
              </a:lnSpc>
            </a:pPr>
            <a:r>
              <a:rPr lang="en-US" sz="1575">
                <a:solidFill>
                  <a:srgbClr val="3B4A5E"/>
                </a:solidFill>
                <a:latin typeface="Arimo"/>
                <a:ea typeface="Arimo"/>
                <a:cs typeface="Arimo"/>
                <a:sym typeface="Arimo"/>
              </a:rPr>
              <a:t>Every fibre follows a Yeoh / neo-Hookean law; section equilibrium solved numerically.</a:t>
            </a:r>
          </a:p>
        </p:txBody>
      </p:sp>
      <p:sp>
        <p:nvSpPr>
          <p:cNvPr name="TextBox 32" id="32"/>
          <p:cNvSpPr txBox="true"/>
          <p:nvPr/>
        </p:nvSpPr>
        <p:spPr>
          <a:xfrm rot="0">
            <a:off x="13639800" y="2428875"/>
            <a:ext cx="3467100" cy="352425"/>
          </a:xfrm>
          <a:prstGeom prst="rect">
            <a:avLst/>
          </a:prstGeom>
        </p:spPr>
        <p:txBody>
          <a:bodyPr anchor="t" rtlCol="false" tIns="0" lIns="0" bIns="0" rIns="0">
            <a:spAutoFit/>
          </a:bodyPr>
          <a:lstStyle/>
          <a:p>
            <a:pPr algn="l">
              <a:lnSpc>
                <a:spcPts val="2625"/>
              </a:lnSpc>
            </a:pPr>
            <a:r>
              <a:rPr lang="en-US" sz="1875" b="true">
                <a:solidFill>
                  <a:srgbClr val="FFFFFF"/>
                </a:solidFill>
                <a:latin typeface="Arimo Bold"/>
                <a:ea typeface="Arimo Bold"/>
                <a:cs typeface="Arimo Bold"/>
                <a:sym typeface="Arimo Bold"/>
              </a:rPr>
              <a:t>Tier 4 · Nonlinear 3-D FE</a:t>
            </a:r>
          </a:p>
        </p:txBody>
      </p:sp>
      <p:sp>
        <p:nvSpPr>
          <p:cNvPr name="TextBox 33" id="33"/>
          <p:cNvSpPr txBox="true"/>
          <p:nvPr/>
        </p:nvSpPr>
        <p:spPr>
          <a:xfrm rot="0">
            <a:off x="13639800" y="2895600"/>
            <a:ext cx="3467100" cy="541496"/>
          </a:xfrm>
          <a:prstGeom prst="rect">
            <a:avLst/>
          </a:prstGeom>
        </p:spPr>
        <p:txBody>
          <a:bodyPr anchor="t" rtlCol="false" tIns="0" lIns="0" bIns="0" rIns="0">
            <a:spAutoFit/>
          </a:bodyPr>
          <a:lstStyle/>
          <a:p>
            <a:pPr algn="l">
              <a:lnSpc>
                <a:spcPts val="2126"/>
              </a:lnSpc>
            </a:pPr>
            <a:r>
              <a:rPr lang="en-US" sz="1575">
                <a:solidFill>
                  <a:srgbClr val="DCE5EF"/>
                </a:solidFill>
                <a:latin typeface="Arimo"/>
                <a:ea typeface="Arimo"/>
                <a:cs typeface="Arimo"/>
                <a:sym typeface="Arimo"/>
              </a:rPr>
              <a:t>Full large-strain solid model; the only tier that captures the bare actuator.</a:t>
            </a:r>
          </a:p>
        </p:txBody>
      </p:sp>
      <p:sp>
        <p:nvSpPr>
          <p:cNvPr name="Freeform 34" id="34" descr="Tip angle, tip deflection and cavity volume against pressure for the beam tiers and both FE runs"/>
          <p:cNvSpPr/>
          <p:nvPr/>
        </p:nvSpPr>
        <p:spPr>
          <a:xfrm flipH="false" flipV="false" rot="0">
            <a:off x="952500" y="4572000"/>
            <a:ext cx="11430000" cy="3505200"/>
          </a:xfrm>
          <a:custGeom>
            <a:avLst/>
            <a:gdLst/>
            <a:ahLst/>
            <a:cxnLst/>
            <a:rect r="r" b="b" t="t" l="l"/>
            <a:pathLst>
              <a:path h="3505200" w="11430000">
                <a:moveTo>
                  <a:pt x="0" y="0"/>
                </a:moveTo>
                <a:lnTo>
                  <a:pt x="11430000" y="0"/>
                </a:lnTo>
                <a:lnTo>
                  <a:pt x="11430000" y="3505200"/>
                </a:lnTo>
                <a:lnTo>
                  <a:pt x="0" y="3505200"/>
                </a:lnTo>
                <a:lnTo>
                  <a:pt x="0" y="0"/>
                </a:lnTo>
                <a:close/>
              </a:path>
            </a:pathLst>
          </a:custGeom>
          <a:blipFill>
            <a:blip r:embed="rId2"/>
            <a:stretch>
              <a:fillRect l="0" t="0" r="0" b="0"/>
            </a:stretch>
          </a:blipFill>
        </p:spPr>
      </p:sp>
      <p:grpSp>
        <p:nvGrpSpPr>
          <p:cNvPr name="Group 35" id="35"/>
          <p:cNvGrpSpPr/>
          <p:nvPr/>
        </p:nvGrpSpPr>
        <p:grpSpPr>
          <a:xfrm rot="0">
            <a:off x="12668250" y="4572000"/>
            <a:ext cx="4667250" cy="3505200"/>
            <a:chOff x="0" y="0"/>
            <a:chExt cx="6223000" cy="4673600"/>
          </a:xfrm>
        </p:grpSpPr>
        <p:sp>
          <p:nvSpPr>
            <p:cNvPr name="Freeform 36" id="36"/>
            <p:cNvSpPr/>
            <p:nvPr/>
          </p:nvSpPr>
          <p:spPr>
            <a:xfrm flipH="false" flipV="false" rot="0">
              <a:off x="0" y="0"/>
              <a:ext cx="6223000" cy="4673600"/>
            </a:xfrm>
            <a:custGeom>
              <a:avLst/>
              <a:gdLst/>
              <a:ahLst/>
              <a:cxnLst/>
              <a:rect r="r" b="b" t="t" l="l"/>
              <a:pathLst>
                <a:path h="4673600" w="6223000">
                  <a:moveTo>
                    <a:pt x="46653" y="0"/>
                  </a:moveTo>
                  <a:lnTo>
                    <a:pt x="6176347" y="0"/>
                  </a:lnTo>
                  <a:cubicBezTo>
                    <a:pt x="6202113" y="0"/>
                    <a:pt x="6223000" y="20887"/>
                    <a:pt x="6223000" y="46653"/>
                  </a:cubicBezTo>
                  <a:lnTo>
                    <a:pt x="6223000" y="4626947"/>
                  </a:lnTo>
                  <a:cubicBezTo>
                    <a:pt x="6223000" y="4652713"/>
                    <a:pt x="6202113" y="4673600"/>
                    <a:pt x="6176347" y="4673600"/>
                  </a:cubicBezTo>
                  <a:lnTo>
                    <a:pt x="46653" y="4673600"/>
                  </a:lnTo>
                  <a:cubicBezTo>
                    <a:pt x="20887" y="4673600"/>
                    <a:pt x="0" y="4652713"/>
                    <a:pt x="0" y="4626947"/>
                  </a:cubicBezTo>
                  <a:lnTo>
                    <a:pt x="0" y="46653"/>
                  </a:lnTo>
                  <a:cubicBezTo>
                    <a:pt x="0" y="20887"/>
                    <a:pt x="20887" y="0"/>
                    <a:pt x="46653" y="0"/>
                  </a:cubicBezTo>
                  <a:close/>
                </a:path>
              </a:pathLst>
            </a:custGeom>
            <a:solidFill>
              <a:srgbClr val="0E1E3A"/>
            </a:solidFill>
          </p:spPr>
        </p:sp>
        <p:sp>
          <p:nvSpPr>
            <p:cNvPr name="TextBox 37" id="37"/>
            <p:cNvSpPr txBox="true"/>
            <p:nvPr/>
          </p:nvSpPr>
          <p:spPr>
            <a:xfrm>
              <a:off x="0" y="-38100"/>
              <a:ext cx="6223000" cy="47117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12954000" y="4733925"/>
            <a:ext cx="409575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39" id="39"/>
          <p:cNvSpPr txBox="true"/>
          <p:nvPr/>
        </p:nvSpPr>
        <p:spPr>
          <a:xfrm rot="0">
            <a:off x="12954000" y="5114925"/>
            <a:ext cx="4095750" cy="1491139"/>
          </a:xfrm>
          <a:prstGeom prst="rect">
            <a:avLst/>
          </a:prstGeom>
        </p:spPr>
        <p:txBody>
          <a:bodyPr anchor="t" rtlCol="false" tIns="0" lIns="0" bIns="0" rIns="0">
            <a:spAutoFit/>
          </a:bodyPr>
          <a:lstStyle/>
          <a:p>
            <a:pPr algn="l">
              <a:lnSpc>
                <a:spcPts val="2328"/>
              </a:lnSpc>
            </a:pPr>
            <a:r>
              <a:rPr lang="en-US" sz="1725">
                <a:solidFill>
                  <a:srgbClr val="FFFFFF"/>
                </a:solidFill>
                <a:latin typeface="Arimo"/>
                <a:ea typeface="Arimo"/>
                <a:cs typeface="Arimo"/>
                <a:sym typeface="Arimo"/>
              </a:rPr>
              <a:t>Tiers 1–3 follow the sleeved FE within 5 % up to P/E ≈ 0.03 (FE is 25 % higher at P/E = 0.1). No beam tier fits the bare actuator: FE is 4–10× lower at low pressure, then runs away near 104.7 kPa.</a:t>
            </a:r>
          </a:p>
        </p:txBody>
      </p:sp>
      <p:sp>
        <p:nvSpPr>
          <p:cNvPr name="TextBox 40" id="40"/>
          <p:cNvSpPr txBox="true"/>
          <p:nvPr/>
        </p:nvSpPr>
        <p:spPr>
          <a:xfrm rot="0">
            <a:off x="952500" y="8334375"/>
            <a:ext cx="16383000" cy="292417"/>
          </a:xfrm>
          <a:prstGeom prst="rect">
            <a:avLst/>
          </a:prstGeom>
        </p:spPr>
        <p:txBody>
          <a:bodyPr anchor="t" rtlCol="false" tIns="0" lIns="0" bIns="0" rIns="0">
            <a:spAutoFit/>
          </a:bodyPr>
          <a:lstStyle/>
          <a:p>
            <a:pPr algn="l">
              <a:lnSpc>
                <a:spcPts val="2227"/>
              </a:lnSpc>
            </a:pPr>
            <a:r>
              <a:rPr lang="en-US" sz="1650">
                <a:solidFill>
                  <a:srgbClr val="3B4A5E"/>
                </a:solidFill>
                <a:latin typeface="Arimo"/>
                <a:ea typeface="Arimo"/>
                <a:cs typeface="Arimo"/>
                <a:sym typeface="Arimo"/>
              </a:rPr>
              <a:t>HOW — same geometry (R 10, r 4, rₚ 3, L 100 mm) and silicone (E = 0.6 MPa) in every tier; beam tiers plotted against the sleeved and bare FE sweeps (fea_compare.py).</a:t>
            </a:r>
          </a:p>
        </p:txBody>
      </p:sp>
      <p:sp>
        <p:nvSpPr>
          <p:cNvPr name="TextBox 41" id="41"/>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42" id="42"/>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FEA · PROCESS</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FEA process: an in-house nonlinear 3-D solver</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wrote and verified our own large-deformation FE code in Python (no FE package was available)</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333625"/>
            <a:ext cx="2571750" cy="1524000"/>
            <a:chOff x="0" y="0"/>
            <a:chExt cx="3429000" cy="2032000"/>
          </a:xfrm>
        </p:grpSpPr>
        <p:sp>
          <p:nvSpPr>
            <p:cNvPr name="Freeform 15" id="15"/>
            <p:cNvSpPr/>
            <p:nvPr/>
          </p:nvSpPr>
          <p:spPr>
            <a:xfrm flipH="false" flipV="false" rot="0">
              <a:off x="0" y="0"/>
              <a:ext cx="3429000" cy="2032000"/>
            </a:xfrm>
            <a:custGeom>
              <a:avLst/>
              <a:gdLst/>
              <a:ahLst/>
              <a:cxnLst/>
              <a:rect r="r" b="b" t="t" l="l"/>
              <a:pathLst>
                <a:path h="2032000" w="3429000">
                  <a:moveTo>
                    <a:pt x="65852" y="0"/>
                  </a:moveTo>
                  <a:lnTo>
                    <a:pt x="3363148" y="0"/>
                  </a:lnTo>
                  <a:cubicBezTo>
                    <a:pt x="3399517" y="0"/>
                    <a:pt x="3429000" y="29483"/>
                    <a:pt x="3429000" y="65852"/>
                  </a:cubicBezTo>
                  <a:lnTo>
                    <a:pt x="3429000" y="1966148"/>
                  </a:lnTo>
                  <a:cubicBezTo>
                    <a:pt x="3429000" y="2002517"/>
                    <a:pt x="3399517" y="2032000"/>
                    <a:pt x="3363148" y="2032000"/>
                  </a:cubicBezTo>
                  <a:lnTo>
                    <a:pt x="65852" y="2032000"/>
                  </a:lnTo>
                  <a:cubicBezTo>
                    <a:pt x="29483" y="2032000"/>
                    <a:pt x="0" y="2002517"/>
                    <a:pt x="0" y="1966148"/>
                  </a:cubicBezTo>
                  <a:lnTo>
                    <a:pt x="0" y="65852"/>
                  </a:lnTo>
                  <a:cubicBezTo>
                    <a:pt x="0" y="29483"/>
                    <a:pt x="29483" y="0"/>
                    <a:pt x="65852" y="0"/>
                  </a:cubicBezTo>
                  <a:close/>
                </a:path>
              </a:pathLst>
            </a:custGeom>
            <a:solidFill>
              <a:srgbClr val="F1F5FA"/>
            </a:solidFill>
          </p:spPr>
        </p:sp>
        <p:sp>
          <p:nvSpPr>
            <p:cNvPr name="TextBox 16" id="16"/>
            <p:cNvSpPr txBox="true"/>
            <p:nvPr/>
          </p:nvSpPr>
          <p:spPr>
            <a:xfrm>
              <a:off x="0" y="-38100"/>
              <a:ext cx="3429000" cy="2070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3714750" y="2333625"/>
            <a:ext cx="2571750" cy="1524000"/>
            <a:chOff x="0" y="0"/>
            <a:chExt cx="3429000" cy="2032000"/>
          </a:xfrm>
        </p:grpSpPr>
        <p:sp>
          <p:nvSpPr>
            <p:cNvPr name="Freeform 18" id="18"/>
            <p:cNvSpPr/>
            <p:nvPr/>
          </p:nvSpPr>
          <p:spPr>
            <a:xfrm flipH="false" flipV="false" rot="0">
              <a:off x="0" y="0"/>
              <a:ext cx="3429000" cy="2032000"/>
            </a:xfrm>
            <a:custGeom>
              <a:avLst/>
              <a:gdLst/>
              <a:ahLst/>
              <a:cxnLst/>
              <a:rect r="r" b="b" t="t" l="l"/>
              <a:pathLst>
                <a:path h="2032000" w="3429000">
                  <a:moveTo>
                    <a:pt x="65852" y="0"/>
                  </a:moveTo>
                  <a:lnTo>
                    <a:pt x="3363148" y="0"/>
                  </a:lnTo>
                  <a:cubicBezTo>
                    <a:pt x="3399517" y="0"/>
                    <a:pt x="3429000" y="29483"/>
                    <a:pt x="3429000" y="65852"/>
                  </a:cubicBezTo>
                  <a:lnTo>
                    <a:pt x="3429000" y="1966148"/>
                  </a:lnTo>
                  <a:cubicBezTo>
                    <a:pt x="3429000" y="2002517"/>
                    <a:pt x="3399517" y="2032000"/>
                    <a:pt x="3363148" y="2032000"/>
                  </a:cubicBezTo>
                  <a:lnTo>
                    <a:pt x="65852" y="2032000"/>
                  </a:lnTo>
                  <a:cubicBezTo>
                    <a:pt x="29483" y="2032000"/>
                    <a:pt x="0" y="2002517"/>
                    <a:pt x="0" y="1966148"/>
                  </a:cubicBezTo>
                  <a:lnTo>
                    <a:pt x="0" y="65852"/>
                  </a:lnTo>
                  <a:cubicBezTo>
                    <a:pt x="0" y="29483"/>
                    <a:pt x="29483" y="0"/>
                    <a:pt x="65852" y="0"/>
                  </a:cubicBezTo>
                  <a:close/>
                </a:path>
              </a:pathLst>
            </a:custGeom>
            <a:solidFill>
              <a:srgbClr val="F1F5FA"/>
            </a:solidFill>
          </p:spPr>
        </p:sp>
        <p:sp>
          <p:nvSpPr>
            <p:cNvPr name="TextBox 19" id="19"/>
            <p:cNvSpPr txBox="true"/>
            <p:nvPr/>
          </p:nvSpPr>
          <p:spPr>
            <a:xfrm>
              <a:off x="0" y="-38100"/>
              <a:ext cx="3429000" cy="20701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6477000" y="2333625"/>
            <a:ext cx="2571750" cy="1524000"/>
            <a:chOff x="0" y="0"/>
            <a:chExt cx="3429000" cy="2032000"/>
          </a:xfrm>
        </p:grpSpPr>
        <p:sp>
          <p:nvSpPr>
            <p:cNvPr name="Freeform 21" id="21"/>
            <p:cNvSpPr/>
            <p:nvPr/>
          </p:nvSpPr>
          <p:spPr>
            <a:xfrm flipH="false" flipV="false" rot="0">
              <a:off x="0" y="0"/>
              <a:ext cx="3429000" cy="2032000"/>
            </a:xfrm>
            <a:custGeom>
              <a:avLst/>
              <a:gdLst/>
              <a:ahLst/>
              <a:cxnLst/>
              <a:rect r="r" b="b" t="t" l="l"/>
              <a:pathLst>
                <a:path h="2032000" w="3429000">
                  <a:moveTo>
                    <a:pt x="65852" y="0"/>
                  </a:moveTo>
                  <a:lnTo>
                    <a:pt x="3363148" y="0"/>
                  </a:lnTo>
                  <a:cubicBezTo>
                    <a:pt x="3399517" y="0"/>
                    <a:pt x="3429000" y="29483"/>
                    <a:pt x="3429000" y="65852"/>
                  </a:cubicBezTo>
                  <a:lnTo>
                    <a:pt x="3429000" y="1966148"/>
                  </a:lnTo>
                  <a:cubicBezTo>
                    <a:pt x="3429000" y="2002517"/>
                    <a:pt x="3399517" y="2032000"/>
                    <a:pt x="3363148" y="2032000"/>
                  </a:cubicBezTo>
                  <a:lnTo>
                    <a:pt x="65852" y="2032000"/>
                  </a:lnTo>
                  <a:cubicBezTo>
                    <a:pt x="29483" y="2032000"/>
                    <a:pt x="0" y="2002517"/>
                    <a:pt x="0" y="1966148"/>
                  </a:cubicBezTo>
                  <a:lnTo>
                    <a:pt x="0" y="65852"/>
                  </a:lnTo>
                  <a:cubicBezTo>
                    <a:pt x="0" y="29483"/>
                    <a:pt x="29483" y="0"/>
                    <a:pt x="65852" y="0"/>
                  </a:cubicBezTo>
                  <a:close/>
                </a:path>
              </a:pathLst>
            </a:custGeom>
            <a:solidFill>
              <a:srgbClr val="F1F5FA"/>
            </a:solidFill>
          </p:spPr>
        </p:sp>
        <p:sp>
          <p:nvSpPr>
            <p:cNvPr name="TextBox 22" id="22"/>
            <p:cNvSpPr txBox="true"/>
            <p:nvPr/>
          </p:nvSpPr>
          <p:spPr>
            <a:xfrm>
              <a:off x="0" y="-38100"/>
              <a:ext cx="3429000" cy="20701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9239250" y="2333625"/>
            <a:ext cx="2571750" cy="1524000"/>
            <a:chOff x="0" y="0"/>
            <a:chExt cx="3429000" cy="2032000"/>
          </a:xfrm>
        </p:grpSpPr>
        <p:sp>
          <p:nvSpPr>
            <p:cNvPr name="Freeform 24" id="24"/>
            <p:cNvSpPr/>
            <p:nvPr/>
          </p:nvSpPr>
          <p:spPr>
            <a:xfrm flipH="false" flipV="false" rot="0">
              <a:off x="0" y="0"/>
              <a:ext cx="3429000" cy="2032000"/>
            </a:xfrm>
            <a:custGeom>
              <a:avLst/>
              <a:gdLst/>
              <a:ahLst/>
              <a:cxnLst/>
              <a:rect r="r" b="b" t="t" l="l"/>
              <a:pathLst>
                <a:path h="2032000" w="3429000">
                  <a:moveTo>
                    <a:pt x="65852" y="0"/>
                  </a:moveTo>
                  <a:lnTo>
                    <a:pt x="3363148" y="0"/>
                  </a:lnTo>
                  <a:cubicBezTo>
                    <a:pt x="3399517" y="0"/>
                    <a:pt x="3429000" y="29483"/>
                    <a:pt x="3429000" y="65852"/>
                  </a:cubicBezTo>
                  <a:lnTo>
                    <a:pt x="3429000" y="1966148"/>
                  </a:lnTo>
                  <a:cubicBezTo>
                    <a:pt x="3429000" y="2002517"/>
                    <a:pt x="3399517" y="2032000"/>
                    <a:pt x="3363148" y="2032000"/>
                  </a:cubicBezTo>
                  <a:lnTo>
                    <a:pt x="65852" y="2032000"/>
                  </a:lnTo>
                  <a:cubicBezTo>
                    <a:pt x="29483" y="2032000"/>
                    <a:pt x="0" y="2002517"/>
                    <a:pt x="0" y="1966148"/>
                  </a:cubicBezTo>
                  <a:lnTo>
                    <a:pt x="0" y="65852"/>
                  </a:lnTo>
                  <a:cubicBezTo>
                    <a:pt x="0" y="29483"/>
                    <a:pt x="29483" y="0"/>
                    <a:pt x="65852" y="0"/>
                  </a:cubicBezTo>
                  <a:close/>
                </a:path>
              </a:pathLst>
            </a:custGeom>
            <a:solidFill>
              <a:srgbClr val="F1F5FA"/>
            </a:solidFill>
          </p:spPr>
        </p:sp>
        <p:sp>
          <p:nvSpPr>
            <p:cNvPr name="TextBox 25" id="25"/>
            <p:cNvSpPr txBox="true"/>
            <p:nvPr/>
          </p:nvSpPr>
          <p:spPr>
            <a:xfrm>
              <a:off x="0" y="-38100"/>
              <a:ext cx="3429000" cy="2070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12001500" y="2333625"/>
            <a:ext cx="2571750" cy="1524000"/>
            <a:chOff x="0" y="0"/>
            <a:chExt cx="3429000" cy="2032000"/>
          </a:xfrm>
        </p:grpSpPr>
        <p:sp>
          <p:nvSpPr>
            <p:cNvPr name="Freeform 27" id="27"/>
            <p:cNvSpPr/>
            <p:nvPr/>
          </p:nvSpPr>
          <p:spPr>
            <a:xfrm flipH="false" flipV="false" rot="0">
              <a:off x="0" y="0"/>
              <a:ext cx="3429000" cy="2032000"/>
            </a:xfrm>
            <a:custGeom>
              <a:avLst/>
              <a:gdLst/>
              <a:ahLst/>
              <a:cxnLst/>
              <a:rect r="r" b="b" t="t" l="l"/>
              <a:pathLst>
                <a:path h="2032000" w="3429000">
                  <a:moveTo>
                    <a:pt x="65852" y="0"/>
                  </a:moveTo>
                  <a:lnTo>
                    <a:pt x="3363148" y="0"/>
                  </a:lnTo>
                  <a:cubicBezTo>
                    <a:pt x="3399517" y="0"/>
                    <a:pt x="3429000" y="29483"/>
                    <a:pt x="3429000" y="65852"/>
                  </a:cubicBezTo>
                  <a:lnTo>
                    <a:pt x="3429000" y="1966148"/>
                  </a:lnTo>
                  <a:cubicBezTo>
                    <a:pt x="3429000" y="2002517"/>
                    <a:pt x="3399517" y="2032000"/>
                    <a:pt x="3363148" y="2032000"/>
                  </a:cubicBezTo>
                  <a:lnTo>
                    <a:pt x="65852" y="2032000"/>
                  </a:lnTo>
                  <a:cubicBezTo>
                    <a:pt x="29483" y="2032000"/>
                    <a:pt x="0" y="2002517"/>
                    <a:pt x="0" y="1966148"/>
                  </a:cubicBezTo>
                  <a:lnTo>
                    <a:pt x="0" y="65852"/>
                  </a:lnTo>
                  <a:cubicBezTo>
                    <a:pt x="0" y="29483"/>
                    <a:pt x="29483" y="0"/>
                    <a:pt x="65852" y="0"/>
                  </a:cubicBezTo>
                  <a:close/>
                </a:path>
              </a:pathLst>
            </a:custGeom>
            <a:solidFill>
              <a:srgbClr val="F1F5FA"/>
            </a:solidFill>
          </p:spPr>
        </p:sp>
        <p:sp>
          <p:nvSpPr>
            <p:cNvPr name="TextBox 28" id="28"/>
            <p:cNvSpPr txBox="true"/>
            <p:nvPr/>
          </p:nvSpPr>
          <p:spPr>
            <a:xfrm>
              <a:off x="0" y="-38100"/>
              <a:ext cx="3429000" cy="2070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14763750" y="2333625"/>
            <a:ext cx="2571750" cy="1524000"/>
            <a:chOff x="0" y="0"/>
            <a:chExt cx="3429000" cy="2032000"/>
          </a:xfrm>
        </p:grpSpPr>
        <p:sp>
          <p:nvSpPr>
            <p:cNvPr name="Freeform 30" id="30"/>
            <p:cNvSpPr/>
            <p:nvPr/>
          </p:nvSpPr>
          <p:spPr>
            <a:xfrm flipH="false" flipV="false" rot="0">
              <a:off x="0" y="0"/>
              <a:ext cx="3429000" cy="2032000"/>
            </a:xfrm>
            <a:custGeom>
              <a:avLst/>
              <a:gdLst/>
              <a:ahLst/>
              <a:cxnLst/>
              <a:rect r="r" b="b" t="t" l="l"/>
              <a:pathLst>
                <a:path h="2032000" w="3429000">
                  <a:moveTo>
                    <a:pt x="65852" y="0"/>
                  </a:moveTo>
                  <a:lnTo>
                    <a:pt x="3363148" y="0"/>
                  </a:lnTo>
                  <a:cubicBezTo>
                    <a:pt x="3399517" y="0"/>
                    <a:pt x="3429000" y="29483"/>
                    <a:pt x="3429000" y="65852"/>
                  </a:cubicBezTo>
                  <a:lnTo>
                    <a:pt x="3429000" y="1966148"/>
                  </a:lnTo>
                  <a:cubicBezTo>
                    <a:pt x="3429000" y="2002517"/>
                    <a:pt x="3399517" y="2032000"/>
                    <a:pt x="3363148" y="2032000"/>
                  </a:cubicBezTo>
                  <a:lnTo>
                    <a:pt x="65852" y="2032000"/>
                  </a:lnTo>
                  <a:cubicBezTo>
                    <a:pt x="29483" y="2032000"/>
                    <a:pt x="0" y="2002517"/>
                    <a:pt x="0" y="1966148"/>
                  </a:cubicBezTo>
                  <a:lnTo>
                    <a:pt x="0" y="65852"/>
                  </a:lnTo>
                  <a:cubicBezTo>
                    <a:pt x="0" y="29483"/>
                    <a:pt x="29483" y="0"/>
                    <a:pt x="65852" y="0"/>
                  </a:cubicBezTo>
                  <a:close/>
                </a:path>
              </a:pathLst>
            </a:custGeom>
            <a:solidFill>
              <a:srgbClr val="0E1E3A"/>
            </a:solidFill>
          </p:spPr>
        </p:sp>
        <p:sp>
          <p:nvSpPr>
            <p:cNvPr name="TextBox 31" id="31"/>
            <p:cNvSpPr txBox="true"/>
            <p:nvPr/>
          </p:nvSpPr>
          <p:spPr>
            <a:xfrm>
              <a:off x="0" y="-38100"/>
              <a:ext cx="3429000" cy="2070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1123950" y="2400300"/>
            <a:ext cx="22479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1 · Mesh</a:t>
            </a:r>
          </a:p>
        </p:txBody>
      </p:sp>
      <p:sp>
        <p:nvSpPr>
          <p:cNvPr name="TextBox 33" id="33"/>
          <p:cNvSpPr txBox="true"/>
          <p:nvPr/>
        </p:nvSpPr>
        <p:spPr>
          <a:xfrm rot="0">
            <a:off x="1123950" y="2809875"/>
            <a:ext cx="2247900" cy="668655"/>
          </a:xfrm>
          <a:prstGeom prst="rect">
            <a:avLst/>
          </a:prstGeom>
        </p:spPr>
        <p:txBody>
          <a:bodyPr anchor="t" rtlCol="false" tIns="0" lIns="0" bIns="0" rIns="0">
            <a:spAutoFit/>
          </a:bodyPr>
          <a:lstStyle/>
          <a:p>
            <a:pPr algn="l">
              <a:lnSpc>
                <a:spcPts val="1755"/>
              </a:lnSpc>
            </a:pPr>
            <a:r>
              <a:rPr lang="en-US" sz="1350">
                <a:solidFill>
                  <a:srgbClr val="3B4A5E"/>
                </a:solidFill>
                <a:latin typeface="Arimo"/>
                <a:ea typeface="Arimo"/>
                <a:cs typeface="Arimo"/>
                <a:sym typeface="Arimo"/>
              </a:rPr>
              <a:t>Rays from the cavity centre using t(φ); 588 hex27, half model</a:t>
            </a:r>
          </a:p>
        </p:txBody>
      </p:sp>
      <p:sp>
        <p:nvSpPr>
          <p:cNvPr name="TextBox 34" id="34"/>
          <p:cNvSpPr txBox="true"/>
          <p:nvPr/>
        </p:nvSpPr>
        <p:spPr>
          <a:xfrm rot="0">
            <a:off x="3886200" y="2400300"/>
            <a:ext cx="22479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2 · Material</a:t>
            </a:r>
          </a:p>
        </p:txBody>
      </p:sp>
      <p:sp>
        <p:nvSpPr>
          <p:cNvPr name="TextBox 35" id="35"/>
          <p:cNvSpPr txBox="true"/>
          <p:nvPr/>
        </p:nvSpPr>
        <p:spPr>
          <a:xfrm rot="0">
            <a:off x="3886200" y="2809875"/>
            <a:ext cx="2247900" cy="449580"/>
          </a:xfrm>
          <a:prstGeom prst="rect">
            <a:avLst/>
          </a:prstGeom>
        </p:spPr>
        <p:txBody>
          <a:bodyPr anchor="t" rtlCol="false" tIns="0" lIns="0" bIns="0" rIns="0">
            <a:spAutoFit/>
          </a:bodyPr>
          <a:lstStyle/>
          <a:p>
            <a:pPr algn="l">
              <a:lnSpc>
                <a:spcPts val="1755"/>
              </a:lnSpc>
            </a:pPr>
            <a:r>
              <a:rPr lang="en-US" sz="1350">
                <a:solidFill>
                  <a:srgbClr val="3B4A5E"/>
                </a:solidFill>
                <a:latin typeface="Arimo"/>
                <a:ea typeface="Arimo"/>
                <a:cs typeface="Arimo"/>
                <a:sym typeface="Arimo"/>
              </a:rPr>
              <a:t>Neo-Hookean / Yeoh strain energy W(F) for silicone</a:t>
            </a:r>
          </a:p>
        </p:txBody>
      </p:sp>
      <p:sp>
        <p:nvSpPr>
          <p:cNvPr name="TextBox 36" id="36"/>
          <p:cNvSpPr txBox="true"/>
          <p:nvPr/>
        </p:nvSpPr>
        <p:spPr>
          <a:xfrm rot="0">
            <a:off x="6648450" y="2400300"/>
            <a:ext cx="22479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3 · Incompressible</a:t>
            </a:r>
          </a:p>
        </p:txBody>
      </p:sp>
      <p:sp>
        <p:nvSpPr>
          <p:cNvPr name="TextBox 37" id="37"/>
          <p:cNvSpPr txBox="true"/>
          <p:nvPr/>
        </p:nvSpPr>
        <p:spPr>
          <a:xfrm rot="0">
            <a:off x="6648450" y="2809875"/>
            <a:ext cx="2247900" cy="668655"/>
          </a:xfrm>
          <a:prstGeom prst="rect">
            <a:avLst/>
          </a:prstGeom>
        </p:spPr>
        <p:txBody>
          <a:bodyPr anchor="t" rtlCol="false" tIns="0" lIns="0" bIns="0" rIns="0">
            <a:spAutoFit/>
          </a:bodyPr>
          <a:lstStyle/>
          <a:p>
            <a:pPr algn="l">
              <a:lnSpc>
                <a:spcPts val="1755"/>
              </a:lnSpc>
            </a:pPr>
            <a:r>
              <a:rPr lang="en-US" sz="1350">
                <a:solidFill>
                  <a:srgbClr val="3B4A5E"/>
                </a:solidFill>
                <a:latin typeface="Arimo"/>
                <a:ea typeface="Arimo"/>
                <a:cs typeface="Arimo"/>
                <a:sym typeface="Arimo"/>
              </a:rPr>
              <a:t>Mixed displacement–pressure (Q2/P1) elements, ν = 0.4995</a:t>
            </a:r>
          </a:p>
        </p:txBody>
      </p:sp>
      <p:sp>
        <p:nvSpPr>
          <p:cNvPr name="TextBox 38" id="38"/>
          <p:cNvSpPr txBox="true"/>
          <p:nvPr/>
        </p:nvSpPr>
        <p:spPr>
          <a:xfrm rot="0">
            <a:off x="9410700" y="2400300"/>
            <a:ext cx="22479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4 · Load &amp; supports</a:t>
            </a:r>
          </a:p>
        </p:txBody>
      </p:sp>
      <p:sp>
        <p:nvSpPr>
          <p:cNvPr name="TextBox 39" id="39"/>
          <p:cNvSpPr txBox="true"/>
          <p:nvPr/>
        </p:nvSpPr>
        <p:spPr>
          <a:xfrm rot="0">
            <a:off x="9410700" y="2809875"/>
            <a:ext cx="2247900" cy="668655"/>
          </a:xfrm>
          <a:prstGeom prst="rect">
            <a:avLst/>
          </a:prstGeom>
        </p:spPr>
        <p:txBody>
          <a:bodyPr anchor="t" rtlCol="false" tIns="0" lIns="0" bIns="0" rIns="0">
            <a:spAutoFit/>
          </a:bodyPr>
          <a:lstStyle/>
          <a:p>
            <a:pPr algn="l">
              <a:lnSpc>
                <a:spcPts val="1755"/>
              </a:lnSpc>
            </a:pPr>
            <a:r>
              <a:rPr lang="en-US" sz="1350">
                <a:solidFill>
                  <a:srgbClr val="3B4A5E"/>
                </a:solidFill>
                <a:latin typeface="Arimo"/>
                <a:ea typeface="Arimo"/>
                <a:cs typeface="Arimo"/>
                <a:sym typeface="Arimo"/>
              </a:rPr>
              <a:t>Follower pressure from −P·V; clamped base, symmetry plane</a:t>
            </a:r>
          </a:p>
        </p:txBody>
      </p:sp>
      <p:sp>
        <p:nvSpPr>
          <p:cNvPr name="TextBox 40" id="40"/>
          <p:cNvSpPr txBox="true"/>
          <p:nvPr/>
        </p:nvSpPr>
        <p:spPr>
          <a:xfrm rot="0">
            <a:off x="12172950" y="2400300"/>
            <a:ext cx="22479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5 · Solve</a:t>
            </a:r>
          </a:p>
        </p:txBody>
      </p:sp>
      <p:sp>
        <p:nvSpPr>
          <p:cNvPr name="TextBox 41" id="41"/>
          <p:cNvSpPr txBox="true"/>
          <p:nvPr/>
        </p:nvSpPr>
        <p:spPr>
          <a:xfrm rot="0">
            <a:off x="12172950" y="2809875"/>
            <a:ext cx="2247900" cy="668655"/>
          </a:xfrm>
          <a:prstGeom prst="rect">
            <a:avLst/>
          </a:prstGeom>
        </p:spPr>
        <p:txBody>
          <a:bodyPr anchor="t" rtlCol="false" tIns="0" lIns="0" bIns="0" rIns="0">
            <a:spAutoFit/>
          </a:bodyPr>
          <a:lstStyle/>
          <a:p>
            <a:pPr algn="l">
              <a:lnSpc>
                <a:spcPts val="1755"/>
              </a:lnSpc>
            </a:pPr>
            <a:r>
              <a:rPr lang="en-US" sz="1350">
                <a:solidFill>
                  <a:srgbClr val="3B4A5E"/>
                </a:solidFill>
                <a:latin typeface="Arimo"/>
                <a:ea typeface="Arimo"/>
                <a:cs typeface="Arimo"/>
                <a:sym typeface="Arimo"/>
              </a:rPr>
              <a:t>Newton–Raphson; tangent from JAX automatic differentiation</a:t>
            </a:r>
          </a:p>
        </p:txBody>
      </p:sp>
      <p:sp>
        <p:nvSpPr>
          <p:cNvPr name="TextBox 42" id="42"/>
          <p:cNvSpPr txBox="true"/>
          <p:nvPr/>
        </p:nvSpPr>
        <p:spPr>
          <a:xfrm rot="0">
            <a:off x="14935200" y="2400300"/>
            <a:ext cx="2247900" cy="300990"/>
          </a:xfrm>
          <a:prstGeom prst="rect">
            <a:avLst/>
          </a:prstGeom>
        </p:spPr>
        <p:txBody>
          <a:bodyPr anchor="t" rtlCol="false" tIns="0" lIns="0" bIns="0" rIns="0">
            <a:spAutoFit/>
          </a:bodyPr>
          <a:lstStyle/>
          <a:p>
            <a:pPr algn="l">
              <a:lnSpc>
                <a:spcPts val="2310"/>
              </a:lnSpc>
            </a:pPr>
            <a:r>
              <a:rPr lang="en-US" sz="1650" b="true">
                <a:solidFill>
                  <a:srgbClr val="FFFFFF"/>
                </a:solidFill>
                <a:latin typeface="Arimo Bold"/>
                <a:ea typeface="Arimo Bold"/>
                <a:cs typeface="Arimo Bold"/>
                <a:sym typeface="Arimo Bold"/>
              </a:rPr>
              <a:t>6 · Follow the path</a:t>
            </a:r>
          </a:p>
        </p:txBody>
      </p:sp>
      <p:sp>
        <p:nvSpPr>
          <p:cNvPr name="TextBox 43" id="43"/>
          <p:cNvSpPr txBox="true"/>
          <p:nvPr/>
        </p:nvSpPr>
        <p:spPr>
          <a:xfrm rot="0">
            <a:off x="14935200" y="2809875"/>
            <a:ext cx="2247900" cy="668655"/>
          </a:xfrm>
          <a:prstGeom prst="rect">
            <a:avLst/>
          </a:prstGeom>
        </p:spPr>
        <p:txBody>
          <a:bodyPr anchor="t" rtlCol="false" tIns="0" lIns="0" bIns="0" rIns="0">
            <a:spAutoFit/>
          </a:bodyPr>
          <a:lstStyle/>
          <a:p>
            <a:pPr algn="l">
              <a:lnSpc>
                <a:spcPts val="1755"/>
              </a:lnSpc>
            </a:pPr>
            <a:r>
              <a:rPr lang="en-US" sz="1350">
                <a:solidFill>
                  <a:srgbClr val="DCE5EF"/>
                </a:solidFill>
                <a:latin typeface="Arimo"/>
                <a:ea typeface="Arimo"/>
                <a:cs typeface="Arimo"/>
                <a:sym typeface="Arimo"/>
              </a:rPr>
              <a:t>Pressure steps, then volume control over the ballooning peak</a:t>
            </a:r>
          </a:p>
        </p:txBody>
      </p:sp>
      <p:sp>
        <p:nvSpPr>
          <p:cNvPr name="Freeform 44" id="44" descr="3-D FE mesh of the half model: undeformed, bare at 100 kPa, sleeved at 110 kPa"/>
          <p:cNvSpPr/>
          <p:nvPr/>
        </p:nvSpPr>
        <p:spPr>
          <a:xfrm flipH="false" flipV="false" rot="0">
            <a:off x="952500" y="4114800"/>
            <a:ext cx="12192000" cy="3733800"/>
          </a:xfrm>
          <a:custGeom>
            <a:avLst/>
            <a:gdLst/>
            <a:ahLst/>
            <a:cxnLst/>
            <a:rect r="r" b="b" t="t" l="l"/>
            <a:pathLst>
              <a:path h="3733800" w="12192000">
                <a:moveTo>
                  <a:pt x="0" y="0"/>
                </a:moveTo>
                <a:lnTo>
                  <a:pt x="12192000" y="0"/>
                </a:lnTo>
                <a:lnTo>
                  <a:pt x="12192000" y="3733800"/>
                </a:lnTo>
                <a:lnTo>
                  <a:pt x="0" y="3733800"/>
                </a:lnTo>
                <a:lnTo>
                  <a:pt x="0" y="0"/>
                </a:lnTo>
                <a:close/>
              </a:path>
            </a:pathLst>
          </a:custGeom>
          <a:blipFill>
            <a:blip r:embed="rId2"/>
            <a:stretch>
              <a:fillRect l="-204" t="0" r="-204" b="0"/>
            </a:stretch>
          </a:blipFill>
        </p:spPr>
      </p:sp>
      <p:sp>
        <p:nvSpPr>
          <p:cNvPr name="Freeform 45" id="45" descr="FE mesh of the cross-section"/>
          <p:cNvSpPr/>
          <p:nvPr/>
        </p:nvSpPr>
        <p:spPr>
          <a:xfrm flipH="false" flipV="false" rot="0">
            <a:off x="13382625" y="4191000"/>
            <a:ext cx="3952875" cy="3314700"/>
          </a:xfrm>
          <a:custGeom>
            <a:avLst/>
            <a:gdLst/>
            <a:ahLst/>
            <a:cxnLst/>
            <a:rect r="r" b="b" t="t" l="l"/>
            <a:pathLst>
              <a:path h="3314700" w="3952875">
                <a:moveTo>
                  <a:pt x="0" y="0"/>
                </a:moveTo>
                <a:lnTo>
                  <a:pt x="3952875" y="0"/>
                </a:lnTo>
                <a:lnTo>
                  <a:pt x="3952875" y="3314700"/>
                </a:lnTo>
                <a:lnTo>
                  <a:pt x="0" y="3314700"/>
                </a:lnTo>
                <a:lnTo>
                  <a:pt x="0" y="0"/>
                </a:lnTo>
                <a:close/>
              </a:path>
            </a:pathLst>
          </a:custGeom>
          <a:blipFill>
            <a:blip r:embed="rId3"/>
            <a:stretch>
              <a:fillRect l="0" t="-11" r="0" b="-11"/>
            </a:stretch>
          </a:blipFill>
        </p:spPr>
      </p:sp>
      <p:grpSp>
        <p:nvGrpSpPr>
          <p:cNvPr name="Group 46" id="46"/>
          <p:cNvGrpSpPr/>
          <p:nvPr/>
        </p:nvGrpSpPr>
        <p:grpSpPr>
          <a:xfrm rot="0">
            <a:off x="952500" y="8096250"/>
            <a:ext cx="16383000" cy="1524000"/>
            <a:chOff x="0" y="0"/>
            <a:chExt cx="21844000" cy="2032000"/>
          </a:xfrm>
        </p:grpSpPr>
        <p:sp>
          <p:nvSpPr>
            <p:cNvPr name="Freeform 47" id="47"/>
            <p:cNvSpPr/>
            <p:nvPr/>
          </p:nvSpPr>
          <p:spPr>
            <a:xfrm flipH="false" flipV="false" rot="0">
              <a:off x="0" y="0"/>
              <a:ext cx="21844000" cy="2032000"/>
            </a:xfrm>
            <a:custGeom>
              <a:avLst/>
              <a:gdLst/>
              <a:ahLst/>
              <a:cxnLst/>
              <a:rect r="r" b="b" t="t" l="l"/>
              <a:pathLst>
                <a:path h="2032000" w="21844000">
                  <a:moveTo>
                    <a:pt x="13291" y="0"/>
                  </a:moveTo>
                  <a:lnTo>
                    <a:pt x="21830709" y="0"/>
                  </a:lnTo>
                  <a:cubicBezTo>
                    <a:pt x="21838050" y="0"/>
                    <a:pt x="21844000" y="5950"/>
                    <a:pt x="21844000" y="13291"/>
                  </a:cubicBezTo>
                  <a:lnTo>
                    <a:pt x="21844000" y="2018709"/>
                  </a:lnTo>
                  <a:cubicBezTo>
                    <a:pt x="21844000" y="2026050"/>
                    <a:pt x="21838050" y="2032000"/>
                    <a:pt x="21830709" y="2032000"/>
                  </a:cubicBezTo>
                  <a:lnTo>
                    <a:pt x="13291" y="2032000"/>
                  </a:lnTo>
                  <a:cubicBezTo>
                    <a:pt x="5950" y="2032000"/>
                    <a:pt x="0" y="2026050"/>
                    <a:pt x="0" y="2018709"/>
                  </a:cubicBezTo>
                  <a:lnTo>
                    <a:pt x="0" y="13291"/>
                  </a:lnTo>
                  <a:cubicBezTo>
                    <a:pt x="0" y="5950"/>
                    <a:pt x="5950" y="0"/>
                    <a:pt x="13291" y="0"/>
                  </a:cubicBezTo>
                  <a:close/>
                </a:path>
              </a:pathLst>
            </a:custGeom>
            <a:solidFill>
              <a:srgbClr val="0E1E3A"/>
            </a:solidFill>
          </p:spPr>
        </p:sp>
        <p:sp>
          <p:nvSpPr>
            <p:cNvPr name="TextBox 48" id="48"/>
            <p:cNvSpPr txBox="true"/>
            <p:nvPr/>
          </p:nvSpPr>
          <p:spPr>
            <a:xfrm>
              <a:off x="0" y="-38100"/>
              <a:ext cx="21844000" cy="2070100"/>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1257300" y="8239125"/>
            <a:ext cx="3810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50" id="50"/>
          <p:cNvSpPr txBox="true"/>
          <p:nvPr/>
        </p:nvSpPr>
        <p:spPr>
          <a:xfrm rot="0">
            <a:off x="1257300" y="8601075"/>
            <a:ext cx="15811500" cy="622935"/>
          </a:xfrm>
          <a:prstGeom prst="rect">
            <a:avLst/>
          </a:prstGeom>
        </p:spPr>
        <p:txBody>
          <a:bodyPr anchor="t" rtlCol="false" tIns="0" lIns="0" bIns="0" rIns="0">
            <a:spAutoFit/>
          </a:bodyPr>
          <a:lstStyle/>
          <a:p>
            <a:pPr algn="l">
              <a:lnSpc>
                <a:spcPts val="2430"/>
              </a:lnSpc>
            </a:pPr>
            <a:r>
              <a:rPr lang="en-US" sz="1800">
                <a:solidFill>
                  <a:srgbClr val="FFFFFF"/>
                </a:solidFill>
                <a:latin typeface="Arimo"/>
                <a:ea typeface="Arimo"/>
                <a:cs typeface="Arimo"/>
                <a:sym typeface="Arimo"/>
              </a:rPr>
              <a:t>The mesh follows the exact wall thickness t(φ) from the derivation. One pressure sweep takes 2–3 minutes on a laptop (36 states bare, 23 sleeved). Every step of the method is explained in report/fea_handbook.pdf.</a:t>
            </a:r>
          </a:p>
        </p:txBody>
      </p:sp>
      <p:sp>
        <p:nvSpPr>
          <p:cNvPr name="TextBox 51" id="51"/>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52" id="52"/>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FEA · METHOD</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How the solver finds equilibrium</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How: minimise the total energy with Newton iterations, and follow the path past the pressure peak</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52500" y="2400300"/>
            <a:ext cx="457200" cy="457200"/>
            <a:chOff x="0" y="0"/>
            <a:chExt cx="609600" cy="609600"/>
          </a:xfrm>
        </p:grpSpPr>
        <p:sp>
          <p:nvSpPr>
            <p:cNvPr name="Freeform 15" id="15"/>
            <p:cNvSpPr/>
            <p:nvPr/>
          </p:nvSpPr>
          <p:spPr>
            <a:xfrm flipH="false" flipV="false" rot="0">
              <a:off x="0" y="0"/>
              <a:ext cx="609600" cy="609600"/>
            </a:xfrm>
            <a:custGeom>
              <a:avLst/>
              <a:gdLst/>
              <a:ahLst/>
              <a:cxnLst/>
              <a:rect r="r" b="b" t="t" l="l"/>
              <a:pathLst>
                <a:path h="609600" w="609600">
                  <a:moveTo>
                    <a:pt x="304800" y="0"/>
                  </a:moveTo>
                  <a:cubicBezTo>
                    <a:pt x="473136" y="0"/>
                    <a:pt x="609600" y="136464"/>
                    <a:pt x="609600" y="304800"/>
                  </a:cubicBezTo>
                  <a:cubicBezTo>
                    <a:pt x="609600" y="473136"/>
                    <a:pt x="473136" y="609600"/>
                    <a:pt x="304800" y="609600"/>
                  </a:cubicBezTo>
                  <a:cubicBezTo>
                    <a:pt x="136464" y="609600"/>
                    <a:pt x="0" y="473136"/>
                    <a:pt x="0" y="304800"/>
                  </a:cubicBezTo>
                  <a:cubicBezTo>
                    <a:pt x="0" y="136464"/>
                    <a:pt x="136464" y="0"/>
                    <a:pt x="304800" y="0"/>
                  </a:cubicBezTo>
                  <a:close/>
                </a:path>
              </a:pathLst>
            </a:custGeom>
            <a:solidFill>
              <a:srgbClr val="4390F8"/>
            </a:solidFill>
          </p:spPr>
        </p:sp>
        <p:sp>
          <p:nvSpPr>
            <p:cNvPr name="TextBox 16" id="16"/>
            <p:cNvSpPr txBox="true"/>
            <p:nvPr/>
          </p:nvSpPr>
          <p:spPr>
            <a:xfrm>
              <a:off x="0" y="-38100"/>
              <a:ext cx="609600" cy="6477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952500" y="3829050"/>
            <a:ext cx="457200" cy="457200"/>
            <a:chOff x="0" y="0"/>
            <a:chExt cx="609600" cy="609600"/>
          </a:xfrm>
        </p:grpSpPr>
        <p:sp>
          <p:nvSpPr>
            <p:cNvPr name="Freeform 18" id="18"/>
            <p:cNvSpPr/>
            <p:nvPr/>
          </p:nvSpPr>
          <p:spPr>
            <a:xfrm flipH="false" flipV="false" rot="0">
              <a:off x="0" y="0"/>
              <a:ext cx="609600" cy="609600"/>
            </a:xfrm>
            <a:custGeom>
              <a:avLst/>
              <a:gdLst/>
              <a:ahLst/>
              <a:cxnLst/>
              <a:rect r="r" b="b" t="t" l="l"/>
              <a:pathLst>
                <a:path h="609600" w="609600">
                  <a:moveTo>
                    <a:pt x="304800" y="0"/>
                  </a:moveTo>
                  <a:cubicBezTo>
                    <a:pt x="473136" y="0"/>
                    <a:pt x="609600" y="136464"/>
                    <a:pt x="609600" y="304800"/>
                  </a:cubicBezTo>
                  <a:cubicBezTo>
                    <a:pt x="609600" y="473136"/>
                    <a:pt x="473136" y="609600"/>
                    <a:pt x="304800" y="609600"/>
                  </a:cubicBezTo>
                  <a:cubicBezTo>
                    <a:pt x="136464" y="609600"/>
                    <a:pt x="0" y="473136"/>
                    <a:pt x="0" y="304800"/>
                  </a:cubicBezTo>
                  <a:cubicBezTo>
                    <a:pt x="0" y="136464"/>
                    <a:pt x="136464" y="0"/>
                    <a:pt x="304800" y="0"/>
                  </a:cubicBezTo>
                  <a:close/>
                </a:path>
              </a:pathLst>
            </a:custGeom>
            <a:solidFill>
              <a:srgbClr val="4390F8"/>
            </a:solidFill>
          </p:spPr>
        </p:sp>
        <p:sp>
          <p:nvSpPr>
            <p:cNvPr name="TextBox 19" id="19"/>
            <p:cNvSpPr txBox="true"/>
            <p:nvPr/>
          </p:nvSpPr>
          <p:spPr>
            <a:xfrm>
              <a:off x="0" y="-38100"/>
              <a:ext cx="609600" cy="6477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952500" y="5257800"/>
            <a:ext cx="457200" cy="457200"/>
            <a:chOff x="0" y="0"/>
            <a:chExt cx="609600" cy="609600"/>
          </a:xfrm>
        </p:grpSpPr>
        <p:sp>
          <p:nvSpPr>
            <p:cNvPr name="Freeform 21" id="21"/>
            <p:cNvSpPr/>
            <p:nvPr/>
          </p:nvSpPr>
          <p:spPr>
            <a:xfrm flipH="false" flipV="false" rot="0">
              <a:off x="0" y="0"/>
              <a:ext cx="609600" cy="609600"/>
            </a:xfrm>
            <a:custGeom>
              <a:avLst/>
              <a:gdLst/>
              <a:ahLst/>
              <a:cxnLst/>
              <a:rect r="r" b="b" t="t" l="l"/>
              <a:pathLst>
                <a:path h="609600" w="609600">
                  <a:moveTo>
                    <a:pt x="304800" y="0"/>
                  </a:moveTo>
                  <a:cubicBezTo>
                    <a:pt x="473136" y="0"/>
                    <a:pt x="609600" y="136464"/>
                    <a:pt x="609600" y="304800"/>
                  </a:cubicBezTo>
                  <a:cubicBezTo>
                    <a:pt x="609600" y="473136"/>
                    <a:pt x="473136" y="609600"/>
                    <a:pt x="304800" y="609600"/>
                  </a:cubicBezTo>
                  <a:cubicBezTo>
                    <a:pt x="136464" y="609600"/>
                    <a:pt x="0" y="473136"/>
                    <a:pt x="0" y="304800"/>
                  </a:cubicBezTo>
                  <a:cubicBezTo>
                    <a:pt x="0" y="136464"/>
                    <a:pt x="136464" y="0"/>
                    <a:pt x="304800" y="0"/>
                  </a:cubicBezTo>
                  <a:close/>
                </a:path>
              </a:pathLst>
            </a:custGeom>
            <a:solidFill>
              <a:srgbClr val="4390F8"/>
            </a:solidFill>
          </p:spPr>
        </p:sp>
        <p:sp>
          <p:nvSpPr>
            <p:cNvPr name="TextBox 22" id="22"/>
            <p:cNvSpPr txBox="true"/>
            <p:nvPr/>
          </p:nvSpPr>
          <p:spPr>
            <a:xfrm>
              <a:off x="0" y="-38100"/>
              <a:ext cx="609600" cy="6477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952500" y="6686550"/>
            <a:ext cx="457200" cy="457200"/>
            <a:chOff x="0" y="0"/>
            <a:chExt cx="609600" cy="609600"/>
          </a:xfrm>
        </p:grpSpPr>
        <p:sp>
          <p:nvSpPr>
            <p:cNvPr name="Freeform 24" id="24"/>
            <p:cNvSpPr/>
            <p:nvPr/>
          </p:nvSpPr>
          <p:spPr>
            <a:xfrm flipH="false" flipV="false" rot="0">
              <a:off x="0" y="0"/>
              <a:ext cx="609600" cy="609600"/>
            </a:xfrm>
            <a:custGeom>
              <a:avLst/>
              <a:gdLst/>
              <a:ahLst/>
              <a:cxnLst/>
              <a:rect r="r" b="b" t="t" l="l"/>
              <a:pathLst>
                <a:path h="609600" w="609600">
                  <a:moveTo>
                    <a:pt x="304800" y="0"/>
                  </a:moveTo>
                  <a:cubicBezTo>
                    <a:pt x="473136" y="0"/>
                    <a:pt x="609600" y="136464"/>
                    <a:pt x="609600" y="304800"/>
                  </a:cubicBezTo>
                  <a:cubicBezTo>
                    <a:pt x="609600" y="473136"/>
                    <a:pt x="473136" y="609600"/>
                    <a:pt x="304800" y="609600"/>
                  </a:cubicBezTo>
                  <a:cubicBezTo>
                    <a:pt x="136464" y="609600"/>
                    <a:pt x="0" y="473136"/>
                    <a:pt x="0" y="304800"/>
                  </a:cubicBezTo>
                  <a:cubicBezTo>
                    <a:pt x="0" y="136464"/>
                    <a:pt x="136464" y="0"/>
                    <a:pt x="304800" y="0"/>
                  </a:cubicBezTo>
                  <a:close/>
                </a:path>
              </a:pathLst>
            </a:custGeom>
            <a:solidFill>
              <a:srgbClr val="4390F8"/>
            </a:solidFill>
          </p:spPr>
        </p:sp>
        <p:sp>
          <p:nvSpPr>
            <p:cNvPr name="TextBox 25" id="25"/>
            <p:cNvSpPr txBox="true"/>
            <p:nvPr/>
          </p:nvSpPr>
          <p:spPr>
            <a:xfrm>
              <a:off x="0" y="-38100"/>
              <a:ext cx="609600" cy="6477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952500" y="8115300"/>
            <a:ext cx="457200" cy="457200"/>
            <a:chOff x="0" y="0"/>
            <a:chExt cx="609600" cy="609600"/>
          </a:xfrm>
        </p:grpSpPr>
        <p:sp>
          <p:nvSpPr>
            <p:cNvPr name="Freeform 27" id="27"/>
            <p:cNvSpPr/>
            <p:nvPr/>
          </p:nvSpPr>
          <p:spPr>
            <a:xfrm flipH="false" flipV="false" rot="0">
              <a:off x="0" y="0"/>
              <a:ext cx="609600" cy="609600"/>
            </a:xfrm>
            <a:custGeom>
              <a:avLst/>
              <a:gdLst/>
              <a:ahLst/>
              <a:cxnLst/>
              <a:rect r="r" b="b" t="t" l="l"/>
              <a:pathLst>
                <a:path h="609600" w="609600">
                  <a:moveTo>
                    <a:pt x="304800" y="0"/>
                  </a:moveTo>
                  <a:cubicBezTo>
                    <a:pt x="473136" y="0"/>
                    <a:pt x="609600" y="136464"/>
                    <a:pt x="609600" y="304800"/>
                  </a:cubicBezTo>
                  <a:cubicBezTo>
                    <a:pt x="609600" y="473136"/>
                    <a:pt x="473136" y="609600"/>
                    <a:pt x="304800" y="609600"/>
                  </a:cubicBezTo>
                  <a:cubicBezTo>
                    <a:pt x="136464" y="609600"/>
                    <a:pt x="0" y="473136"/>
                    <a:pt x="0" y="304800"/>
                  </a:cubicBezTo>
                  <a:cubicBezTo>
                    <a:pt x="0" y="136464"/>
                    <a:pt x="136464" y="0"/>
                    <a:pt x="304800" y="0"/>
                  </a:cubicBezTo>
                  <a:close/>
                </a:path>
              </a:pathLst>
            </a:custGeom>
            <a:solidFill>
              <a:srgbClr val="0E1E3A"/>
            </a:solidFill>
          </p:spPr>
        </p:sp>
        <p:sp>
          <p:nvSpPr>
            <p:cNvPr name="TextBox 28" id="28"/>
            <p:cNvSpPr txBox="true"/>
            <p:nvPr/>
          </p:nvSpPr>
          <p:spPr>
            <a:xfrm>
              <a:off x="0" y="-38100"/>
              <a:ext cx="609600" cy="647700"/>
            </a:xfrm>
            <a:prstGeom prst="rect">
              <a:avLst/>
            </a:prstGeom>
          </p:spPr>
          <p:txBody>
            <a:bodyPr anchor="ctr" rtlCol="false" tIns="50800" lIns="50800" bIns="50800" rIns="50800"/>
            <a:lstStyle/>
            <a:p>
              <a:pPr algn="l">
                <a:lnSpc>
                  <a:spcPts val="1679"/>
                </a:lnSpc>
              </a:pPr>
            </a:p>
          </p:txBody>
        </p:sp>
      </p:grpSp>
      <p:sp>
        <p:nvSpPr>
          <p:cNvPr name="TextBox 29" id="29"/>
          <p:cNvSpPr txBox="true"/>
          <p:nvPr/>
        </p:nvSpPr>
        <p:spPr>
          <a:xfrm rot="0">
            <a:off x="952500" y="2419350"/>
            <a:ext cx="457200" cy="325755"/>
          </a:xfrm>
          <a:prstGeom prst="rect">
            <a:avLst/>
          </a:prstGeom>
        </p:spPr>
        <p:txBody>
          <a:bodyPr anchor="t" rtlCol="false" tIns="0" lIns="0" bIns="0" rIns="0">
            <a:spAutoFit/>
          </a:bodyPr>
          <a:lstStyle/>
          <a:p>
            <a:pPr algn="ctr">
              <a:lnSpc>
                <a:spcPts val="2520"/>
              </a:lnSpc>
            </a:pPr>
            <a:r>
              <a:rPr lang="en-US" sz="1800" b="true">
                <a:solidFill>
                  <a:srgbClr val="FFFFFF"/>
                </a:solidFill>
                <a:latin typeface="Arimo Bold"/>
                <a:ea typeface="Arimo Bold"/>
                <a:cs typeface="Arimo Bold"/>
                <a:sym typeface="Arimo Bold"/>
              </a:rPr>
              <a:t>1</a:t>
            </a:r>
          </a:p>
        </p:txBody>
      </p:sp>
      <p:sp>
        <p:nvSpPr>
          <p:cNvPr name="TextBox 30" id="30"/>
          <p:cNvSpPr txBox="true"/>
          <p:nvPr/>
        </p:nvSpPr>
        <p:spPr>
          <a:xfrm rot="0">
            <a:off x="952500" y="3848100"/>
            <a:ext cx="457200" cy="325755"/>
          </a:xfrm>
          <a:prstGeom prst="rect">
            <a:avLst/>
          </a:prstGeom>
        </p:spPr>
        <p:txBody>
          <a:bodyPr anchor="t" rtlCol="false" tIns="0" lIns="0" bIns="0" rIns="0">
            <a:spAutoFit/>
          </a:bodyPr>
          <a:lstStyle/>
          <a:p>
            <a:pPr algn="ctr">
              <a:lnSpc>
                <a:spcPts val="2520"/>
              </a:lnSpc>
            </a:pPr>
            <a:r>
              <a:rPr lang="en-US" sz="1800" b="true">
                <a:solidFill>
                  <a:srgbClr val="FFFFFF"/>
                </a:solidFill>
                <a:latin typeface="Arimo Bold"/>
                <a:ea typeface="Arimo Bold"/>
                <a:cs typeface="Arimo Bold"/>
                <a:sym typeface="Arimo Bold"/>
              </a:rPr>
              <a:t>2</a:t>
            </a:r>
          </a:p>
        </p:txBody>
      </p:sp>
      <p:sp>
        <p:nvSpPr>
          <p:cNvPr name="TextBox 31" id="31"/>
          <p:cNvSpPr txBox="true"/>
          <p:nvPr/>
        </p:nvSpPr>
        <p:spPr>
          <a:xfrm rot="0">
            <a:off x="952500" y="5276850"/>
            <a:ext cx="457200" cy="325755"/>
          </a:xfrm>
          <a:prstGeom prst="rect">
            <a:avLst/>
          </a:prstGeom>
        </p:spPr>
        <p:txBody>
          <a:bodyPr anchor="t" rtlCol="false" tIns="0" lIns="0" bIns="0" rIns="0">
            <a:spAutoFit/>
          </a:bodyPr>
          <a:lstStyle/>
          <a:p>
            <a:pPr algn="ctr">
              <a:lnSpc>
                <a:spcPts val="2520"/>
              </a:lnSpc>
            </a:pPr>
            <a:r>
              <a:rPr lang="en-US" sz="1800" b="true">
                <a:solidFill>
                  <a:srgbClr val="FFFFFF"/>
                </a:solidFill>
                <a:latin typeface="Arimo Bold"/>
                <a:ea typeface="Arimo Bold"/>
                <a:cs typeface="Arimo Bold"/>
                <a:sym typeface="Arimo Bold"/>
              </a:rPr>
              <a:t>3</a:t>
            </a:r>
          </a:p>
        </p:txBody>
      </p:sp>
      <p:sp>
        <p:nvSpPr>
          <p:cNvPr name="TextBox 32" id="32"/>
          <p:cNvSpPr txBox="true"/>
          <p:nvPr/>
        </p:nvSpPr>
        <p:spPr>
          <a:xfrm rot="0">
            <a:off x="952500" y="6705600"/>
            <a:ext cx="457200" cy="325755"/>
          </a:xfrm>
          <a:prstGeom prst="rect">
            <a:avLst/>
          </a:prstGeom>
        </p:spPr>
        <p:txBody>
          <a:bodyPr anchor="t" rtlCol="false" tIns="0" lIns="0" bIns="0" rIns="0">
            <a:spAutoFit/>
          </a:bodyPr>
          <a:lstStyle/>
          <a:p>
            <a:pPr algn="ctr">
              <a:lnSpc>
                <a:spcPts val="2520"/>
              </a:lnSpc>
            </a:pPr>
            <a:r>
              <a:rPr lang="en-US" sz="1800" b="true">
                <a:solidFill>
                  <a:srgbClr val="FFFFFF"/>
                </a:solidFill>
                <a:latin typeface="Arimo Bold"/>
                <a:ea typeface="Arimo Bold"/>
                <a:cs typeface="Arimo Bold"/>
                <a:sym typeface="Arimo Bold"/>
              </a:rPr>
              <a:t>4</a:t>
            </a:r>
          </a:p>
        </p:txBody>
      </p:sp>
      <p:sp>
        <p:nvSpPr>
          <p:cNvPr name="TextBox 33" id="33"/>
          <p:cNvSpPr txBox="true"/>
          <p:nvPr/>
        </p:nvSpPr>
        <p:spPr>
          <a:xfrm rot="0">
            <a:off x="952500" y="8134350"/>
            <a:ext cx="457200" cy="325755"/>
          </a:xfrm>
          <a:prstGeom prst="rect">
            <a:avLst/>
          </a:prstGeom>
        </p:spPr>
        <p:txBody>
          <a:bodyPr anchor="t" rtlCol="false" tIns="0" lIns="0" bIns="0" rIns="0">
            <a:spAutoFit/>
          </a:bodyPr>
          <a:lstStyle/>
          <a:p>
            <a:pPr algn="ctr">
              <a:lnSpc>
                <a:spcPts val="2520"/>
              </a:lnSpc>
            </a:pPr>
            <a:r>
              <a:rPr lang="en-US" sz="1800" b="true">
                <a:solidFill>
                  <a:srgbClr val="FFFFFF"/>
                </a:solidFill>
                <a:latin typeface="Arimo Bold"/>
                <a:ea typeface="Arimo Bold"/>
                <a:cs typeface="Arimo Bold"/>
                <a:sym typeface="Arimo Bold"/>
              </a:rPr>
              <a:t>5</a:t>
            </a:r>
          </a:p>
        </p:txBody>
      </p:sp>
      <p:sp>
        <p:nvSpPr>
          <p:cNvPr name="TextBox 34" id="34"/>
          <p:cNvSpPr txBox="true"/>
          <p:nvPr/>
        </p:nvSpPr>
        <p:spPr>
          <a:xfrm rot="0">
            <a:off x="1638300" y="2362200"/>
            <a:ext cx="7334250" cy="350520"/>
          </a:xfrm>
          <a:prstGeom prst="rect">
            <a:avLst/>
          </a:prstGeom>
        </p:spPr>
        <p:txBody>
          <a:bodyPr anchor="t" rtlCol="false" tIns="0" lIns="0" bIns="0" rIns="0">
            <a:spAutoFit/>
          </a:bodyPr>
          <a:lstStyle/>
          <a:p>
            <a:pPr algn="l">
              <a:lnSpc>
                <a:spcPts val="2729"/>
              </a:lnSpc>
            </a:pPr>
            <a:r>
              <a:rPr lang="en-US" sz="1950" b="true">
                <a:solidFill>
                  <a:srgbClr val="0E1E3A"/>
                </a:solidFill>
                <a:latin typeface="Arimo Bold"/>
                <a:ea typeface="Arimo Bold"/>
                <a:cs typeface="Arimo Bold"/>
                <a:sym typeface="Arimo Bold"/>
              </a:rPr>
              <a:t>Unknowns</a:t>
            </a:r>
          </a:p>
        </p:txBody>
      </p:sp>
      <p:sp>
        <p:nvSpPr>
          <p:cNvPr name="TextBox 35" id="35"/>
          <p:cNvSpPr txBox="true"/>
          <p:nvPr/>
        </p:nvSpPr>
        <p:spPr>
          <a:xfrm rot="0">
            <a:off x="1638300" y="2733675"/>
            <a:ext cx="7334250" cy="568643"/>
          </a:xfrm>
          <a:prstGeom prst="rect">
            <a:avLst/>
          </a:prstGeom>
        </p:spPr>
        <p:txBody>
          <a:bodyPr anchor="t" rtlCol="false" tIns="0" lIns="0" bIns="0" rIns="0">
            <a:spAutoFit/>
          </a:bodyPr>
          <a:lstStyle/>
          <a:p>
            <a:pPr algn="l">
              <a:lnSpc>
                <a:spcPts val="2227"/>
              </a:lnSpc>
            </a:pPr>
            <a:r>
              <a:rPr lang="en-US" sz="1650">
                <a:solidFill>
                  <a:srgbClr val="3B4A5E"/>
                </a:solidFill>
                <a:latin typeface="Arimo"/>
                <a:ea typeface="Arimo"/>
                <a:cs typeface="Arimo"/>
                <a:sym typeface="Arimo"/>
              </a:rPr>
              <a:t>Displacements of 6,205 nodes, plus 4 pressure values per element that hold the silicone nearly incompressible (ν = 0.4995).</a:t>
            </a:r>
          </a:p>
        </p:txBody>
      </p:sp>
      <p:sp>
        <p:nvSpPr>
          <p:cNvPr name="TextBox 36" id="36"/>
          <p:cNvSpPr txBox="true"/>
          <p:nvPr/>
        </p:nvSpPr>
        <p:spPr>
          <a:xfrm rot="0">
            <a:off x="1638300" y="3790950"/>
            <a:ext cx="7334250" cy="350520"/>
          </a:xfrm>
          <a:prstGeom prst="rect">
            <a:avLst/>
          </a:prstGeom>
        </p:spPr>
        <p:txBody>
          <a:bodyPr anchor="t" rtlCol="false" tIns="0" lIns="0" bIns="0" rIns="0">
            <a:spAutoFit/>
          </a:bodyPr>
          <a:lstStyle/>
          <a:p>
            <a:pPr algn="l">
              <a:lnSpc>
                <a:spcPts val="2729"/>
              </a:lnSpc>
            </a:pPr>
            <a:r>
              <a:rPr lang="en-US" sz="1950" b="true">
                <a:solidFill>
                  <a:srgbClr val="0E1E3A"/>
                </a:solidFill>
                <a:latin typeface="Arimo Bold"/>
                <a:ea typeface="Arimo Bold"/>
                <a:cs typeface="Arimo Bold"/>
                <a:sym typeface="Arimo Bold"/>
              </a:rPr>
              <a:t>Energy</a:t>
            </a:r>
          </a:p>
        </p:txBody>
      </p:sp>
      <p:sp>
        <p:nvSpPr>
          <p:cNvPr name="TextBox 37" id="37"/>
          <p:cNvSpPr txBox="true"/>
          <p:nvPr/>
        </p:nvSpPr>
        <p:spPr>
          <a:xfrm rot="0">
            <a:off x="1638300" y="4162425"/>
            <a:ext cx="7334250" cy="568643"/>
          </a:xfrm>
          <a:prstGeom prst="rect">
            <a:avLst/>
          </a:prstGeom>
        </p:spPr>
        <p:txBody>
          <a:bodyPr anchor="t" rtlCol="false" tIns="0" lIns="0" bIns="0" rIns="0">
            <a:spAutoFit/>
          </a:bodyPr>
          <a:lstStyle/>
          <a:p>
            <a:pPr algn="l">
              <a:lnSpc>
                <a:spcPts val="2227"/>
              </a:lnSpc>
            </a:pPr>
            <a:r>
              <a:rPr lang="en-US" sz="1650">
                <a:solidFill>
                  <a:srgbClr val="3B4A5E"/>
                </a:solidFill>
                <a:latin typeface="Arimo"/>
                <a:ea typeface="Arimo"/>
                <a:cs typeface="Arimo"/>
                <a:sym typeface="Arimo"/>
              </a:rPr>
              <a:t>Π(u) = Σ ∫ W(F) dV − P·V_cavity. Equilibrium is where Π is stationary: R(u) = ∂Π/∂u = 0.</a:t>
            </a:r>
          </a:p>
        </p:txBody>
      </p:sp>
      <p:sp>
        <p:nvSpPr>
          <p:cNvPr name="TextBox 38" id="38"/>
          <p:cNvSpPr txBox="true"/>
          <p:nvPr/>
        </p:nvSpPr>
        <p:spPr>
          <a:xfrm rot="0">
            <a:off x="1638300" y="5219700"/>
            <a:ext cx="7334250" cy="350520"/>
          </a:xfrm>
          <a:prstGeom prst="rect">
            <a:avLst/>
          </a:prstGeom>
        </p:spPr>
        <p:txBody>
          <a:bodyPr anchor="t" rtlCol="false" tIns="0" lIns="0" bIns="0" rIns="0">
            <a:spAutoFit/>
          </a:bodyPr>
          <a:lstStyle/>
          <a:p>
            <a:pPr algn="l">
              <a:lnSpc>
                <a:spcPts val="2729"/>
              </a:lnSpc>
            </a:pPr>
            <a:r>
              <a:rPr lang="en-US" sz="1950" b="true">
                <a:solidFill>
                  <a:srgbClr val="0E1E3A"/>
                </a:solidFill>
                <a:latin typeface="Arimo Bold"/>
                <a:ea typeface="Arimo Bold"/>
                <a:cs typeface="Arimo Bold"/>
                <a:sym typeface="Arimo Bold"/>
              </a:rPr>
              <a:t>Newton–Raphson</a:t>
            </a:r>
          </a:p>
        </p:txBody>
      </p:sp>
      <p:sp>
        <p:nvSpPr>
          <p:cNvPr name="TextBox 39" id="39"/>
          <p:cNvSpPr txBox="true"/>
          <p:nvPr/>
        </p:nvSpPr>
        <p:spPr>
          <a:xfrm rot="0">
            <a:off x="1638300" y="5591175"/>
            <a:ext cx="7334250" cy="568643"/>
          </a:xfrm>
          <a:prstGeom prst="rect">
            <a:avLst/>
          </a:prstGeom>
        </p:spPr>
        <p:txBody>
          <a:bodyPr anchor="t" rtlCol="false" tIns="0" lIns="0" bIns="0" rIns="0">
            <a:spAutoFit/>
          </a:bodyPr>
          <a:lstStyle/>
          <a:p>
            <a:pPr algn="l">
              <a:lnSpc>
                <a:spcPts val="2227"/>
              </a:lnSpc>
            </a:pPr>
            <a:r>
              <a:rPr lang="en-US" sz="1650">
                <a:solidFill>
                  <a:srgbClr val="3B4A5E"/>
                </a:solidFill>
                <a:latin typeface="Arimo"/>
                <a:ea typeface="Arimo"/>
                <a:cs typeface="Arimo"/>
                <a:sym typeface="Arimo"/>
              </a:rPr>
              <a:t>Repeat K·Δu = −R until R ≈ 0. The tangent K = ∂²Π/∂u² comes from JAX automatic differentiation — no hand-derived stiffness.</a:t>
            </a:r>
          </a:p>
        </p:txBody>
      </p:sp>
      <p:sp>
        <p:nvSpPr>
          <p:cNvPr name="TextBox 40" id="40"/>
          <p:cNvSpPr txBox="true"/>
          <p:nvPr/>
        </p:nvSpPr>
        <p:spPr>
          <a:xfrm rot="0">
            <a:off x="1638300" y="6648450"/>
            <a:ext cx="7334250" cy="350520"/>
          </a:xfrm>
          <a:prstGeom prst="rect">
            <a:avLst/>
          </a:prstGeom>
        </p:spPr>
        <p:txBody>
          <a:bodyPr anchor="t" rtlCol="false" tIns="0" lIns="0" bIns="0" rIns="0">
            <a:spAutoFit/>
          </a:bodyPr>
          <a:lstStyle/>
          <a:p>
            <a:pPr algn="l">
              <a:lnSpc>
                <a:spcPts val="2729"/>
              </a:lnSpc>
            </a:pPr>
            <a:r>
              <a:rPr lang="en-US" sz="1950" b="true">
                <a:solidFill>
                  <a:srgbClr val="0E1E3A"/>
                </a:solidFill>
                <a:latin typeface="Arimo Bold"/>
                <a:ea typeface="Arimo Bold"/>
                <a:cs typeface="Arimo Bold"/>
                <a:sym typeface="Arimo Bold"/>
              </a:rPr>
              <a:t>Follower pressure</a:t>
            </a:r>
          </a:p>
        </p:txBody>
      </p:sp>
      <p:sp>
        <p:nvSpPr>
          <p:cNvPr name="TextBox 41" id="41"/>
          <p:cNvSpPr txBox="true"/>
          <p:nvPr/>
        </p:nvSpPr>
        <p:spPr>
          <a:xfrm rot="0">
            <a:off x="1638300" y="7019925"/>
            <a:ext cx="7334250" cy="568643"/>
          </a:xfrm>
          <a:prstGeom prst="rect">
            <a:avLst/>
          </a:prstGeom>
        </p:spPr>
        <p:txBody>
          <a:bodyPr anchor="t" rtlCol="false" tIns="0" lIns="0" bIns="0" rIns="0">
            <a:spAutoFit/>
          </a:bodyPr>
          <a:lstStyle/>
          <a:p>
            <a:pPr algn="l">
              <a:lnSpc>
                <a:spcPts val="2227"/>
              </a:lnSpc>
            </a:pPr>
            <a:r>
              <a:rPr lang="en-US" sz="1650">
                <a:solidFill>
                  <a:srgbClr val="3B4A5E"/>
                </a:solidFill>
                <a:latin typeface="Arimo"/>
                <a:ea typeface="Arimo"/>
                <a:cs typeface="Arimo"/>
                <a:sym typeface="Arimo"/>
              </a:rPr>
              <a:t>Pressure acts on the deformed cavity; its nodal forces are P·∂V/∂u, so they turn with the wall automatically.</a:t>
            </a:r>
          </a:p>
        </p:txBody>
      </p:sp>
      <p:sp>
        <p:nvSpPr>
          <p:cNvPr name="TextBox 42" id="42"/>
          <p:cNvSpPr txBox="true"/>
          <p:nvPr/>
        </p:nvSpPr>
        <p:spPr>
          <a:xfrm rot="0">
            <a:off x="1638300" y="8077200"/>
            <a:ext cx="7334250" cy="350520"/>
          </a:xfrm>
          <a:prstGeom prst="rect">
            <a:avLst/>
          </a:prstGeom>
        </p:spPr>
        <p:txBody>
          <a:bodyPr anchor="t" rtlCol="false" tIns="0" lIns="0" bIns="0" rIns="0">
            <a:spAutoFit/>
          </a:bodyPr>
          <a:lstStyle/>
          <a:p>
            <a:pPr algn="l">
              <a:lnSpc>
                <a:spcPts val="2729"/>
              </a:lnSpc>
            </a:pPr>
            <a:r>
              <a:rPr lang="en-US" sz="1950" b="true">
                <a:solidFill>
                  <a:srgbClr val="0E1E3A"/>
                </a:solidFill>
                <a:latin typeface="Arimo Bold"/>
                <a:ea typeface="Arimo Bold"/>
                <a:cs typeface="Arimo Bold"/>
                <a:sym typeface="Arimo Bold"/>
              </a:rPr>
              <a:t>Path following</a:t>
            </a:r>
          </a:p>
        </p:txBody>
      </p:sp>
      <p:sp>
        <p:nvSpPr>
          <p:cNvPr name="TextBox 43" id="43"/>
          <p:cNvSpPr txBox="true"/>
          <p:nvPr/>
        </p:nvSpPr>
        <p:spPr>
          <a:xfrm rot="0">
            <a:off x="1638300" y="8448675"/>
            <a:ext cx="7334250" cy="568643"/>
          </a:xfrm>
          <a:prstGeom prst="rect">
            <a:avLst/>
          </a:prstGeom>
        </p:spPr>
        <p:txBody>
          <a:bodyPr anchor="t" rtlCol="false" tIns="0" lIns="0" bIns="0" rIns="0">
            <a:spAutoFit/>
          </a:bodyPr>
          <a:lstStyle/>
          <a:p>
            <a:pPr algn="l">
              <a:lnSpc>
                <a:spcPts val="2227"/>
              </a:lnSpc>
            </a:pPr>
            <a:r>
              <a:rPr lang="en-US" sz="1650">
                <a:solidFill>
                  <a:srgbClr val="3B4A5E"/>
                </a:solidFill>
                <a:latin typeface="Arimo"/>
                <a:ea typeface="Arimo"/>
                <a:cs typeface="Arimo"/>
                <a:sym typeface="Arimo"/>
              </a:rPr>
              <a:t>Pressure steps up to the peak; there K turns singular, so we prescribe the cavity volume and solve for P instead.</a:t>
            </a:r>
          </a:p>
        </p:txBody>
      </p:sp>
      <p:sp>
        <p:nvSpPr>
          <p:cNvPr name="Freeform 44" id="44" descr="Cavity pressure against cavity volume, showing pressure control then volume control past the limit point"/>
          <p:cNvSpPr/>
          <p:nvPr/>
        </p:nvSpPr>
        <p:spPr>
          <a:xfrm flipH="false" flipV="false" rot="0">
            <a:off x="9525000" y="2333625"/>
            <a:ext cx="7810500" cy="5067300"/>
          </a:xfrm>
          <a:custGeom>
            <a:avLst/>
            <a:gdLst/>
            <a:ahLst/>
            <a:cxnLst/>
            <a:rect r="r" b="b" t="t" l="l"/>
            <a:pathLst>
              <a:path h="5067300" w="7810500">
                <a:moveTo>
                  <a:pt x="0" y="0"/>
                </a:moveTo>
                <a:lnTo>
                  <a:pt x="7810500" y="0"/>
                </a:lnTo>
                <a:lnTo>
                  <a:pt x="7810500" y="5067300"/>
                </a:lnTo>
                <a:lnTo>
                  <a:pt x="0" y="5067300"/>
                </a:lnTo>
                <a:lnTo>
                  <a:pt x="0" y="0"/>
                </a:lnTo>
                <a:close/>
              </a:path>
            </a:pathLst>
          </a:custGeom>
          <a:blipFill>
            <a:blip r:embed="rId2"/>
            <a:stretch>
              <a:fillRect l="-2" t="0" r="-2" b="0"/>
            </a:stretch>
          </a:blipFill>
        </p:spPr>
      </p:sp>
      <p:grpSp>
        <p:nvGrpSpPr>
          <p:cNvPr name="Group 45" id="45"/>
          <p:cNvGrpSpPr/>
          <p:nvPr/>
        </p:nvGrpSpPr>
        <p:grpSpPr>
          <a:xfrm rot="0">
            <a:off x="9525000" y="7620000"/>
            <a:ext cx="7810500" cy="2000250"/>
            <a:chOff x="0" y="0"/>
            <a:chExt cx="10414000" cy="2667000"/>
          </a:xfrm>
        </p:grpSpPr>
        <p:sp>
          <p:nvSpPr>
            <p:cNvPr name="Freeform 46" id="46"/>
            <p:cNvSpPr/>
            <p:nvPr/>
          </p:nvSpPr>
          <p:spPr>
            <a:xfrm flipH="false" flipV="false" rot="0">
              <a:off x="0" y="0"/>
              <a:ext cx="10414000" cy="2667000"/>
            </a:xfrm>
            <a:custGeom>
              <a:avLst/>
              <a:gdLst/>
              <a:ahLst/>
              <a:cxnLst/>
              <a:rect r="r" b="b" t="t" l="l"/>
              <a:pathLst>
                <a:path h="2667000" w="10414000">
                  <a:moveTo>
                    <a:pt x="27878" y="0"/>
                  </a:moveTo>
                  <a:lnTo>
                    <a:pt x="10386122" y="0"/>
                  </a:lnTo>
                  <a:cubicBezTo>
                    <a:pt x="10393516" y="0"/>
                    <a:pt x="10400606" y="2937"/>
                    <a:pt x="10405835" y="8165"/>
                  </a:cubicBezTo>
                  <a:cubicBezTo>
                    <a:pt x="10411063" y="13393"/>
                    <a:pt x="10414000" y="20484"/>
                    <a:pt x="10414000" y="27878"/>
                  </a:cubicBezTo>
                  <a:lnTo>
                    <a:pt x="10414000" y="2639122"/>
                  </a:lnTo>
                  <a:cubicBezTo>
                    <a:pt x="10414000" y="2646516"/>
                    <a:pt x="10411063" y="2653607"/>
                    <a:pt x="10405835" y="2658835"/>
                  </a:cubicBezTo>
                  <a:cubicBezTo>
                    <a:pt x="10400606" y="2664063"/>
                    <a:pt x="10393516" y="2667000"/>
                    <a:pt x="10386122" y="2667000"/>
                  </a:cubicBezTo>
                  <a:lnTo>
                    <a:pt x="27878" y="2667000"/>
                  </a:lnTo>
                  <a:cubicBezTo>
                    <a:pt x="20484" y="2667000"/>
                    <a:pt x="13393" y="2664063"/>
                    <a:pt x="8165" y="2658835"/>
                  </a:cubicBezTo>
                  <a:cubicBezTo>
                    <a:pt x="2937" y="2653607"/>
                    <a:pt x="0" y="2646516"/>
                    <a:pt x="0" y="2639122"/>
                  </a:cubicBezTo>
                  <a:lnTo>
                    <a:pt x="0" y="27878"/>
                  </a:lnTo>
                  <a:cubicBezTo>
                    <a:pt x="0" y="20484"/>
                    <a:pt x="2937" y="13393"/>
                    <a:pt x="8165" y="8165"/>
                  </a:cubicBezTo>
                  <a:cubicBezTo>
                    <a:pt x="13393" y="2937"/>
                    <a:pt x="20484" y="0"/>
                    <a:pt x="27878" y="0"/>
                  </a:cubicBezTo>
                  <a:close/>
                </a:path>
              </a:pathLst>
            </a:custGeom>
            <a:solidFill>
              <a:srgbClr val="0E1E3A"/>
            </a:solidFill>
          </p:spPr>
        </p:sp>
        <p:sp>
          <p:nvSpPr>
            <p:cNvPr name="TextBox 47" id="47"/>
            <p:cNvSpPr txBox="true"/>
            <p:nvPr/>
          </p:nvSpPr>
          <p:spPr>
            <a:xfrm>
              <a:off x="0" y="-38100"/>
              <a:ext cx="10414000" cy="2705100"/>
            </a:xfrm>
            <a:prstGeom prst="rect">
              <a:avLst/>
            </a:prstGeom>
          </p:spPr>
          <p:txBody>
            <a:bodyPr anchor="ctr" rtlCol="false" tIns="50800" lIns="50800" bIns="50800" rIns="50800"/>
            <a:lstStyle/>
            <a:p>
              <a:pPr algn="l">
                <a:lnSpc>
                  <a:spcPts val="1679"/>
                </a:lnSpc>
              </a:pPr>
            </a:p>
          </p:txBody>
        </p:sp>
      </p:grpSp>
      <p:sp>
        <p:nvSpPr>
          <p:cNvPr name="TextBox 48" id="48"/>
          <p:cNvSpPr txBox="true"/>
          <p:nvPr/>
        </p:nvSpPr>
        <p:spPr>
          <a:xfrm rot="0">
            <a:off x="9810750" y="7762875"/>
            <a:ext cx="7239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49" id="49"/>
          <p:cNvSpPr txBox="true"/>
          <p:nvPr/>
        </p:nvSpPr>
        <p:spPr>
          <a:xfrm rot="0">
            <a:off x="9810750" y="8124825"/>
            <a:ext cx="7239000" cy="927735"/>
          </a:xfrm>
          <a:prstGeom prst="rect">
            <a:avLst/>
          </a:prstGeom>
        </p:spPr>
        <p:txBody>
          <a:bodyPr anchor="t" rtlCol="false" tIns="0" lIns="0" bIns="0" rIns="0">
            <a:spAutoFit/>
          </a:bodyPr>
          <a:lstStyle/>
          <a:p>
            <a:pPr algn="l">
              <a:lnSpc>
                <a:spcPts val="2430"/>
              </a:lnSpc>
            </a:pPr>
            <a:r>
              <a:rPr lang="en-US" sz="1800">
                <a:solidFill>
                  <a:srgbClr val="FFFFFF"/>
                </a:solidFill>
                <a:latin typeface="Arimo"/>
                <a:ea typeface="Arimo"/>
                <a:cs typeface="Arimo"/>
                <a:sym typeface="Arimo"/>
              </a:rPr>
              <a:t>Pressure control alone stops at the peak. Volume control — like driving the actuator with a syringe — follows the bare actuator over its limit at 104.7 kPa.</a:t>
            </a:r>
          </a:p>
        </p:txBody>
      </p:sp>
      <p:sp>
        <p:nvSpPr>
          <p:cNvPr name="TextBox 50" id="50"/>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51" id="51"/>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FEA · VERIFICATION</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Verifying the solver against exact solutions</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four benchmark tests with known answers before trusting any actuator result (fea_verify.py)</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Freeform 14" id="14" descr="Four verification plots: uniaxial tension, tube inflation, 1 - 2 nu law, mesh convergence"/>
          <p:cNvSpPr/>
          <p:nvPr/>
        </p:nvSpPr>
        <p:spPr>
          <a:xfrm flipH="false" flipV="false" rot="0">
            <a:off x="952500" y="2286000"/>
            <a:ext cx="16383000" cy="3810000"/>
          </a:xfrm>
          <a:custGeom>
            <a:avLst/>
            <a:gdLst/>
            <a:ahLst/>
            <a:cxnLst/>
            <a:rect r="r" b="b" t="t" l="l"/>
            <a:pathLst>
              <a:path h="3810000" w="16383000">
                <a:moveTo>
                  <a:pt x="0" y="0"/>
                </a:moveTo>
                <a:lnTo>
                  <a:pt x="16383000" y="0"/>
                </a:lnTo>
                <a:lnTo>
                  <a:pt x="16383000" y="3810000"/>
                </a:lnTo>
                <a:lnTo>
                  <a:pt x="0" y="3810000"/>
                </a:lnTo>
                <a:lnTo>
                  <a:pt x="0" y="0"/>
                </a:lnTo>
                <a:close/>
              </a:path>
            </a:pathLst>
          </a:custGeom>
          <a:blipFill>
            <a:blip r:embed="rId2"/>
            <a:stretch>
              <a:fillRect l="-282" t="0" r="-282" b="0"/>
            </a:stretch>
          </a:blipFill>
        </p:spPr>
      </p:sp>
      <p:grpSp>
        <p:nvGrpSpPr>
          <p:cNvPr name="Group 15" id="15"/>
          <p:cNvGrpSpPr/>
          <p:nvPr/>
        </p:nvGrpSpPr>
        <p:grpSpPr>
          <a:xfrm rot="0">
            <a:off x="952500" y="6305550"/>
            <a:ext cx="3905250" cy="1476375"/>
            <a:chOff x="0" y="0"/>
            <a:chExt cx="5207000" cy="1968500"/>
          </a:xfrm>
        </p:grpSpPr>
        <p:sp>
          <p:nvSpPr>
            <p:cNvPr name="Freeform 16" id="16"/>
            <p:cNvSpPr/>
            <p:nvPr/>
          </p:nvSpPr>
          <p:spPr>
            <a:xfrm flipH="false" flipV="false" rot="0">
              <a:off x="0" y="0"/>
              <a:ext cx="5207000" cy="1968500"/>
            </a:xfrm>
            <a:custGeom>
              <a:avLst/>
              <a:gdLst/>
              <a:ahLst/>
              <a:cxnLst/>
              <a:rect r="r" b="b" t="t" l="l"/>
              <a:pathLst>
                <a:path h="1968500" w="5207000">
                  <a:moveTo>
                    <a:pt x="43366" y="0"/>
                  </a:moveTo>
                  <a:lnTo>
                    <a:pt x="5163634" y="0"/>
                  </a:lnTo>
                  <a:cubicBezTo>
                    <a:pt x="5187585" y="0"/>
                    <a:pt x="5207000" y="19416"/>
                    <a:pt x="5207000" y="43366"/>
                  </a:cubicBezTo>
                  <a:lnTo>
                    <a:pt x="5207000" y="1925134"/>
                  </a:lnTo>
                  <a:cubicBezTo>
                    <a:pt x="5207000" y="1949085"/>
                    <a:pt x="5187585" y="1968500"/>
                    <a:pt x="5163634" y="1968500"/>
                  </a:cubicBezTo>
                  <a:lnTo>
                    <a:pt x="43366" y="1968500"/>
                  </a:lnTo>
                  <a:cubicBezTo>
                    <a:pt x="19416" y="1968500"/>
                    <a:pt x="0" y="1949085"/>
                    <a:pt x="0" y="1925134"/>
                  </a:cubicBezTo>
                  <a:lnTo>
                    <a:pt x="0" y="43366"/>
                  </a:lnTo>
                  <a:cubicBezTo>
                    <a:pt x="0" y="19416"/>
                    <a:pt x="19416" y="0"/>
                    <a:pt x="43366" y="0"/>
                  </a:cubicBezTo>
                  <a:close/>
                </a:path>
              </a:pathLst>
            </a:custGeom>
            <a:solidFill>
              <a:srgbClr val="F1F5FA"/>
            </a:solidFill>
          </p:spPr>
        </p:sp>
        <p:sp>
          <p:nvSpPr>
            <p:cNvPr name="TextBox 17" id="17"/>
            <p:cNvSpPr txBox="true"/>
            <p:nvPr/>
          </p:nvSpPr>
          <p:spPr>
            <a:xfrm>
              <a:off x="0" y="-38100"/>
              <a:ext cx="5207000" cy="20066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5105400" y="6305550"/>
            <a:ext cx="3905250" cy="1476375"/>
            <a:chOff x="0" y="0"/>
            <a:chExt cx="5207000" cy="1968500"/>
          </a:xfrm>
        </p:grpSpPr>
        <p:sp>
          <p:nvSpPr>
            <p:cNvPr name="Freeform 19" id="19"/>
            <p:cNvSpPr/>
            <p:nvPr/>
          </p:nvSpPr>
          <p:spPr>
            <a:xfrm flipH="false" flipV="false" rot="0">
              <a:off x="0" y="0"/>
              <a:ext cx="5207000" cy="1968500"/>
            </a:xfrm>
            <a:custGeom>
              <a:avLst/>
              <a:gdLst/>
              <a:ahLst/>
              <a:cxnLst/>
              <a:rect r="r" b="b" t="t" l="l"/>
              <a:pathLst>
                <a:path h="1968500" w="5207000">
                  <a:moveTo>
                    <a:pt x="43366" y="0"/>
                  </a:moveTo>
                  <a:lnTo>
                    <a:pt x="5163634" y="0"/>
                  </a:lnTo>
                  <a:cubicBezTo>
                    <a:pt x="5187585" y="0"/>
                    <a:pt x="5207000" y="19416"/>
                    <a:pt x="5207000" y="43366"/>
                  </a:cubicBezTo>
                  <a:lnTo>
                    <a:pt x="5207000" y="1925134"/>
                  </a:lnTo>
                  <a:cubicBezTo>
                    <a:pt x="5207000" y="1949085"/>
                    <a:pt x="5187585" y="1968500"/>
                    <a:pt x="5163634" y="1968500"/>
                  </a:cubicBezTo>
                  <a:lnTo>
                    <a:pt x="43366" y="1968500"/>
                  </a:lnTo>
                  <a:cubicBezTo>
                    <a:pt x="19416" y="1968500"/>
                    <a:pt x="0" y="1949085"/>
                    <a:pt x="0" y="1925134"/>
                  </a:cubicBezTo>
                  <a:lnTo>
                    <a:pt x="0" y="43366"/>
                  </a:lnTo>
                  <a:cubicBezTo>
                    <a:pt x="0" y="19416"/>
                    <a:pt x="19416" y="0"/>
                    <a:pt x="43366" y="0"/>
                  </a:cubicBezTo>
                  <a:close/>
                </a:path>
              </a:pathLst>
            </a:custGeom>
            <a:solidFill>
              <a:srgbClr val="F1F5FA"/>
            </a:solidFill>
          </p:spPr>
        </p:sp>
        <p:sp>
          <p:nvSpPr>
            <p:cNvPr name="TextBox 20" id="20"/>
            <p:cNvSpPr txBox="true"/>
            <p:nvPr/>
          </p:nvSpPr>
          <p:spPr>
            <a:xfrm>
              <a:off x="0" y="-38100"/>
              <a:ext cx="5207000" cy="20066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9258300" y="6305550"/>
            <a:ext cx="3905250" cy="1476375"/>
            <a:chOff x="0" y="0"/>
            <a:chExt cx="5207000" cy="1968500"/>
          </a:xfrm>
        </p:grpSpPr>
        <p:sp>
          <p:nvSpPr>
            <p:cNvPr name="Freeform 22" id="22"/>
            <p:cNvSpPr/>
            <p:nvPr/>
          </p:nvSpPr>
          <p:spPr>
            <a:xfrm flipH="false" flipV="false" rot="0">
              <a:off x="0" y="0"/>
              <a:ext cx="5207000" cy="1968500"/>
            </a:xfrm>
            <a:custGeom>
              <a:avLst/>
              <a:gdLst/>
              <a:ahLst/>
              <a:cxnLst/>
              <a:rect r="r" b="b" t="t" l="l"/>
              <a:pathLst>
                <a:path h="1968500" w="5207000">
                  <a:moveTo>
                    <a:pt x="43366" y="0"/>
                  </a:moveTo>
                  <a:lnTo>
                    <a:pt x="5163634" y="0"/>
                  </a:lnTo>
                  <a:cubicBezTo>
                    <a:pt x="5187585" y="0"/>
                    <a:pt x="5207000" y="19416"/>
                    <a:pt x="5207000" y="43366"/>
                  </a:cubicBezTo>
                  <a:lnTo>
                    <a:pt x="5207000" y="1925134"/>
                  </a:lnTo>
                  <a:cubicBezTo>
                    <a:pt x="5207000" y="1949085"/>
                    <a:pt x="5187585" y="1968500"/>
                    <a:pt x="5163634" y="1968500"/>
                  </a:cubicBezTo>
                  <a:lnTo>
                    <a:pt x="43366" y="1968500"/>
                  </a:lnTo>
                  <a:cubicBezTo>
                    <a:pt x="19416" y="1968500"/>
                    <a:pt x="0" y="1949085"/>
                    <a:pt x="0" y="1925134"/>
                  </a:cubicBezTo>
                  <a:lnTo>
                    <a:pt x="0" y="43366"/>
                  </a:lnTo>
                  <a:cubicBezTo>
                    <a:pt x="0" y="19416"/>
                    <a:pt x="19416" y="0"/>
                    <a:pt x="43366" y="0"/>
                  </a:cubicBezTo>
                  <a:close/>
                </a:path>
              </a:pathLst>
            </a:custGeom>
            <a:solidFill>
              <a:srgbClr val="F1F5FA"/>
            </a:solidFill>
          </p:spPr>
        </p:sp>
        <p:sp>
          <p:nvSpPr>
            <p:cNvPr name="TextBox 23" id="23"/>
            <p:cNvSpPr txBox="true"/>
            <p:nvPr/>
          </p:nvSpPr>
          <p:spPr>
            <a:xfrm>
              <a:off x="0" y="-38100"/>
              <a:ext cx="5207000" cy="20066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13411200" y="6305550"/>
            <a:ext cx="3924300" cy="1476375"/>
            <a:chOff x="0" y="0"/>
            <a:chExt cx="5232400" cy="1968500"/>
          </a:xfrm>
        </p:grpSpPr>
        <p:sp>
          <p:nvSpPr>
            <p:cNvPr name="Freeform 25" id="25"/>
            <p:cNvSpPr/>
            <p:nvPr/>
          </p:nvSpPr>
          <p:spPr>
            <a:xfrm flipH="false" flipV="false" rot="0">
              <a:off x="0" y="0"/>
              <a:ext cx="5232400" cy="1968500"/>
            </a:xfrm>
            <a:custGeom>
              <a:avLst/>
              <a:gdLst/>
              <a:ahLst/>
              <a:cxnLst/>
              <a:rect r="r" b="b" t="t" l="l"/>
              <a:pathLst>
                <a:path h="1968500" w="5232400">
                  <a:moveTo>
                    <a:pt x="43155" y="0"/>
                  </a:moveTo>
                  <a:lnTo>
                    <a:pt x="5189244" y="0"/>
                  </a:lnTo>
                  <a:cubicBezTo>
                    <a:pt x="5200690" y="0"/>
                    <a:pt x="5211667" y="4547"/>
                    <a:pt x="5219760" y="12640"/>
                  </a:cubicBezTo>
                  <a:cubicBezTo>
                    <a:pt x="5227853" y="20733"/>
                    <a:pt x="5232400" y="31710"/>
                    <a:pt x="5232400" y="43155"/>
                  </a:cubicBezTo>
                  <a:lnTo>
                    <a:pt x="5232400" y="1925345"/>
                  </a:lnTo>
                  <a:cubicBezTo>
                    <a:pt x="5232400" y="1936790"/>
                    <a:pt x="5227853" y="1947767"/>
                    <a:pt x="5219760" y="1955860"/>
                  </a:cubicBezTo>
                  <a:cubicBezTo>
                    <a:pt x="5211667" y="1963953"/>
                    <a:pt x="5200690" y="1968500"/>
                    <a:pt x="5189244" y="1968500"/>
                  </a:cubicBezTo>
                  <a:lnTo>
                    <a:pt x="43155" y="1968500"/>
                  </a:lnTo>
                  <a:cubicBezTo>
                    <a:pt x="31710" y="1968500"/>
                    <a:pt x="20733" y="1963953"/>
                    <a:pt x="12640" y="1955860"/>
                  </a:cubicBezTo>
                  <a:cubicBezTo>
                    <a:pt x="4547" y="1947767"/>
                    <a:pt x="0" y="1936790"/>
                    <a:pt x="0" y="1925345"/>
                  </a:cubicBezTo>
                  <a:lnTo>
                    <a:pt x="0" y="43155"/>
                  </a:lnTo>
                  <a:cubicBezTo>
                    <a:pt x="0" y="31710"/>
                    <a:pt x="4547" y="20733"/>
                    <a:pt x="12640" y="12640"/>
                  </a:cubicBezTo>
                  <a:cubicBezTo>
                    <a:pt x="20733" y="4547"/>
                    <a:pt x="31710" y="0"/>
                    <a:pt x="43155" y="0"/>
                  </a:cubicBezTo>
                  <a:close/>
                </a:path>
              </a:pathLst>
            </a:custGeom>
            <a:solidFill>
              <a:srgbClr val="F1F5FA"/>
            </a:solidFill>
          </p:spPr>
        </p:sp>
        <p:sp>
          <p:nvSpPr>
            <p:cNvPr name="TextBox 26" id="26"/>
            <p:cNvSpPr txBox="true"/>
            <p:nvPr/>
          </p:nvSpPr>
          <p:spPr>
            <a:xfrm>
              <a:off x="0" y="-38100"/>
              <a:ext cx="5232400" cy="20066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1181100" y="6372225"/>
            <a:ext cx="3448050" cy="499110"/>
          </a:xfrm>
          <a:prstGeom prst="rect">
            <a:avLst/>
          </a:prstGeom>
        </p:spPr>
        <p:txBody>
          <a:bodyPr anchor="t" rtlCol="false" tIns="0" lIns="0" bIns="0" rIns="0">
            <a:spAutoFit/>
          </a:bodyPr>
          <a:lstStyle/>
          <a:p>
            <a:pPr algn="l">
              <a:lnSpc>
                <a:spcPts val="3990"/>
              </a:lnSpc>
            </a:pPr>
            <a:r>
              <a:rPr lang="en-US" sz="2850" b="true">
                <a:solidFill>
                  <a:srgbClr val="4390F8"/>
                </a:solidFill>
                <a:latin typeface="Arimo Bold"/>
                <a:ea typeface="Arimo Bold"/>
                <a:cs typeface="Arimo Bold"/>
                <a:sym typeface="Arimo Bold"/>
              </a:rPr>
              <a:t>0.2 %</a:t>
            </a:r>
          </a:p>
        </p:txBody>
      </p:sp>
      <p:sp>
        <p:nvSpPr>
          <p:cNvPr name="TextBox 28" id="28"/>
          <p:cNvSpPr txBox="true"/>
          <p:nvPr/>
        </p:nvSpPr>
        <p:spPr>
          <a:xfrm rot="0">
            <a:off x="1181100" y="6924675"/>
            <a:ext cx="3448050" cy="504825"/>
          </a:xfrm>
          <a:prstGeom prst="rect">
            <a:avLst/>
          </a:prstGeom>
        </p:spPr>
        <p:txBody>
          <a:bodyPr anchor="t" rtlCol="false" tIns="0" lIns="0" bIns="0" rIns="0">
            <a:spAutoFit/>
          </a:bodyPr>
          <a:lstStyle/>
          <a:p>
            <a:pPr algn="l">
              <a:lnSpc>
                <a:spcPts val="1950"/>
              </a:lnSpc>
            </a:pPr>
            <a:r>
              <a:rPr lang="en-US" sz="1500">
                <a:solidFill>
                  <a:srgbClr val="3B4A5E"/>
                </a:solidFill>
                <a:latin typeface="Arimo"/>
                <a:ea typeface="Arimo"/>
                <a:cs typeface="Arimo"/>
                <a:sym typeface="Arimo"/>
              </a:rPr>
              <a:t>max error against the exact stress, stretch up to 3</a:t>
            </a:r>
          </a:p>
        </p:txBody>
      </p:sp>
      <p:sp>
        <p:nvSpPr>
          <p:cNvPr name="TextBox 29" id="29"/>
          <p:cNvSpPr txBox="true"/>
          <p:nvPr/>
        </p:nvSpPr>
        <p:spPr>
          <a:xfrm rot="0">
            <a:off x="5334000" y="6372225"/>
            <a:ext cx="3448050" cy="499110"/>
          </a:xfrm>
          <a:prstGeom prst="rect">
            <a:avLst/>
          </a:prstGeom>
        </p:spPr>
        <p:txBody>
          <a:bodyPr anchor="t" rtlCol="false" tIns="0" lIns="0" bIns="0" rIns="0">
            <a:spAutoFit/>
          </a:bodyPr>
          <a:lstStyle/>
          <a:p>
            <a:pPr algn="l">
              <a:lnSpc>
                <a:spcPts val="3990"/>
              </a:lnSpc>
            </a:pPr>
            <a:r>
              <a:rPr lang="en-US" sz="2850" b="true">
                <a:solidFill>
                  <a:srgbClr val="4390F8"/>
                </a:solidFill>
                <a:latin typeface="Arimo Bold"/>
                <a:ea typeface="Arimo Bold"/>
                <a:cs typeface="Arimo Bold"/>
                <a:sym typeface="Arimo Bold"/>
              </a:rPr>
              <a:t>0.05 %</a:t>
            </a:r>
          </a:p>
        </p:txBody>
      </p:sp>
      <p:sp>
        <p:nvSpPr>
          <p:cNvPr name="TextBox 30" id="30"/>
          <p:cNvSpPr txBox="true"/>
          <p:nvPr/>
        </p:nvSpPr>
        <p:spPr>
          <a:xfrm rot="0">
            <a:off x="5334000" y="6924675"/>
            <a:ext cx="3448050" cy="504825"/>
          </a:xfrm>
          <a:prstGeom prst="rect">
            <a:avLst/>
          </a:prstGeom>
        </p:spPr>
        <p:txBody>
          <a:bodyPr anchor="t" rtlCol="false" tIns="0" lIns="0" bIns="0" rIns="0">
            <a:spAutoFit/>
          </a:bodyPr>
          <a:lstStyle/>
          <a:p>
            <a:pPr algn="l">
              <a:lnSpc>
                <a:spcPts val="1950"/>
              </a:lnSpc>
            </a:pPr>
            <a:r>
              <a:rPr lang="en-US" sz="1500">
                <a:solidFill>
                  <a:srgbClr val="3B4A5E"/>
                </a:solidFill>
                <a:latin typeface="Arimo"/>
                <a:ea typeface="Arimo"/>
                <a:cs typeface="Arimo"/>
                <a:sym typeface="Arimo"/>
              </a:rPr>
              <a:t>max error against exact tube inflation, P/μ up to 0.7</a:t>
            </a:r>
          </a:p>
        </p:txBody>
      </p:sp>
      <p:sp>
        <p:nvSpPr>
          <p:cNvPr name="TextBox 31" id="31"/>
          <p:cNvSpPr txBox="true"/>
          <p:nvPr/>
        </p:nvSpPr>
        <p:spPr>
          <a:xfrm rot="0">
            <a:off x="9486900" y="6372225"/>
            <a:ext cx="3448050" cy="499110"/>
          </a:xfrm>
          <a:prstGeom prst="rect">
            <a:avLst/>
          </a:prstGeom>
        </p:spPr>
        <p:txBody>
          <a:bodyPr anchor="t" rtlCol="false" tIns="0" lIns="0" bIns="0" rIns="0">
            <a:spAutoFit/>
          </a:bodyPr>
          <a:lstStyle/>
          <a:p>
            <a:pPr algn="l">
              <a:lnSpc>
                <a:spcPts val="3990"/>
              </a:lnSpc>
            </a:pPr>
            <a:r>
              <a:rPr lang="en-US" sz="2850" b="true">
                <a:solidFill>
                  <a:srgbClr val="4390F8"/>
                </a:solidFill>
                <a:latin typeface="Arimo Bold"/>
                <a:ea typeface="Arimo Bold"/>
                <a:cs typeface="Arimo Bold"/>
                <a:sym typeface="Arimo Bold"/>
              </a:rPr>
              <a:t>0.0002</a:t>
            </a:r>
          </a:p>
        </p:txBody>
      </p:sp>
      <p:sp>
        <p:nvSpPr>
          <p:cNvPr name="TextBox 32" id="32"/>
          <p:cNvSpPr txBox="true"/>
          <p:nvPr/>
        </p:nvSpPr>
        <p:spPr>
          <a:xfrm rot="0">
            <a:off x="9486900" y="6924675"/>
            <a:ext cx="3448050" cy="504825"/>
          </a:xfrm>
          <a:prstGeom prst="rect">
            <a:avLst/>
          </a:prstGeom>
        </p:spPr>
        <p:txBody>
          <a:bodyPr anchor="t" rtlCol="false" tIns="0" lIns="0" bIns="0" rIns="0">
            <a:spAutoFit/>
          </a:bodyPr>
          <a:lstStyle/>
          <a:p>
            <a:pPr algn="l">
              <a:lnSpc>
                <a:spcPts val="1950"/>
              </a:lnSpc>
            </a:pPr>
            <a:r>
              <a:rPr lang="en-US" sz="1500">
                <a:solidFill>
                  <a:srgbClr val="3B4A5E"/>
                </a:solidFill>
                <a:latin typeface="Arimo"/>
                <a:ea typeface="Arimo"/>
                <a:cs typeface="Arimo"/>
                <a:sym typeface="Arimo"/>
              </a:rPr>
              <a:t>max deviation from the 1 − 2ν law, ν = 0 to 0.4995</a:t>
            </a:r>
          </a:p>
        </p:txBody>
      </p:sp>
      <p:sp>
        <p:nvSpPr>
          <p:cNvPr name="TextBox 33" id="33"/>
          <p:cNvSpPr txBox="true"/>
          <p:nvPr/>
        </p:nvSpPr>
        <p:spPr>
          <a:xfrm rot="0">
            <a:off x="13639800" y="6372225"/>
            <a:ext cx="3467100" cy="499110"/>
          </a:xfrm>
          <a:prstGeom prst="rect">
            <a:avLst/>
          </a:prstGeom>
        </p:spPr>
        <p:txBody>
          <a:bodyPr anchor="t" rtlCol="false" tIns="0" lIns="0" bIns="0" rIns="0">
            <a:spAutoFit/>
          </a:bodyPr>
          <a:lstStyle/>
          <a:p>
            <a:pPr algn="l">
              <a:lnSpc>
                <a:spcPts val="3990"/>
              </a:lnSpc>
            </a:pPr>
            <a:r>
              <a:rPr lang="en-US" sz="2850" b="true">
                <a:solidFill>
                  <a:srgbClr val="4390F8"/>
                </a:solidFill>
                <a:latin typeface="Arimo Bold"/>
                <a:ea typeface="Arimo Bold"/>
                <a:cs typeface="Arimo Bold"/>
                <a:sym typeface="Arimo Bold"/>
              </a:rPr>
              <a:t>0.5 %</a:t>
            </a:r>
          </a:p>
        </p:txBody>
      </p:sp>
      <p:sp>
        <p:nvSpPr>
          <p:cNvPr name="TextBox 34" id="34"/>
          <p:cNvSpPr txBox="true"/>
          <p:nvPr/>
        </p:nvSpPr>
        <p:spPr>
          <a:xfrm rot="0">
            <a:off x="13639800" y="6924675"/>
            <a:ext cx="3467100" cy="504825"/>
          </a:xfrm>
          <a:prstGeom prst="rect">
            <a:avLst/>
          </a:prstGeom>
        </p:spPr>
        <p:txBody>
          <a:bodyPr anchor="t" rtlCol="false" tIns="0" lIns="0" bIns="0" rIns="0">
            <a:spAutoFit/>
          </a:bodyPr>
          <a:lstStyle/>
          <a:p>
            <a:pPr algn="l">
              <a:lnSpc>
                <a:spcPts val="1950"/>
              </a:lnSpc>
            </a:pPr>
            <a:r>
              <a:rPr lang="en-US" sz="1500">
                <a:solidFill>
                  <a:srgbClr val="3B4A5E"/>
                </a:solidFill>
                <a:latin typeface="Arimo"/>
                <a:ea typeface="Arimo"/>
                <a:cs typeface="Arimo"/>
                <a:sym typeface="Arimo"/>
              </a:rPr>
              <a:t>medium mesh (588) vs fine mesh (1664) in tip deflection</a:t>
            </a:r>
          </a:p>
        </p:txBody>
      </p:sp>
      <p:grpSp>
        <p:nvGrpSpPr>
          <p:cNvPr name="Group 35" id="35"/>
          <p:cNvGrpSpPr/>
          <p:nvPr/>
        </p:nvGrpSpPr>
        <p:grpSpPr>
          <a:xfrm rot="0">
            <a:off x="952500" y="8048625"/>
            <a:ext cx="16383000" cy="1571625"/>
            <a:chOff x="0" y="0"/>
            <a:chExt cx="21844000" cy="2095500"/>
          </a:xfrm>
        </p:grpSpPr>
        <p:sp>
          <p:nvSpPr>
            <p:cNvPr name="Freeform 36" id="36"/>
            <p:cNvSpPr/>
            <p:nvPr/>
          </p:nvSpPr>
          <p:spPr>
            <a:xfrm flipH="false" flipV="false" rot="0">
              <a:off x="0" y="0"/>
              <a:ext cx="21844000" cy="2095500"/>
            </a:xfrm>
            <a:custGeom>
              <a:avLst/>
              <a:gdLst/>
              <a:ahLst/>
              <a:cxnLst/>
              <a:rect r="r" b="b" t="t" l="l"/>
              <a:pathLst>
                <a:path h="2095500" w="21844000">
                  <a:moveTo>
                    <a:pt x="13291" y="0"/>
                  </a:moveTo>
                  <a:lnTo>
                    <a:pt x="21830709" y="0"/>
                  </a:lnTo>
                  <a:cubicBezTo>
                    <a:pt x="21838050" y="0"/>
                    <a:pt x="21844000" y="5950"/>
                    <a:pt x="21844000" y="13291"/>
                  </a:cubicBezTo>
                  <a:lnTo>
                    <a:pt x="21844000" y="2082209"/>
                  </a:lnTo>
                  <a:cubicBezTo>
                    <a:pt x="21844000" y="2089550"/>
                    <a:pt x="21838050" y="2095500"/>
                    <a:pt x="21830709" y="2095500"/>
                  </a:cubicBezTo>
                  <a:lnTo>
                    <a:pt x="13291" y="2095500"/>
                  </a:lnTo>
                  <a:cubicBezTo>
                    <a:pt x="5950" y="2095500"/>
                    <a:pt x="0" y="2089550"/>
                    <a:pt x="0" y="2082209"/>
                  </a:cubicBezTo>
                  <a:lnTo>
                    <a:pt x="0" y="13291"/>
                  </a:lnTo>
                  <a:cubicBezTo>
                    <a:pt x="0" y="5950"/>
                    <a:pt x="5950" y="0"/>
                    <a:pt x="13291" y="0"/>
                  </a:cubicBezTo>
                  <a:close/>
                </a:path>
              </a:pathLst>
            </a:custGeom>
            <a:solidFill>
              <a:srgbClr val="0E1E3A"/>
            </a:solidFill>
          </p:spPr>
        </p:sp>
        <p:sp>
          <p:nvSpPr>
            <p:cNvPr name="TextBox 37" id="37"/>
            <p:cNvSpPr txBox="true"/>
            <p:nvPr/>
          </p:nvSpPr>
          <p:spPr>
            <a:xfrm>
              <a:off x="0" y="-38100"/>
              <a:ext cx="21844000" cy="21336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1257300" y="8181975"/>
            <a:ext cx="3810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39" id="39"/>
          <p:cNvSpPr txBox="true"/>
          <p:nvPr/>
        </p:nvSpPr>
        <p:spPr>
          <a:xfrm rot="0">
            <a:off x="1257300" y="8543925"/>
            <a:ext cx="15811500" cy="622935"/>
          </a:xfrm>
          <a:prstGeom prst="rect">
            <a:avLst/>
          </a:prstGeom>
        </p:spPr>
        <p:txBody>
          <a:bodyPr anchor="t" rtlCol="false" tIns="0" lIns="0" bIns="0" rIns="0">
            <a:spAutoFit/>
          </a:bodyPr>
          <a:lstStyle/>
          <a:p>
            <a:pPr algn="l">
              <a:lnSpc>
                <a:spcPts val="2430"/>
              </a:lnSpc>
            </a:pPr>
            <a:r>
              <a:rPr lang="en-US" sz="1800">
                <a:solidFill>
                  <a:srgbClr val="FFFFFF"/>
                </a:solidFill>
                <a:latin typeface="Arimo"/>
                <a:ea typeface="Arimo"/>
                <a:cs typeface="Arimo"/>
                <a:sym typeface="Arimo"/>
              </a:rPr>
              <a:t>The code reproduces exact large-strain solutions within a fraction of a percent and the medium mesh is converged. The FE results can be trusted; the main remaining uncertainty is the silicone's material data, which only tests can fix.</a:t>
            </a:r>
          </a:p>
        </p:txBody>
      </p:sp>
      <p:sp>
        <p:nvSpPr>
          <p:cNvPr name="TextBox 40" id="40"/>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41" id="41"/>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FEA · FINDINGS 1 / 3</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Bare vs sleeved: two very different responses</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pressure sweeps 0–110 kPa on both actuators, compared with beam theory (same geometry and silicone)</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Freeform 14" id="14" descr="Tip angle and tip deflection against pressure: beam theory and FE for bare and sleeved actuators"/>
          <p:cNvSpPr/>
          <p:nvPr/>
        </p:nvSpPr>
        <p:spPr>
          <a:xfrm flipH="false" flipV="false" rot="0">
            <a:off x="952500" y="2333625"/>
            <a:ext cx="11811000" cy="4486275"/>
          </a:xfrm>
          <a:custGeom>
            <a:avLst/>
            <a:gdLst/>
            <a:ahLst/>
            <a:cxnLst/>
            <a:rect r="r" b="b" t="t" l="l"/>
            <a:pathLst>
              <a:path h="4486275" w="11811000">
                <a:moveTo>
                  <a:pt x="0" y="0"/>
                </a:moveTo>
                <a:lnTo>
                  <a:pt x="11811000" y="0"/>
                </a:lnTo>
                <a:lnTo>
                  <a:pt x="11811000" y="4486275"/>
                </a:lnTo>
                <a:lnTo>
                  <a:pt x="0" y="4486275"/>
                </a:lnTo>
                <a:lnTo>
                  <a:pt x="0" y="0"/>
                </a:lnTo>
                <a:close/>
              </a:path>
            </a:pathLst>
          </a:custGeom>
          <a:blipFill>
            <a:blip r:embed="rId2"/>
            <a:stretch>
              <a:fillRect l="0" t="0" r="0" b="0"/>
            </a:stretch>
          </a:blipFill>
        </p:spPr>
      </p:sp>
      <p:grpSp>
        <p:nvGrpSpPr>
          <p:cNvPr name="Group 15" id="15"/>
          <p:cNvGrpSpPr/>
          <p:nvPr/>
        </p:nvGrpSpPr>
        <p:grpSpPr>
          <a:xfrm rot="0">
            <a:off x="13049250" y="2333625"/>
            <a:ext cx="4286250" cy="1381125"/>
            <a:chOff x="0" y="0"/>
            <a:chExt cx="5715000" cy="1841500"/>
          </a:xfrm>
        </p:grpSpPr>
        <p:sp>
          <p:nvSpPr>
            <p:cNvPr name="Freeform 16" id="16"/>
            <p:cNvSpPr/>
            <p:nvPr/>
          </p:nvSpPr>
          <p:spPr>
            <a:xfrm flipH="false" flipV="false" rot="0">
              <a:off x="0" y="0"/>
              <a:ext cx="5715000" cy="1841500"/>
            </a:xfrm>
            <a:custGeom>
              <a:avLst/>
              <a:gdLst/>
              <a:ahLst/>
              <a:cxnLst/>
              <a:rect r="r" b="b" t="t" l="l"/>
              <a:pathLst>
                <a:path h="1841500" w="5715000">
                  <a:moveTo>
                    <a:pt x="39511" y="0"/>
                  </a:moveTo>
                  <a:lnTo>
                    <a:pt x="5675489" y="0"/>
                  </a:lnTo>
                  <a:cubicBezTo>
                    <a:pt x="5685968" y="0"/>
                    <a:pt x="5696018" y="4163"/>
                    <a:pt x="5703427" y="11573"/>
                  </a:cubicBezTo>
                  <a:cubicBezTo>
                    <a:pt x="5710837" y="18982"/>
                    <a:pt x="5715000" y="29032"/>
                    <a:pt x="5715000" y="39511"/>
                  </a:cubicBezTo>
                  <a:lnTo>
                    <a:pt x="5715000" y="1801989"/>
                  </a:lnTo>
                  <a:cubicBezTo>
                    <a:pt x="5715000" y="1812468"/>
                    <a:pt x="5710837" y="1822518"/>
                    <a:pt x="5703427" y="1829927"/>
                  </a:cubicBezTo>
                  <a:cubicBezTo>
                    <a:pt x="5696018" y="1837337"/>
                    <a:pt x="5685968" y="1841500"/>
                    <a:pt x="5675489" y="1841500"/>
                  </a:cubicBezTo>
                  <a:lnTo>
                    <a:pt x="39511" y="1841500"/>
                  </a:lnTo>
                  <a:cubicBezTo>
                    <a:pt x="29032" y="1841500"/>
                    <a:pt x="18982" y="1837337"/>
                    <a:pt x="11573" y="1829927"/>
                  </a:cubicBezTo>
                  <a:cubicBezTo>
                    <a:pt x="4163" y="1822518"/>
                    <a:pt x="0" y="1812468"/>
                    <a:pt x="0" y="1801989"/>
                  </a:cubicBezTo>
                  <a:lnTo>
                    <a:pt x="0" y="39511"/>
                  </a:lnTo>
                  <a:cubicBezTo>
                    <a:pt x="0" y="29032"/>
                    <a:pt x="4163" y="18982"/>
                    <a:pt x="11573" y="11573"/>
                  </a:cubicBezTo>
                  <a:cubicBezTo>
                    <a:pt x="18982" y="4163"/>
                    <a:pt x="29032" y="0"/>
                    <a:pt x="39511" y="0"/>
                  </a:cubicBezTo>
                  <a:close/>
                </a:path>
              </a:pathLst>
            </a:custGeom>
            <a:solidFill>
              <a:srgbClr val="F1F5FA"/>
            </a:solidFill>
          </p:spPr>
        </p:sp>
        <p:sp>
          <p:nvSpPr>
            <p:cNvPr name="TextBox 17" id="17"/>
            <p:cNvSpPr txBox="true"/>
            <p:nvPr/>
          </p:nvSpPr>
          <p:spPr>
            <a:xfrm>
              <a:off x="0" y="-38100"/>
              <a:ext cx="5715000" cy="18796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13049250" y="3886200"/>
            <a:ext cx="4286250" cy="1381125"/>
            <a:chOff x="0" y="0"/>
            <a:chExt cx="5715000" cy="1841500"/>
          </a:xfrm>
        </p:grpSpPr>
        <p:sp>
          <p:nvSpPr>
            <p:cNvPr name="Freeform 19" id="19"/>
            <p:cNvSpPr/>
            <p:nvPr/>
          </p:nvSpPr>
          <p:spPr>
            <a:xfrm flipH="false" flipV="false" rot="0">
              <a:off x="0" y="0"/>
              <a:ext cx="5715000" cy="1841500"/>
            </a:xfrm>
            <a:custGeom>
              <a:avLst/>
              <a:gdLst/>
              <a:ahLst/>
              <a:cxnLst/>
              <a:rect r="r" b="b" t="t" l="l"/>
              <a:pathLst>
                <a:path h="1841500" w="5715000">
                  <a:moveTo>
                    <a:pt x="39511" y="0"/>
                  </a:moveTo>
                  <a:lnTo>
                    <a:pt x="5675489" y="0"/>
                  </a:lnTo>
                  <a:cubicBezTo>
                    <a:pt x="5685968" y="0"/>
                    <a:pt x="5696018" y="4163"/>
                    <a:pt x="5703427" y="11573"/>
                  </a:cubicBezTo>
                  <a:cubicBezTo>
                    <a:pt x="5710837" y="18982"/>
                    <a:pt x="5715000" y="29032"/>
                    <a:pt x="5715000" y="39511"/>
                  </a:cubicBezTo>
                  <a:lnTo>
                    <a:pt x="5715000" y="1801989"/>
                  </a:lnTo>
                  <a:cubicBezTo>
                    <a:pt x="5715000" y="1812468"/>
                    <a:pt x="5710837" y="1822518"/>
                    <a:pt x="5703427" y="1829927"/>
                  </a:cubicBezTo>
                  <a:cubicBezTo>
                    <a:pt x="5696018" y="1837337"/>
                    <a:pt x="5685968" y="1841500"/>
                    <a:pt x="5675489" y="1841500"/>
                  </a:cubicBezTo>
                  <a:lnTo>
                    <a:pt x="39511" y="1841500"/>
                  </a:lnTo>
                  <a:cubicBezTo>
                    <a:pt x="29032" y="1841500"/>
                    <a:pt x="18982" y="1837337"/>
                    <a:pt x="11573" y="1829927"/>
                  </a:cubicBezTo>
                  <a:cubicBezTo>
                    <a:pt x="4163" y="1822518"/>
                    <a:pt x="0" y="1812468"/>
                    <a:pt x="0" y="1801989"/>
                  </a:cubicBezTo>
                  <a:lnTo>
                    <a:pt x="0" y="39511"/>
                  </a:lnTo>
                  <a:cubicBezTo>
                    <a:pt x="0" y="29032"/>
                    <a:pt x="4163" y="18982"/>
                    <a:pt x="11573" y="11573"/>
                  </a:cubicBezTo>
                  <a:cubicBezTo>
                    <a:pt x="18982" y="4163"/>
                    <a:pt x="29032" y="0"/>
                    <a:pt x="39511" y="0"/>
                  </a:cubicBezTo>
                  <a:close/>
                </a:path>
              </a:pathLst>
            </a:custGeom>
            <a:solidFill>
              <a:srgbClr val="F1F5FA"/>
            </a:solidFill>
          </p:spPr>
        </p:sp>
        <p:sp>
          <p:nvSpPr>
            <p:cNvPr name="TextBox 20" id="20"/>
            <p:cNvSpPr txBox="true"/>
            <p:nvPr/>
          </p:nvSpPr>
          <p:spPr>
            <a:xfrm>
              <a:off x="0" y="-38100"/>
              <a:ext cx="5715000" cy="18796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13049250" y="5438775"/>
            <a:ext cx="4286250" cy="1381125"/>
            <a:chOff x="0" y="0"/>
            <a:chExt cx="5715000" cy="1841500"/>
          </a:xfrm>
        </p:grpSpPr>
        <p:sp>
          <p:nvSpPr>
            <p:cNvPr name="Freeform 22" id="22"/>
            <p:cNvSpPr/>
            <p:nvPr/>
          </p:nvSpPr>
          <p:spPr>
            <a:xfrm flipH="false" flipV="false" rot="0">
              <a:off x="0" y="0"/>
              <a:ext cx="5715000" cy="1841500"/>
            </a:xfrm>
            <a:custGeom>
              <a:avLst/>
              <a:gdLst/>
              <a:ahLst/>
              <a:cxnLst/>
              <a:rect r="r" b="b" t="t" l="l"/>
              <a:pathLst>
                <a:path h="1841500" w="5715000">
                  <a:moveTo>
                    <a:pt x="39511" y="0"/>
                  </a:moveTo>
                  <a:lnTo>
                    <a:pt x="5675489" y="0"/>
                  </a:lnTo>
                  <a:cubicBezTo>
                    <a:pt x="5685968" y="0"/>
                    <a:pt x="5696018" y="4163"/>
                    <a:pt x="5703427" y="11573"/>
                  </a:cubicBezTo>
                  <a:cubicBezTo>
                    <a:pt x="5710837" y="18982"/>
                    <a:pt x="5715000" y="29032"/>
                    <a:pt x="5715000" y="39511"/>
                  </a:cubicBezTo>
                  <a:lnTo>
                    <a:pt x="5715000" y="1801989"/>
                  </a:lnTo>
                  <a:cubicBezTo>
                    <a:pt x="5715000" y="1812468"/>
                    <a:pt x="5710837" y="1822518"/>
                    <a:pt x="5703427" y="1829927"/>
                  </a:cubicBezTo>
                  <a:cubicBezTo>
                    <a:pt x="5696018" y="1837337"/>
                    <a:pt x="5685968" y="1841500"/>
                    <a:pt x="5675489" y="1841500"/>
                  </a:cubicBezTo>
                  <a:lnTo>
                    <a:pt x="39511" y="1841500"/>
                  </a:lnTo>
                  <a:cubicBezTo>
                    <a:pt x="29032" y="1841500"/>
                    <a:pt x="18982" y="1837337"/>
                    <a:pt x="11573" y="1829927"/>
                  </a:cubicBezTo>
                  <a:cubicBezTo>
                    <a:pt x="4163" y="1822518"/>
                    <a:pt x="0" y="1812468"/>
                    <a:pt x="0" y="1801989"/>
                  </a:cubicBezTo>
                  <a:lnTo>
                    <a:pt x="0" y="39511"/>
                  </a:lnTo>
                  <a:cubicBezTo>
                    <a:pt x="0" y="29032"/>
                    <a:pt x="4163" y="18982"/>
                    <a:pt x="11573" y="11573"/>
                  </a:cubicBezTo>
                  <a:cubicBezTo>
                    <a:pt x="18982" y="4163"/>
                    <a:pt x="29032" y="0"/>
                    <a:pt x="39511" y="0"/>
                  </a:cubicBezTo>
                  <a:close/>
                </a:path>
              </a:pathLst>
            </a:custGeom>
            <a:solidFill>
              <a:srgbClr val="0E1E3A"/>
            </a:solidFill>
          </p:spPr>
        </p:sp>
        <p:sp>
          <p:nvSpPr>
            <p:cNvPr name="TextBox 23" id="23"/>
            <p:cNvSpPr txBox="true"/>
            <p:nvPr/>
          </p:nvSpPr>
          <p:spPr>
            <a:xfrm>
              <a:off x="0" y="-38100"/>
              <a:ext cx="5715000" cy="18796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13277850" y="2381250"/>
            <a:ext cx="3810000" cy="533400"/>
          </a:xfrm>
          <a:prstGeom prst="rect">
            <a:avLst/>
          </a:prstGeom>
        </p:spPr>
        <p:txBody>
          <a:bodyPr anchor="t" rtlCol="false" tIns="0" lIns="0" bIns="0" rIns="0">
            <a:spAutoFit/>
          </a:bodyPr>
          <a:lstStyle/>
          <a:p>
            <a:pPr algn="l">
              <a:lnSpc>
                <a:spcPts val="4200"/>
              </a:lnSpc>
            </a:pPr>
            <a:r>
              <a:rPr lang="en-US" sz="3000" b="true">
                <a:solidFill>
                  <a:srgbClr val="4390F8"/>
                </a:solidFill>
                <a:latin typeface="Arimo Bold"/>
                <a:ea typeface="Arimo Bold"/>
                <a:cs typeface="Arimo Bold"/>
                <a:sym typeface="Arimo Bold"/>
              </a:rPr>
              <a:t>≤ 5 %</a:t>
            </a:r>
          </a:p>
        </p:txBody>
      </p:sp>
      <p:sp>
        <p:nvSpPr>
          <p:cNvPr name="TextBox 25" id="25"/>
          <p:cNvSpPr txBox="true"/>
          <p:nvPr/>
        </p:nvSpPr>
        <p:spPr>
          <a:xfrm rot="0">
            <a:off x="13277850" y="2962275"/>
            <a:ext cx="3810000" cy="257175"/>
          </a:xfrm>
          <a:prstGeom prst="rect">
            <a:avLst/>
          </a:prstGeom>
        </p:spPr>
        <p:txBody>
          <a:bodyPr anchor="t" rtlCol="false" tIns="0" lIns="0" bIns="0" rIns="0">
            <a:spAutoFit/>
          </a:bodyPr>
          <a:lstStyle/>
          <a:p>
            <a:pPr algn="l">
              <a:lnSpc>
                <a:spcPts val="1950"/>
              </a:lnSpc>
            </a:pPr>
            <a:r>
              <a:rPr lang="en-US" sz="1500">
                <a:solidFill>
                  <a:srgbClr val="3B4A5E"/>
                </a:solidFill>
                <a:latin typeface="Arimo"/>
                <a:ea typeface="Arimo"/>
                <a:cs typeface="Arimo"/>
                <a:sym typeface="Arimo"/>
              </a:rPr>
              <a:t>sleeved FE vs beam theory, up to P/E ≈ 0.03</a:t>
            </a:r>
          </a:p>
        </p:txBody>
      </p:sp>
      <p:sp>
        <p:nvSpPr>
          <p:cNvPr name="TextBox 26" id="26"/>
          <p:cNvSpPr txBox="true"/>
          <p:nvPr/>
        </p:nvSpPr>
        <p:spPr>
          <a:xfrm rot="0">
            <a:off x="13277850" y="3933825"/>
            <a:ext cx="3810000" cy="533400"/>
          </a:xfrm>
          <a:prstGeom prst="rect">
            <a:avLst/>
          </a:prstGeom>
        </p:spPr>
        <p:txBody>
          <a:bodyPr anchor="t" rtlCol="false" tIns="0" lIns="0" bIns="0" rIns="0">
            <a:spAutoFit/>
          </a:bodyPr>
          <a:lstStyle/>
          <a:p>
            <a:pPr algn="l">
              <a:lnSpc>
                <a:spcPts val="4200"/>
              </a:lnSpc>
            </a:pPr>
            <a:r>
              <a:rPr lang="en-US" sz="3000" b="true">
                <a:solidFill>
                  <a:srgbClr val="4390F8"/>
                </a:solidFill>
                <a:latin typeface="Arimo Bold"/>
                <a:ea typeface="Arimo Bold"/>
                <a:cs typeface="Arimo Bold"/>
                <a:sym typeface="Arimo Bold"/>
              </a:rPr>
              <a:t>4–10×</a:t>
            </a:r>
          </a:p>
        </p:txBody>
      </p:sp>
      <p:sp>
        <p:nvSpPr>
          <p:cNvPr name="TextBox 27" id="27"/>
          <p:cNvSpPr txBox="true"/>
          <p:nvPr/>
        </p:nvSpPr>
        <p:spPr>
          <a:xfrm rot="0">
            <a:off x="13277850" y="4514850"/>
            <a:ext cx="3810000" cy="504825"/>
          </a:xfrm>
          <a:prstGeom prst="rect">
            <a:avLst/>
          </a:prstGeom>
        </p:spPr>
        <p:txBody>
          <a:bodyPr anchor="t" rtlCol="false" tIns="0" lIns="0" bIns="0" rIns="0">
            <a:spAutoFit/>
          </a:bodyPr>
          <a:lstStyle/>
          <a:p>
            <a:pPr algn="l">
              <a:lnSpc>
                <a:spcPts val="1950"/>
              </a:lnSpc>
            </a:pPr>
            <a:r>
              <a:rPr lang="en-US" sz="1500">
                <a:solidFill>
                  <a:srgbClr val="3B4A5E"/>
                </a:solidFill>
                <a:latin typeface="Arimo"/>
                <a:ea typeface="Arimo"/>
                <a:cs typeface="Arimo"/>
                <a:sym typeface="Arimo"/>
              </a:rPr>
              <a:t>beam theory over-predicts the bare actuator at low pressure</a:t>
            </a:r>
          </a:p>
        </p:txBody>
      </p:sp>
      <p:sp>
        <p:nvSpPr>
          <p:cNvPr name="TextBox 28" id="28"/>
          <p:cNvSpPr txBox="true"/>
          <p:nvPr/>
        </p:nvSpPr>
        <p:spPr>
          <a:xfrm rot="0">
            <a:off x="13277850" y="5486400"/>
            <a:ext cx="3810000" cy="533400"/>
          </a:xfrm>
          <a:prstGeom prst="rect">
            <a:avLst/>
          </a:prstGeom>
        </p:spPr>
        <p:txBody>
          <a:bodyPr anchor="t" rtlCol="false" tIns="0" lIns="0" bIns="0" rIns="0">
            <a:spAutoFit/>
          </a:bodyPr>
          <a:lstStyle/>
          <a:p>
            <a:pPr algn="l">
              <a:lnSpc>
                <a:spcPts val="4200"/>
              </a:lnSpc>
            </a:pPr>
            <a:r>
              <a:rPr lang="en-US" sz="3000" b="true">
                <a:solidFill>
                  <a:srgbClr val="FFFFFF"/>
                </a:solidFill>
                <a:latin typeface="Arimo Bold"/>
                <a:ea typeface="Arimo Bold"/>
                <a:cs typeface="Arimo Bold"/>
                <a:sym typeface="Arimo Bold"/>
              </a:rPr>
              <a:t>104.7 kPa</a:t>
            </a:r>
          </a:p>
        </p:txBody>
      </p:sp>
      <p:sp>
        <p:nvSpPr>
          <p:cNvPr name="TextBox 29" id="29"/>
          <p:cNvSpPr txBox="true"/>
          <p:nvPr/>
        </p:nvSpPr>
        <p:spPr>
          <a:xfrm rot="0">
            <a:off x="13277850" y="6067425"/>
            <a:ext cx="3810000" cy="257175"/>
          </a:xfrm>
          <a:prstGeom prst="rect">
            <a:avLst/>
          </a:prstGeom>
        </p:spPr>
        <p:txBody>
          <a:bodyPr anchor="t" rtlCol="false" tIns="0" lIns="0" bIns="0" rIns="0">
            <a:spAutoFit/>
          </a:bodyPr>
          <a:lstStyle/>
          <a:p>
            <a:pPr algn="l">
              <a:lnSpc>
                <a:spcPts val="1950"/>
              </a:lnSpc>
            </a:pPr>
            <a:r>
              <a:rPr lang="en-US" sz="1500">
                <a:solidFill>
                  <a:srgbClr val="DCE5EF"/>
                </a:solidFill>
                <a:latin typeface="Arimo"/>
                <a:ea typeface="Arimo"/>
                <a:cs typeface="Arimo"/>
                <a:sym typeface="Arimo"/>
              </a:rPr>
              <a:t>bare ballooning limit = 0.523 μ (E = 0.6 MPa)</a:t>
            </a:r>
          </a:p>
        </p:txBody>
      </p:sp>
      <p:grpSp>
        <p:nvGrpSpPr>
          <p:cNvPr name="Group 30" id="30"/>
          <p:cNvGrpSpPr/>
          <p:nvPr/>
        </p:nvGrpSpPr>
        <p:grpSpPr>
          <a:xfrm rot="0">
            <a:off x="952500" y="7048500"/>
            <a:ext cx="16383000" cy="1047750"/>
            <a:chOff x="0" y="0"/>
            <a:chExt cx="21844000" cy="1397000"/>
          </a:xfrm>
        </p:grpSpPr>
        <p:sp>
          <p:nvSpPr>
            <p:cNvPr name="Freeform 31" id="31"/>
            <p:cNvSpPr/>
            <p:nvPr/>
          </p:nvSpPr>
          <p:spPr>
            <a:xfrm flipH="false" flipV="false" rot="0">
              <a:off x="0" y="0"/>
              <a:ext cx="21844000" cy="1397000"/>
            </a:xfrm>
            <a:custGeom>
              <a:avLst/>
              <a:gdLst/>
              <a:ahLst/>
              <a:cxnLst/>
              <a:rect r="r" b="b" t="t" l="l"/>
              <a:pathLst>
                <a:path h="1397000" w="21844000">
                  <a:moveTo>
                    <a:pt x="10337" y="0"/>
                  </a:moveTo>
                  <a:lnTo>
                    <a:pt x="21833663" y="0"/>
                  </a:lnTo>
                  <a:cubicBezTo>
                    <a:pt x="21839372" y="0"/>
                    <a:pt x="21844000" y="4628"/>
                    <a:pt x="21844000" y="10337"/>
                  </a:cubicBezTo>
                  <a:lnTo>
                    <a:pt x="21844000" y="1386663"/>
                  </a:lnTo>
                  <a:cubicBezTo>
                    <a:pt x="21844000" y="1392372"/>
                    <a:pt x="21839372" y="1397000"/>
                    <a:pt x="21833663" y="1397000"/>
                  </a:cubicBezTo>
                  <a:lnTo>
                    <a:pt x="10337" y="1397000"/>
                  </a:lnTo>
                  <a:cubicBezTo>
                    <a:pt x="4628" y="1397000"/>
                    <a:pt x="0" y="1392372"/>
                    <a:pt x="0" y="1386663"/>
                  </a:cubicBezTo>
                  <a:lnTo>
                    <a:pt x="0" y="10337"/>
                  </a:lnTo>
                  <a:cubicBezTo>
                    <a:pt x="0" y="4628"/>
                    <a:pt x="4628" y="0"/>
                    <a:pt x="10337" y="0"/>
                  </a:cubicBezTo>
                  <a:close/>
                </a:path>
              </a:pathLst>
            </a:custGeom>
            <a:solidFill>
              <a:srgbClr val="F1F5FA"/>
            </a:solidFill>
          </p:spPr>
        </p:sp>
        <p:sp>
          <p:nvSpPr>
            <p:cNvPr name="TextBox 32" id="32"/>
            <p:cNvSpPr txBox="true"/>
            <p:nvPr/>
          </p:nvSpPr>
          <p:spPr>
            <a:xfrm>
              <a:off x="0" y="-38100"/>
              <a:ext cx="21844000" cy="14351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1238250" y="7343775"/>
            <a:ext cx="15811500" cy="352425"/>
          </a:xfrm>
          <a:prstGeom prst="rect">
            <a:avLst/>
          </a:prstGeom>
        </p:spPr>
        <p:txBody>
          <a:bodyPr anchor="t" rtlCol="false" tIns="0" lIns="0" bIns="0" rIns="0">
            <a:spAutoFit/>
          </a:bodyPr>
          <a:lstStyle/>
          <a:p>
            <a:pPr algn="ctr">
              <a:lnSpc>
                <a:spcPts val="2625"/>
              </a:lnSpc>
            </a:pPr>
            <a:r>
              <a:rPr lang="en-US" sz="1875" b="true">
                <a:solidFill>
                  <a:srgbClr val="0E1E3A"/>
                </a:solidFill>
                <a:latin typeface="Arimo Bold"/>
                <a:ea typeface="Arimo Bold"/>
                <a:cs typeface="Arimo Bold"/>
                <a:sym typeface="Arimo Bold"/>
              </a:rPr>
              <a:t>Tip deflection δ:   60 kPa → bare 5.9 mm, sleeved 16.3 mm   ·   100 kPa → bare 37.6 mm, sleeved 33.7 mm   ·   at the limit → bare 60 mm</a:t>
            </a:r>
          </a:p>
        </p:txBody>
      </p:sp>
      <p:grpSp>
        <p:nvGrpSpPr>
          <p:cNvPr name="Group 34" id="34"/>
          <p:cNvGrpSpPr/>
          <p:nvPr/>
        </p:nvGrpSpPr>
        <p:grpSpPr>
          <a:xfrm rot="0">
            <a:off x="952500" y="8305800"/>
            <a:ext cx="16383000" cy="1314450"/>
            <a:chOff x="0" y="0"/>
            <a:chExt cx="21844000" cy="1752600"/>
          </a:xfrm>
        </p:grpSpPr>
        <p:sp>
          <p:nvSpPr>
            <p:cNvPr name="Freeform 35" id="35"/>
            <p:cNvSpPr/>
            <p:nvPr/>
          </p:nvSpPr>
          <p:spPr>
            <a:xfrm flipH="false" flipV="false" rot="0">
              <a:off x="0" y="0"/>
              <a:ext cx="21844000" cy="1752600"/>
            </a:xfrm>
            <a:custGeom>
              <a:avLst/>
              <a:gdLst/>
              <a:ahLst/>
              <a:cxnLst/>
              <a:rect r="r" b="b" t="t" l="l"/>
              <a:pathLst>
                <a:path h="1752600" w="21844000">
                  <a:moveTo>
                    <a:pt x="13291" y="0"/>
                  </a:moveTo>
                  <a:lnTo>
                    <a:pt x="21830709" y="0"/>
                  </a:lnTo>
                  <a:cubicBezTo>
                    <a:pt x="21838050" y="0"/>
                    <a:pt x="21844000" y="5950"/>
                    <a:pt x="21844000" y="13291"/>
                  </a:cubicBezTo>
                  <a:lnTo>
                    <a:pt x="21844000" y="1739309"/>
                  </a:lnTo>
                  <a:cubicBezTo>
                    <a:pt x="21844000" y="1746650"/>
                    <a:pt x="21838050" y="1752600"/>
                    <a:pt x="21830709" y="1752600"/>
                  </a:cubicBezTo>
                  <a:lnTo>
                    <a:pt x="13291" y="1752600"/>
                  </a:lnTo>
                  <a:cubicBezTo>
                    <a:pt x="5950" y="1752600"/>
                    <a:pt x="0" y="1746650"/>
                    <a:pt x="0" y="1739309"/>
                  </a:cubicBezTo>
                  <a:lnTo>
                    <a:pt x="0" y="13291"/>
                  </a:lnTo>
                  <a:cubicBezTo>
                    <a:pt x="0" y="5950"/>
                    <a:pt x="5950" y="0"/>
                    <a:pt x="13291" y="0"/>
                  </a:cubicBezTo>
                  <a:close/>
                </a:path>
              </a:pathLst>
            </a:custGeom>
            <a:solidFill>
              <a:srgbClr val="0E1E3A"/>
            </a:solidFill>
          </p:spPr>
        </p:sp>
        <p:sp>
          <p:nvSpPr>
            <p:cNvPr name="TextBox 36" id="36"/>
            <p:cNvSpPr txBox="true"/>
            <p:nvPr/>
          </p:nvSpPr>
          <p:spPr>
            <a:xfrm>
              <a:off x="0" y="-38100"/>
              <a:ext cx="21844000" cy="17907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257300" y="8410575"/>
            <a:ext cx="3810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38" id="38"/>
          <p:cNvSpPr txBox="true"/>
          <p:nvPr/>
        </p:nvSpPr>
        <p:spPr>
          <a:xfrm rot="0">
            <a:off x="1257300" y="8743950"/>
            <a:ext cx="15811500" cy="335756"/>
          </a:xfrm>
          <a:prstGeom prst="rect">
            <a:avLst/>
          </a:prstGeom>
        </p:spPr>
        <p:txBody>
          <a:bodyPr anchor="t" rtlCol="false" tIns="0" lIns="0" bIns="0" rIns="0">
            <a:spAutoFit/>
          </a:bodyPr>
          <a:lstStyle/>
          <a:p>
            <a:pPr algn="l">
              <a:lnSpc>
                <a:spcPts val="2531"/>
              </a:lnSpc>
            </a:pPr>
            <a:r>
              <a:rPr lang="en-US" sz="1875">
                <a:solidFill>
                  <a:srgbClr val="FFFFFF"/>
                </a:solidFill>
                <a:latin typeface="Arimo"/>
                <a:ea typeface="Arimo"/>
                <a:cs typeface="Arimo"/>
                <a:sym typeface="Arimo"/>
              </a:rPr>
              <a:t>The sleeve makes the response near-linear and predictable. The bare actuator barely moves at low pressure, then runs away near its ballooning limit.</a:t>
            </a:r>
          </a:p>
        </p:txBody>
      </p:sp>
      <p:sp>
        <p:nvSpPr>
          <p:cNvPr name="TextBox 39" id="39"/>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40" id="40"/>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FEA · FINDINGS 2 / 3</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Deformed shapes: where the bare actuator balloons</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cut the deformed model along the bending plane at 40, 80, 100 kPa and at the limit; colour = stretch</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Freeform 14" id="14" descr="Deformed bending-plane sections, bare (top) and sleeved (bottom), coloured by stretch"/>
          <p:cNvSpPr/>
          <p:nvPr/>
        </p:nvSpPr>
        <p:spPr>
          <a:xfrm flipH="false" flipV="false" rot="0">
            <a:off x="952500" y="2333625"/>
            <a:ext cx="12382500" cy="6496050"/>
          </a:xfrm>
          <a:custGeom>
            <a:avLst/>
            <a:gdLst/>
            <a:ahLst/>
            <a:cxnLst/>
            <a:rect r="r" b="b" t="t" l="l"/>
            <a:pathLst>
              <a:path h="6496050" w="12382500">
                <a:moveTo>
                  <a:pt x="0" y="0"/>
                </a:moveTo>
                <a:lnTo>
                  <a:pt x="12382500" y="0"/>
                </a:lnTo>
                <a:lnTo>
                  <a:pt x="12382500" y="6496050"/>
                </a:lnTo>
                <a:lnTo>
                  <a:pt x="0" y="6496050"/>
                </a:lnTo>
                <a:lnTo>
                  <a:pt x="0" y="0"/>
                </a:lnTo>
                <a:close/>
              </a:path>
            </a:pathLst>
          </a:custGeom>
          <a:blipFill>
            <a:blip r:embed="rId2"/>
            <a:stretch>
              <a:fillRect l="-82" t="0" r="-82" b="0"/>
            </a:stretch>
          </a:blipFill>
        </p:spPr>
      </p:sp>
      <p:sp>
        <p:nvSpPr>
          <p:cNvPr name="TextBox 15" id="15"/>
          <p:cNvSpPr txBox="true"/>
          <p:nvPr/>
        </p:nvSpPr>
        <p:spPr>
          <a:xfrm rot="0">
            <a:off x="952500" y="8982075"/>
            <a:ext cx="12382500" cy="276225"/>
          </a:xfrm>
          <a:prstGeom prst="rect">
            <a:avLst/>
          </a:prstGeom>
        </p:spPr>
        <p:txBody>
          <a:bodyPr anchor="t" rtlCol="false" tIns="0" lIns="0" bIns="0" rIns="0">
            <a:spAutoFit/>
          </a:bodyPr>
          <a:lstStyle/>
          <a:p>
            <a:pPr algn="l">
              <a:lnSpc>
                <a:spcPts val="2100"/>
              </a:lnSpc>
            </a:pPr>
            <a:r>
              <a:rPr lang="en-US" sz="1500">
                <a:solidFill>
                  <a:srgbClr val="3B4A5E"/>
                </a:solidFill>
                <a:latin typeface="Arimo"/>
                <a:ea typeface="Arimo"/>
                <a:cs typeface="Arimo"/>
                <a:sym typeface="Arimo"/>
              </a:rPr>
              <a:t>Dotted outline = undeformed shape. Peak principal stretch reaches 2.5 at the limit.</a:t>
            </a:r>
          </a:p>
        </p:txBody>
      </p:sp>
      <p:grpSp>
        <p:nvGrpSpPr>
          <p:cNvPr name="Group 16" id="16"/>
          <p:cNvGrpSpPr/>
          <p:nvPr/>
        </p:nvGrpSpPr>
        <p:grpSpPr>
          <a:xfrm rot="0">
            <a:off x="13620750" y="2333625"/>
            <a:ext cx="3714750" cy="2286000"/>
            <a:chOff x="0" y="0"/>
            <a:chExt cx="4953000" cy="3048000"/>
          </a:xfrm>
        </p:grpSpPr>
        <p:sp>
          <p:nvSpPr>
            <p:cNvPr name="Freeform 17" id="17"/>
            <p:cNvSpPr/>
            <p:nvPr/>
          </p:nvSpPr>
          <p:spPr>
            <a:xfrm flipH="false" flipV="false" rot="0">
              <a:off x="0" y="0"/>
              <a:ext cx="4953000" cy="3048000"/>
            </a:xfrm>
            <a:custGeom>
              <a:avLst/>
              <a:gdLst/>
              <a:ahLst/>
              <a:cxnLst/>
              <a:rect r="r" b="b" t="t" l="l"/>
              <a:pathLst>
                <a:path h="3048000" w="4953000">
                  <a:moveTo>
                    <a:pt x="45590" y="0"/>
                  </a:moveTo>
                  <a:lnTo>
                    <a:pt x="4907410" y="0"/>
                  </a:lnTo>
                  <a:cubicBezTo>
                    <a:pt x="4932589" y="0"/>
                    <a:pt x="4953000" y="20411"/>
                    <a:pt x="4953000" y="45590"/>
                  </a:cubicBezTo>
                  <a:lnTo>
                    <a:pt x="4953000" y="3002410"/>
                  </a:lnTo>
                  <a:cubicBezTo>
                    <a:pt x="4953000" y="3027589"/>
                    <a:pt x="4932589" y="3048000"/>
                    <a:pt x="4907410" y="3048000"/>
                  </a:cubicBezTo>
                  <a:lnTo>
                    <a:pt x="45590" y="3048000"/>
                  </a:lnTo>
                  <a:cubicBezTo>
                    <a:pt x="20411" y="3048000"/>
                    <a:pt x="0" y="3027589"/>
                    <a:pt x="0" y="3002410"/>
                  </a:cubicBezTo>
                  <a:lnTo>
                    <a:pt x="0" y="45590"/>
                  </a:lnTo>
                  <a:cubicBezTo>
                    <a:pt x="0" y="20411"/>
                    <a:pt x="20411" y="0"/>
                    <a:pt x="45590" y="0"/>
                  </a:cubicBezTo>
                  <a:close/>
                </a:path>
              </a:pathLst>
            </a:custGeom>
            <a:solidFill>
              <a:srgbClr val="F1F5FA"/>
            </a:solidFill>
          </p:spPr>
        </p:sp>
        <p:sp>
          <p:nvSpPr>
            <p:cNvPr name="TextBox 18" id="18"/>
            <p:cNvSpPr txBox="true"/>
            <p:nvPr/>
          </p:nvSpPr>
          <p:spPr>
            <a:xfrm>
              <a:off x="0" y="-38100"/>
              <a:ext cx="4953000" cy="3086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13849350" y="2447925"/>
            <a:ext cx="3286125"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BARE (TOP ROW)</a:t>
            </a:r>
          </a:p>
        </p:txBody>
      </p:sp>
      <p:sp>
        <p:nvSpPr>
          <p:cNvPr name="TextBox 20" id="20"/>
          <p:cNvSpPr txBox="true"/>
          <p:nvPr/>
        </p:nvSpPr>
        <p:spPr>
          <a:xfrm rot="0">
            <a:off x="13849350" y="2790825"/>
            <a:ext cx="3286125" cy="1121093"/>
          </a:xfrm>
          <a:prstGeom prst="rect">
            <a:avLst/>
          </a:prstGeom>
        </p:spPr>
        <p:txBody>
          <a:bodyPr anchor="t" rtlCol="false" tIns="0" lIns="0" bIns="0" rIns="0">
            <a:spAutoFit/>
          </a:bodyPr>
          <a:lstStyle/>
          <a:p>
            <a:pPr algn="l">
              <a:lnSpc>
                <a:spcPts val="2227"/>
              </a:lnSpc>
            </a:pPr>
            <a:r>
              <a:rPr lang="en-US" sz="1650">
                <a:solidFill>
                  <a:srgbClr val="3B4A5E"/>
                </a:solidFill>
                <a:latin typeface="Arimo"/>
                <a:ea typeface="Arimo"/>
                <a:cs typeface="Arimo"/>
                <a:sym typeface="Arimo"/>
              </a:rPr>
              <a:t>The thin wall balloons. At the 104.7 kPa limit the cavity holds 4× its volume and the thin wall is ⅓ of its thickness.</a:t>
            </a:r>
          </a:p>
        </p:txBody>
      </p:sp>
      <p:grpSp>
        <p:nvGrpSpPr>
          <p:cNvPr name="Group 21" id="21"/>
          <p:cNvGrpSpPr/>
          <p:nvPr/>
        </p:nvGrpSpPr>
        <p:grpSpPr>
          <a:xfrm rot="0">
            <a:off x="13620750" y="4791075"/>
            <a:ext cx="3714750" cy="1666875"/>
            <a:chOff x="0" y="0"/>
            <a:chExt cx="4953000" cy="2222500"/>
          </a:xfrm>
        </p:grpSpPr>
        <p:sp>
          <p:nvSpPr>
            <p:cNvPr name="Freeform 22" id="22"/>
            <p:cNvSpPr/>
            <p:nvPr/>
          </p:nvSpPr>
          <p:spPr>
            <a:xfrm flipH="false" flipV="false" rot="0">
              <a:off x="0" y="0"/>
              <a:ext cx="4953000" cy="2222500"/>
            </a:xfrm>
            <a:custGeom>
              <a:avLst/>
              <a:gdLst/>
              <a:ahLst/>
              <a:cxnLst/>
              <a:rect r="r" b="b" t="t" l="l"/>
              <a:pathLst>
                <a:path h="2222500" w="4953000">
                  <a:moveTo>
                    <a:pt x="45590" y="0"/>
                  </a:moveTo>
                  <a:lnTo>
                    <a:pt x="4907410" y="0"/>
                  </a:lnTo>
                  <a:cubicBezTo>
                    <a:pt x="4932589" y="0"/>
                    <a:pt x="4953000" y="20411"/>
                    <a:pt x="4953000" y="45590"/>
                  </a:cubicBezTo>
                  <a:lnTo>
                    <a:pt x="4953000" y="2176910"/>
                  </a:lnTo>
                  <a:cubicBezTo>
                    <a:pt x="4953000" y="2202089"/>
                    <a:pt x="4932589" y="2222500"/>
                    <a:pt x="4907410" y="2222500"/>
                  </a:cubicBezTo>
                  <a:lnTo>
                    <a:pt x="45590" y="2222500"/>
                  </a:lnTo>
                  <a:cubicBezTo>
                    <a:pt x="20411" y="2222500"/>
                    <a:pt x="0" y="2202089"/>
                    <a:pt x="0" y="2176910"/>
                  </a:cubicBezTo>
                  <a:lnTo>
                    <a:pt x="0" y="45590"/>
                  </a:lnTo>
                  <a:cubicBezTo>
                    <a:pt x="0" y="20411"/>
                    <a:pt x="20411" y="0"/>
                    <a:pt x="45590" y="0"/>
                  </a:cubicBezTo>
                  <a:close/>
                </a:path>
              </a:pathLst>
            </a:custGeom>
            <a:solidFill>
              <a:srgbClr val="F1F5FA"/>
            </a:solidFill>
          </p:spPr>
        </p:sp>
        <p:sp>
          <p:nvSpPr>
            <p:cNvPr name="TextBox 23" id="23"/>
            <p:cNvSpPr txBox="true"/>
            <p:nvPr/>
          </p:nvSpPr>
          <p:spPr>
            <a:xfrm>
              <a:off x="0" y="-38100"/>
              <a:ext cx="4953000" cy="22606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13849350" y="4905375"/>
            <a:ext cx="3286125"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SLEEVED (BOTTOM ROW)</a:t>
            </a:r>
          </a:p>
        </p:txBody>
      </p:sp>
      <p:sp>
        <p:nvSpPr>
          <p:cNvPr name="TextBox 25" id="25"/>
          <p:cNvSpPr txBox="true"/>
          <p:nvPr/>
        </p:nvSpPr>
        <p:spPr>
          <a:xfrm rot="0">
            <a:off x="13849350" y="5248275"/>
            <a:ext cx="3286125" cy="568643"/>
          </a:xfrm>
          <a:prstGeom prst="rect">
            <a:avLst/>
          </a:prstGeom>
        </p:spPr>
        <p:txBody>
          <a:bodyPr anchor="t" rtlCol="false" tIns="0" lIns="0" bIns="0" rIns="0">
            <a:spAutoFit/>
          </a:bodyPr>
          <a:lstStyle/>
          <a:p>
            <a:pPr algn="l">
              <a:lnSpc>
                <a:spcPts val="2227"/>
              </a:lnSpc>
            </a:pPr>
            <a:r>
              <a:rPr lang="en-US" sz="1650">
                <a:solidFill>
                  <a:srgbClr val="3B4A5E"/>
                </a:solidFill>
                <a:latin typeface="Arimo"/>
                <a:ea typeface="Arimo"/>
                <a:cs typeface="Arimo"/>
                <a:sym typeface="Arimo"/>
              </a:rPr>
              <a:t>Smooth, uniform curvature; no ballooning up to 110 kPa.</a:t>
            </a:r>
          </a:p>
        </p:txBody>
      </p:sp>
      <p:grpSp>
        <p:nvGrpSpPr>
          <p:cNvPr name="Group 26" id="26"/>
          <p:cNvGrpSpPr/>
          <p:nvPr/>
        </p:nvGrpSpPr>
        <p:grpSpPr>
          <a:xfrm rot="0">
            <a:off x="13620750" y="6629400"/>
            <a:ext cx="3714750" cy="2990850"/>
            <a:chOff x="0" y="0"/>
            <a:chExt cx="4953000" cy="3987800"/>
          </a:xfrm>
        </p:grpSpPr>
        <p:sp>
          <p:nvSpPr>
            <p:cNvPr name="Freeform 27" id="27"/>
            <p:cNvSpPr/>
            <p:nvPr/>
          </p:nvSpPr>
          <p:spPr>
            <a:xfrm flipH="false" flipV="false" rot="0">
              <a:off x="0" y="0"/>
              <a:ext cx="4953000" cy="3987800"/>
            </a:xfrm>
            <a:custGeom>
              <a:avLst/>
              <a:gdLst/>
              <a:ahLst/>
              <a:cxnLst/>
              <a:rect r="r" b="b" t="t" l="l"/>
              <a:pathLst>
                <a:path h="3987800" w="4953000">
                  <a:moveTo>
                    <a:pt x="45590" y="0"/>
                  </a:moveTo>
                  <a:lnTo>
                    <a:pt x="4907410" y="0"/>
                  </a:lnTo>
                  <a:cubicBezTo>
                    <a:pt x="4932589" y="0"/>
                    <a:pt x="4953000" y="20411"/>
                    <a:pt x="4953000" y="45590"/>
                  </a:cubicBezTo>
                  <a:lnTo>
                    <a:pt x="4953000" y="3942210"/>
                  </a:lnTo>
                  <a:cubicBezTo>
                    <a:pt x="4953000" y="3967389"/>
                    <a:pt x="4932589" y="3987800"/>
                    <a:pt x="4907410" y="3987800"/>
                  </a:cubicBezTo>
                  <a:lnTo>
                    <a:pt x="45590" y="3987800"/>
                  </a:lnTo>
                  <a:cubicBezTo>
                    <a:pt x="20411" y="3987800"/>
                    <a:pt x="0" y="3967389"/>
                    <a:pt x="0" y="3942210"/>
                  </a:cubicBezTo>
                  <a:lnTo>
                    <a:pt x="0" y="45590"/>
                  </a:lnTo>
                  <a:cubicBezTo>
                    <a:pt x="0" y="20411"/>
                    <a:pt x="20411" y="0"/>
                    <a:pt x="45590" y="0"/>
                  </a:cubicBezTo>
                  <a:close/>
                </a:path>
              </a:pathLst>
            </a:custGeom>
            <a:solidFill>
              <a:srgbClr val="0E1E3A"/>
            </a:solidFill>
          </p:spPr>
        </p:sp>
        <p:sp>
          <p:nvSpPr>
            <p:cNvPr name="TextBox 28" id="28"/>
            <p:cNvSpPr txBox="true"/>
            <p:nvPr/>
          </p:nvSpPr>
          <p:spPr>
            <a:xfrm>
              <a:off x="0" y="-38100"/>
              <a:ext cx="4953000" cy="4025900"/>
            </a:xfrm>
            <a:prstGeom prst="rect">
              <a:avLst/>
            </a:prstGeom>
          </p:spPr>
          <p:txBody>
            <a:bodyPr anchor="ctr" rtlCol="false" tIns="50800" lIns="50800" bIns="50800" rIns="50800"/>
            <a:lstStyle/>
            <a:p>
              <a:pPr algn="l">
                <a:lnSpc>
                  <a:spcPts val="1679"/>
                </a:lnSpc>
              </a:pPr>
            </a:p>
          </p:txBody>
        </p:sp>
      </p:grpSp>
      <p:sp>
        <p:nvSpPr>
          <p:cNvPr name="TextBox 29" id="29"/>
          <p:cNvSpPr txBox="true"/>
          <p:nvPr/>
        </p:nvSpPr>
        <p:spPr>
          <a:xfrm rot="0">
            <a:off x="13849350" y="6772275"/>
            <a:ext cx="3286125"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30" id="30"/>
          <p:cNvSpPr txBox="true"/>
          <p:nvPr/>
        </p:nvSpPr>
        <p:spPr>
          <a:xfrm rot="0">
            <a:off x="13849350" y="7134225"/>
            <a:ext cx="3286125" cy="1232535"/>
          </a:xfrm>
          <a:prstGeom prst="rect">
            <a:avLst/>
          </a:prstGeom>
        </p:spPr>
        <p:txBody>
          <a:bodyPr anchor="t" rtlCol="false" tIns="0" lIns="0" bIns="0" rIns="0">
            <a:spAutoFit/>
          </a:bodyPr>
          <a:lstStyle/>
          <a:p>
            <a:pPr algn="l">
              <a:lnSpc>
                <a:spcPts val="2430"/>
              </a:lnSpc>
            </a:pPr>
            <a:r>
              <a:rPr lang="en-US" sz="1800">
                <a:solidFill>
                  <a:srgbClr val="FFFFFF"/>
                </a:solidFill>
                <a:latin typeface="Arimo"/>
                <a:ea typeface="Arimo"/>
                <a:cs typeface="Arimo"/>
                <a:sym typeface="Arimo"/>
              </a:rPr>
              <a:t>Reinforce the actuator for a predictable P → δ map. Run a bare actuator below about 90 % of its measured limit pressure.</a:t>
            </a:r>
          </a:p>
        </p:txBody>
      </p:sp>
      <p:sp>
        <p:nvSpPr>
          <p:cNvPr name="TextBox 31" id="31"/>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32" id="32"/>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FEA · FINDINGS 3 / 3</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Inside the wall: volume, thinning and stretch</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tracked cavity volume, thin-wall thickness and peak stretch through each pressure sweep</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Freeform 14" id="14" descr="Cavity volume, thin-wall thickness and peak stretch against pressure for bare and sleeved actuators"/>
          <p:cNvSpPr/>
          <p:nvPr/>
        </p:nvSpPr>
        <p:spPr>
          <a:xfrm flipH="false" flipV="false" rot="0">
            <a:off x="952500" y="2333625"/>
            <a:ext cx="16383000" cy="4429125"/>
          </a:xfrm>
          <a:custGeom>
            <a:avLst/>
            <a:gdLst/>
            <a:ahLst/>
            <a:cxnLst/>
            <a:rect r="r" b="b" t="t" l="l"/>
            <a:pathLst>
              <a:path h="4429125" w="16383000">
                <a:moveTo>
                  <a:pt x="0" y="0"/>
                </a:moveTo>
                <a:lnTo>
                  <a:pt x="16383000" y="0"/>
                </a:lnTo>
                <a:lnTo>
                  <a:pt x="16383000" y="4429125"/>
                </a:lnTo>
                <a:lnTo>
                  <a:pt x="0" y="4429125"/>
                </a:lnTo>
                <a:lnTo>
                  <a:pt x="0" y="0"/>
                </a:lnTo>
                <a:close/>
              </a:path>
            </a:pathLst>
          </a:custGeom>
          <a:blipFill>
            <a:blip r:embed="rId2"/>
            <a:stretch>
              <a:fillRect l="-64" t="0" r="-64" b="0"/>
            </a:stretch>
          </a:blipFill>
        </p:spPr>
      </p:sp>
      <p:grpSp>
        <p:nvGrpSpPr>
          <p:cNvPr name="Group 15" id="15"/>
          <p:cNvGrpSpPr/>
          <p:nvPr/>
        </p:nvGrpSpPr>
        <p:grpSpPr>
          <a:xfrm rot="0">
            <a:off x="952500" y="6972300"/>
            <a:ext cx="5295900" cy="1143000"/>
            <a:chOff x="0" y="0"/>
            <a:chExt cx="7061200" cy="1524000"/>
          </a:xfrm>
        </p:grpSpPr>
        <p:sp>
          <p:nvSpPr>
            <p:cNvPr name="Freeform 16" id="16"/>
            <p:cNvSpPr/>
            <p:nvPr/>
          </p:nvSpPr>
          <p:spPr>
            <a:xfrm flipH="false" flipV="false" rot="0">
              <a:off x="0" y="0"/>
              <a:ext cx="7061200" cy="1524000"/>
            </a:xfrm>
            <a:custGeom>
              <a:avLst/>
              <a:gdLst/>
              <a:ahLst/>
              <a:cxnLst/>
              <a:rect r="r" b="b" t="t" l="l"/>
              <a:pathLst>
                <a:path h="1524000" w="7061200">
                  <a:moveTo>
                    <a:pt x="31978" y="0"/>
                  </a:moveTo>
                  <a:lnTo>
                    <a:pt x="7029221" y="0"/>
                  </a:lnTo>
                  <a:cubicBezTo>
                    <a:pt x="7037703" y="0"/>
                    <a:pt x="7045837" y="3369"/>
                    <a:pt x="7051834" y="9366"/>
                  </a:cubicBezTo>
                  <a:cubicBezTo>
                    <a:pt x="7057831" y="15363"/>
                    <a:pt x="7061200" y="23497"/>
                    <a:pt x="7061200" y="31978"/>
                  </a:cubicBezTo>
                  <a:lnTo>
                    <a:pt x="7061200" y="1492022"/>
                  </a:lnTo>
                  <a:cubicBezTo>
                    <a:pt x="7061200" y="1500503"/>
                    <a:pt x="7057831" y="1508637"/>
                    <a:pt x="7051834" y="1514634"/>
                  </a:cubicBezTo>
                  <a:cubicBezTo>
                    <a:pt x="7045837" y="1520631"/>
                    <a:pt x="7037703" y="1524000"/>
                    <a:pt x="7029221" y="1524000"/>
                  </a:cubicBezTo>
                  <a:lnTo>
                    <a:pt x="31978" y="1524000"/>
                  </a:lnTo>
                  <a:cubicBezTo>
                    <a:pt x="23497" y="1524000"/>
                    <a:pt x="15363" y="1520631"/>
                    <a:pt x="9366" y="1514634"/>
                  </a:cubicBezTo>
                  <a:cubicBezTo>
                    <a:pt x="3369" y="1508637"/>
                    <a:pt x="0" y="1500503"/>
                    <a:pt x="0" y="1492022"/>
                  </a:cubicBezTo>
                  <a:lnTo>
                    <a:pt x="0" y="31978"/>
                  </a:lnTo>
                  <a:cubicBezTo>
                    <a:pt x="0" y="23497"/>
                    <a:pt x="3369" y="15363"/>
                    <a:pt x="9366" y="9366"/>
                  </a:cubicBezTo>
                  <a:cubicBezTo>
                    <a:pt x="15363" y="3369"/>
                    <a:pt x="23497" y="0"/>
                    <a:pt x="31978" y="0"/>
                  </a:cubicBezTo>
                  <a:close/>
                </a:path>
              </a:pathLst>
            </a:custGeom>
            <a:solidFill>
              <a:srgbClr val="F1F5FA"/>
            </a:solidFill>
          </p:spPr>
        </p:sp>
        <p:sp>
          <p:nvSpPr>
            <p:cNvPr name="TextBox 17" id="17"/>
            <p:cNvSpPr txBox="true"/>
            <p:nvPr/>
          </p:nvSpPr>
          <p:spPr>
            <a:xfrm>
              <a:off x="0" y="-38100"/>
              <a:ext cx="7061200" cy="1562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6496050" y="6972300"/>
            <a:ext cx="5295900" cy="1143000"/>
            <a:chOff x="0" y="0"/>
            <a:chExt cx="7061200" cy="1524000"/>
          </a:xfrm>
        </p:grpSpPr>
        <p:sp>
          <p:nvSpPr>
            <p:cNvPr name="Freeform 19" id="19"/>
            <p:cNvSpPr/>
            <p:nvPr/>
          </p:nvSpPr>
          <p:spPr>
            <a:xfrm flipH="false" flipV="false" rot="0">
              <a:off x="0" y="0"/>
              <a:ext cx="7061200" cy="1524000"/>
            </a:xfrm>
            <a:custGeom>
              <a:avLst/>
              <a:gdLst/>
              <a:ahLst/>
              <a:cxnLst/>
              <a:rect r="r" b="b" t="t" l="l"/>
              <a:pathLst>
                <a:path h="1524000" w="7061200">
                  <a:moveTo>
                    <a:pt x="31978" y="0"/>
                  </a:moveTo>
                  <a:lnTo>
                    <a:pt x="7029221" y="0"/>
                  </a:lnTo>
                  <a:cubicBezTo>
                    <a:pt x="7037703" y="0"/>
                    <a:pt x="7045837" y="3369"/>
                    <a:pt x="7051834" y="9366"/>
                  </a:cubicBezTo>
                  <a:cubicBezTo>
                    <a:pt x="7057831" y="15363"/>
                    <a:pt x="7061200" y="23497"/>
                    <a:pt x="7061200" y="31978"/>
                  </a:cubicBezTo>
                  <a:lnTo>
                    <a:pt x="7061200" y="1492022"/>
                  </a:lnTo>
                  <a:cubicBezTo>
                    <a:pt x="7061200" y="1500503"/>
                    <a:pt x="7057831" y="1508637"/>
                    <a:pt x="7051834" y="1514634"/>
                  </a:cubicBezTo>
                  <a:cubicBezTo>
                    <a:pt x="7045837" y="1520631"/>
                    <a:pt x="7037703" y="1524000"/>
                    <a:pt x="7029221" y="1524000"/>
                  </a:cubicBezTo>
                  <a:lnTo>
                    <a:pt x="31978" y="1524000"/>
                  </a:lnTo>
                  <a:cubicBezTo>
                    <a:pt x="23497" y="1524000"/>
                    <a:pt x="15363" y="1520631"/>
                    <a:pt x="9366" y="1514634"/>
                  </a:cubicBezTo>
                  <a:cubicBezTo>
                    <a:pt x="3369" y="1508637"/>
                    <a:pt x="0" y="1500503"/>
                    <a:pt x="0" y="1492022"/>
                  </a:cubicBezTo>
                  <a:lnTo>
                    <a:pt x="0" y="31978"/>
                  </a:lnTo>
                  <a:cubicBezTo>
                    <a:pt x="0" y="23497"/>
                    <a:pt x="3369" y="15363"/>
                    <a:pt x="9366" y="9366"/>
                  </a:cubicBezTo>
                  <a:cubicBezTo>
                    <a:pt x="15363" y="3369"/>
                    <a:pt x="23497" y="0"/>
                    <a:pt x="31978" y="0"/>
                  </a:cubicBezTo>
                  <a:close/>
                </a:path>
              </a:pathLst>
            </a:custGeom>
            <a:solidFill>
              <a:srgbClr val="F1F5FA"/>
            </a:solidFill>
          </p:spPr>
        </p:sp>
        <p:sp>
          <p:nvSpPr>
            <p:cNvPr name="TextBox 20" id="20"/>
            <p:cNvSpPr txBox="true"/>
            <p:nvPr/>
          </p:nvSpPr>
          <p:spPr>
            <a:xfrm>
              <a:off x="0" y="-38100"/>
              <a:ext cx="7061200" cy="15621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12039600" y="6972300"/>
            <a:ext cx="5295900" cy="1143000"/>
            <a:chOff x="0" y="0"/>
            <a:chExt cx="7061200" cy="1524000"/>
          </a:xfrm>
        </p:grpSpPr>
        <p:sp>
          <p:nvSpPr>
            <p:cNvPr name="Freeform 22" id="22"/>
            <p:cNvSpPr/>
            <p:nvPr/>
          </p:nvSpPr>
          <p:spPr>
            <a:xfrm flipH="false" flipV="false" rot="0">
              <a:off x="0" y="0"/>
              <a:ext cx="7061200" cy="1524000"/>
            </a:xfrm>
            <a:custGeom>
              <a:avLst/>
              <a:gdLst/>
              <a:ahLst/>
              <a:cxnLst/>
              <a:rect r="r" b="b" t="t" l="l"/>
              <a:pathLst>
                <a:path h="1524000" w="7061200">
                  <a:moveTo>
                    <a:pt x="31978" y="0"/>
                  </a:moveTo>
                  <a:lnTo>
                    <a:pt x="7029221" y="0"/>
                  </a:lnTo>
                  <a:cubicBezTo>
                    <a:pt x="7037703" y="0"/>
                    <a:pt x="7045837" y="3369"/>
                    <a:pt x="7051834" y="9366"/>
                  </a:cubicBezTo>
                  <a:cubicBezTo>
                    <a:pt x="7057831" y="15363"/>
                    <a:pt x="7061200" y="23497"/>
                    <a:pt x="7061200" y="31978"/>
                  </a:cubicBezTo>
                  <a:lnTo>
                    <a:pt x="7061200" y="1492022"/>
                  </a:lnTo>
                  <a:cubicBezTo>
                    <a:pt x="7061200" y="1500503"/>
                    <a:pt x="7057831" y="1508637"/>
                    <a:pt x="7051834" y="1514634"/>
                  </a:cubicBezTo>
                  <a:cubicBezTo>
                    <a:pt x="7045837" y="1520631"/>
                    <a:pt x="7037703" y="1524000"/>
                    <a:pt x="7029221" y="1524000"/>
                  </a:cubicBezTo>
                  <a:lnTo>
                    <a:pt x="31978" y="1524000"/>
                  </a:lnTo>
                  <a:cubicBezTo>
                    <a:pt x="23497" y="1524000"/>
                    <a:pt x="15363" y="1520631"/>
                    <a:pt x="9366" y="1514634"/>
                  </a:cubicBezTo>
                  <a:cubicBezTo>
                    <a:pt x="3369" y="1508637"/>
                    <a:pt x="0" y="1500503"/>
                    <a:pt x="0" y="1492022"/>
                  </a:cubicBezTo>
                  <a:lnTo>
                    <a:pt x="0" y="31978"/>
                  </a:lnTo>
                  <a:cubicBezTo>
                    <a:pt x="0" y="23497"/>
                    <a:pt x="3369" y="15363"/>
                    <a:pt x="9366" y="9366"/>
                  </a:cubicBezTo>
                  <a:cubicBezTo>
                    <a:pt x="15363" y="3369"/>
                    <a:pt x="23497" y="0"/>
                    <a:pt x="31978" y="0"/>
                  </a:cubicBezTo>
                  <a:close/>
                </a:path>
              </a:pathLst>
            </a:custGeom>
            <a:solidFill>
              <a:srgbClr val="F1F5FA"/>
            </a:solidFill>
          </p:spPr>
        </p:sp>
        <p:sp>
          <p:nvSpPr>
            <p:cNvPr name="TextBox 23" id="23"/>
            <p:cNvSpPr txBox="true"/>
            <p:nvPr/>
          </p:nvSpPr>
          <p:spPr>
            <a:xfrm>
              <a:off x="0" y="-38100"/>
              <a:ext cx="7061200" cy="15621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1181100" y="7162800"/>
            <a:ext cx="1428750" cy="592455"/>
          </a:xfrm>
          <a:prstGeom prst="rect">
            <a:avLst/>
          </a:prstGeom>
        </p:spPr>
        <p:txBody>
          <a:bodyPr anchor="t" rtlCol="false" tIns="0" lIns="0" bIns="0" rIns="0">
            <a:spAutoFit/>
          </a:bodyPr>
          <a:lstStyle/>
          <a:p>
            <a:pPr algn="l">
              <a:lnSpc>
                <a:spcPts val="4620"/>
              </a:lnSpc>
            </a:pPr>
            <a:r>
              <a:rPr lang="en-US" sz="3300" b="true">
                <a:solidFill>
                  <a:srgbClr val="0E1E3A"/>
                </a:solidFill>
                <a:latin typeface="Arimo Bold"/>
                <a:ea typeface="Arimo Bold"/>
                <a:cs typeface="Arimo Bold"/>
                <a:sym typeface="Arimo Bold"/>
              </a:rPr>
              <a:t>× 4.05</a:t>
            </a:r>
          </a:p>
        </p:txBody>
      </p:sp>
      <p:sp>
        <p:nvSpPr>
          <p:cNvPr name="TextBox 25" id="25"/>
          <p:cNvSpPr txBox="true"/>
          <p:nvPr/>
        </p:nvSpPr>
        <p:spPr>
          <a:xfrm rot="0">
            <a:off x="2667000" y="7143750"/>
            <a:ext cx="3429000" cy="523875"/>
          </a:xfrm>
          <a:prstGeom prst="rect">
            <a:avLst/>
          </a:prstGeom>
        </p:spPr>
        <p:txBody>
          <a:bodyPr anchor="t" rtlCol="false" tIns="0" lIns="0" bIns="0" rIns="0">
            <a:spAutoFit/>
          </a:bodyPr>
          <a:lstStyle/>
          <a:p>
            <a:pPr algn="l">
              <a:lnSpc>
                <a:spcPts val="2025"/>
              </a:lnSpc>
            </a:pPr>
            <a:r>
              <a:rPr lang="en-US" sz="1500">
                <a:solidFill>
                  <a:srgbClr val="3B4A5E"/>
                </a:solidFill>
                <a:latin typeface="Arimo"/>
                <a:ea typeface="Arimo"/>
                <a:cs typeface="Arimo"/>
                <a:sym typeface="Arimo"/>
              </a:rPr>
              <a:t>cavity volume at the bare limit (sleeved: × 1.70 at 110 kPa)</a:t>
            </a:r>
          </a:p>
        </p:txBody>
      </p:sp>
      <p:sp>
        <p:nvSpPr>
          <p:cNvPr name="TextBox 26" id="26"/>
          <p:cNvSpPr txBox="true"/>
          <p:nvPr/>
        </p:nvSpPr>
        <p:spPr>
          <a:xfrm rot="0">
            <a:off x="6724650" y="7162800"/>
            <a:ext cx="1428750" cy="592455"/>
          </a:xfrm>
          <a:prstGeom prst="rect">
            <a:avLst/>
          </a:prstGeom>
        </p:spPr>
        <p:txBody>
          <a:bodyPr anchor="t" rtlCol="false" tIns="0" lIns="0" bIns="0" rIns="0">
            <a:spAutoFit/>
          </a:bodyPr>
          <a:lstStyle/>
          <a:p>
            <a:pPr algn="l">
              <a:lnSpc>
                <a:spcPts val="4620"/>
              </a:lnSpc>
            </a:pPr>
            <a:r>
              <a:rPr lang="en-US" sz="3300" b="true">
                <a:solidFill>
                  <a:srgbClr val="0E1E3A"/>
                </a:solidFill>
                <a:latin typeface="Arimo Bold"/>
                <a:ea typeface="Arimo Bold"/>
                <a:cs typeface="Arimo Bold"/>
                <a:sym typeface="Arimo Bold"/>
              </a:rPr>
              <a:t>⅓</a:t>
            </a:r>
          </a:p>
        </p:txBody>
      </p:sp>
      <p:sp>
        <p:nvSpPr>
          <p:cNvPr name="TextBox 27" id="27"/>
          <p:cNvSpPr txBox="true"/>
          <p:nvPr/>
        </p:nvSpPr>
        <p:spPr>
          <a:xfrm rot="0">
            <a:off x="8210550" y="7143750"/>
            <a:ext cx="3429000" cy="523875"/>
          </a:xfrm>
          <a:prstGeom prst="rect">
            <a:avLst/>
          </a:prstGeom>
        </p:spPr>
        <p:txBody>
          <a:bodyPr anchor="t" rtlCol="false" tIns="0" lIns="0" bIns="0" rIns="0">
            <a:spAutoFit/>
          </a:bodyPr>
          <a:lstStyle/>
          <a:p>
            <a:pPr algn="l">
              <a:lnSpc>
                <a:spcPts val="2025"/>
              </a:lnSpc>
            </a:pPr>
            <a:r>
              <a:rPr lang="en-US" sz="1500">
                <a:solidFill>
                  <a:srgbClr val="3B4A5E"/>
                </a:solidFill>
                <a:latin typeface="Arimo"/>
                <a:ea typeface="Arimo"/>
                <a:cs typeface="Arimo"/>
                <a:sym typeface="Arimo"/>
              </a:rPr>
              <a:t>of the 3 mm thin wall left at the limit (sleeved: 79 % at 110 kPa)</a:t>
            </a:r>
          </a:p>
        </p:txBody>
      </p:sp>
      <p:sp>
        <p:nvSpPr>
          <p:cNvPr name="TextBox 28" id="28"/>
          <p:cNvSpPr txBox="true"/>
          <p:nvPr/>
        </p:nvSpPr>
        <p:spPr>
          <a:xfrm rot="0">
            <a:off x="12268200" y="7162800"/>
            <a:ext cx="1428750" cy="592455"/>
          </a:xfrm>
          <a:prstGeom prst="rect">
            <a:avLst/>
          </a:prstGeom>
        </p:spPr>
        <p:txBody>
          <a:bodyPr anchor="t" rtlCol="false" tIns="0" lIns="0" bIns="0" rIns="0">
            <a:spAutoFit/>
          </a:bodyPr>
          <a:lstStyle/>
          <a:p>
            <a:pPr algn="l">
              <a:lnSpc>
                <a:spcPts val="4620"/>
              </a:lnSpc>
            </a:pPr>
            <a:r>
              <a:rPr lang="en-US" sz="3300" b="true">
                <a:solidFill>
                  <a:srgbClr val="0E1E3A"/>
                </a:solidFill>
                <a:latin typeface="Arimo Bold"/>
                <a:ea typeface="Arimo Bold"/>
                <a:cs typeface="Arimo Bold"/>
                <a:sym typeface="Arimo Bold"/>
              </a:rPr>
              <a:t>2.5</a:t>
            </a:r>
          </a:p>
        </p:txBody>
      </p:sp>
      <p:sp>
        <p:nvSpPr>
          <p:cNvPr name="TextBox 29" id="29"/>
          <p:cNvSpPr txBox="true"/>
          <p:nvPr/>
        </p:nvSpPr>
        <p:spPr>
          <a:xfrm rot="0">
            <a:off x="13754100" y="7143750"/>
            <a:ext cx="3429000" cy="523875"/>
          </a:xfrm>
          <a:prstGeom prst="rect">
            <a:avLst/>
          </a:prstGeom>
        </p:spPr>
        <p:txBody>
          <a:bodyPr anchor="t" rtlCol="false" tIns="0" lIns="0" bIns="0" rIns="0">
            <a:spAutoFit/>
          </a:bodyPr>
          <a:lstStyle/>
          <a:p>
            <a:pPr algn="l">
              <a:lnSpc>
                <a:spcPts val="2025"/>
              </a:lnSpc>
            </a:pPr>
            <a:r>
              <a:rPr lang="en-US" sz="1500">
                <a:solidFill>
                  <a:srgbClr val="3B4A5E"/>
                </a:solidFill>
                <a:latin typeface="Arimo"/>
                <a:ea typeface="Arimo"/>
                <a:cs typeface="Arimo"/>
                <a:sym typeface="Arimo"/>
              </a:rPr>
              <a:t>peak principal stretch at the limit (sleeved: 1.56 at 110 kPa)</a:t>
            </a:r>
          </a:p>
        </p:txBody>
      </p:sp>
      <p:grpSp>
        <p:nvGrpSpPr>
          <p:cNvPr name="Group 30" id="30"/>
          <p:cNvGrpSpPr/>
          <p:nvPr/>
        </p:nvGrpSpPr>
        <p:grpSpPr>
          <a:xfrm rot="0">
            <a:off x="952500" y="8334375"/>
            <a:ext cx="16383000" cy="1285875"/>
            <a:chOff x="0" y="0"/>
            <a:chExt cx="21844000" cy="1714500"/>
          </a:xfrm>
        </p:grpSpPr>
        <p:sp>
          <p:nvSpPr>
            <p:cNvPr name="Freeform 31" id="31"/>
            <p:cNvSpPr/>
            <p:nvPr/>
          </p:nvSpPr>
          <p:spPr>
            <a:xfrm flipH="false" flipV="false" rot="0">
              <a:off x="0" y="0"/>
              <a:ext cx="21844000" cy="1714500"/>
            </a:xfrm>
            <a:custGeom>
              <a:avLst/>
              <a:gdLst/>
              <a:ahLst/>
              <a:cxnLst/>
              <a:rect r="r" b="b" t="t" l="l"/>
              <a:pathLst>
                <a:path h="1714500" w="21844000">
                  <a:moveTo>
                    <a:pt x="13291" y="0"/>
                  </a:moveTo>
                  <a:lnTo>
                    <a:pt x="21830709" y="0"/>
                  </a:lnTo>
                  <a:cubicBezTo>
                    <a:pt x="21838050" y="0"/>
                    <a:pt x="21844000" y="5950"/>
                    <a:pt x="21844000" y="13291"/>
                  </a:cubicBezTo>
                  <a:lnTo>
                    <a:pt x="21844000" y="1701209"/>
                  </a:lnTo>
                  <a:cubicBezTo>
                    <a:pt x="21844000" y="1708550"/>
                    <a:pt x="21838050" y="1714500"/>
                    <a:pt x="21830709" y="1714500"/>
                  </a:cubicBezTo>
                  <a:lnTo>
                    <a:pt x="13291" y="1714500"/>
                  </a:lnTo>
                  <a:cubicBezTo>
                    <a:pt x="5950" y="1714500"/>
                    <a:pt x="0" y="1708550"/>
                    <a:pt x="0" y="1701209"/>
                  </a:cubicBezTo>
                  <a:lnTo>
                    <a:pt x="0" y="13291"/>
                  </a:lnTo>
                  <a:cubicBezTo>
                    <a:pt x="0" y="5950"/>
                    <a:pt x="5950" y="0"/>
                    <a:pt x="13291" y="0"/>
                  </a:cubicBezTo>
                  <a:close/>
                </a:path>
              </a:pathLst>
            </a:custGeom>
            <a:solidFill>
              <a:srgbClr val="0E1E3A"/>
            </a:solidFill>
          </p:spPr>
        </p:sp>
        <p:sp>
          <p:nvSpPr>
            <p:cNvPr name="TextBox 32" id="32"/>
            <p:cNvSpPr txBox="true"/>
            <p:nvPr/>
          </p:nvSpPr>
          <p:spPr>
            <a:xfrm>
              <a:off x="0" y="-38100"/>
              <a:ext cx="21844000" cy="17526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1257300" y="8429625"/>
            <a:ext cx="3810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FINDING</a:t>
            </a:r>
          </a:p>
        </p:txBody>
      </p:sp>
      <p:sp>
        <p:nvSpPr>
          <p:cNvPr name="TextBox 34" id="34"/>
          <p:cNvSpPr txBox="true"/>
          <p:nvPr/>
        </p:nvSpPr>
        <p:spPr>
          <a:xfrm rot="0">
            <a:off x="1257300" y="8772525"/>
            <a:ext cx="15811500" cy="622935"/>
          </a:xfrm>
          <a:prstGeom prst="rect">
            <a:avLst/>
          </a:prstGeom>
        </p:spPr>
        <p:txBody>
          <a:bodyPr anchor="t" rtlCol="false" tIns="0" lIns="0" bIns="0" rIns="0">
            <a:spAutoFit/>
          </a:bodyPr>
          <a:lstStyle/>
          <a:p>
            <a:pPr algn="l">
              <a:lnSpc>
                <a:spcPts val="2430"/>
              </a:lnSpc>
            </a:pPr>
            <a:r>
              <a:rPr lang="en-US" sz="1800">
                <a:solidFill>
                  <a:srgbClr val="FFFFFF"/>
                </a:solidFill>
                <a:latin typeface="Arimo"/>
                <a:ea typeface="Arimo"/>
                <a:cs typeface="Arimo"/>
                <a:sym typeface="Arimo"/>
              </a:rPr>
              <a:t>The thin wall is the weak point: near the limit it thins to a third and stretches 2.5×, so silicone fatigue must also set the operating window. The sleeve keeps all three quantities moderate.</a:t>
            </a:r>
          </a:p>
        </p:txBody>
      </p:sp>
      <p:sp>
        <p:nvSpPr>
          <p:cNvPr name="TextBox 35" id="35"/>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36" id="36"/>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18</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FEA · DESIGN DECISION</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a:lnSpc>
                <a:spcPts val="5250"/>
              </a:lnSpc>
            </a:pPr>
            <a:r>
              <a:rPr lang="en-US" sz="3750" b="true">
                <a:solidFill>
                  <a:srgbClr val="0E1E3A"/>
                </a:solidFill>
                <a:latin typeface="Arimo Bold"/>
                <a:ea typeface="Arimo Bold"/>
                <a:cs typeface="Arimo Bold"/>
                <a:sym typeface="Arimo Bold"/>
              </a:rPr>
              <a:t>Bare vs reinforced: which actuator to build?</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a:lnSpc>
                <a:spcPts val="2729"/>
              </a:lnSpc>
            </a:pPr>
            <a:r>
              <a:rPr lang="en-US" sz="1950">
                <a:solidFill>
                  <a:srgbClr val="3B4A5E"/>
                </a:solidFill>
                <a:latin typeface="Arimo"/>
                <a:ea typeface="Arimo"/>
                <a:cs typeface="Arimo"/>
                <a:sym typeface="Arimo"/>
              </a:rPr>
              <a:t>What we did: ran the same pressure sweep on both designs and compared them on six criteria</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4953000" y="2333625"/>
            <a:ext cx="6000750" cy="571500"/>
            <a:chOff x="0" y="0"/>
            <a:chExt cx="8001000" cy="762000"/>
          </a:xfrm>
        </p:grpSpPr>
        <p:sp>
          <p:nvSpPr>
            <p:cNvPr name="Freeform 15" id="15"/>
            <p:cNvSpPr/>
            <p:nvPr/>
          </p:nvSpPr>
          <p:spPr>
            <a:xfrm flipH="false" flipV="false" rot="0">
              <a:off x="0" y="0"/>
              <a:ext cx="8001000" cy="762000"/>
            </a:xfrm>
            <a:custGeom>
              <a:avLst/>
              <a:gdLst/>
              <a:ahLst/>
              <a:cxnLst/>
              <a:rect r="r" b="b" t="t" l="l"/>
              <a:pathLst>
                <a:path h="762000" w="8001000">
                  <a:moveTo>
                    <a:pt x="24190" y="0"/>
                  </a:moveTo>
                  <a:lnTo>
                    <a:pt x="7976809" y="0"/>
                  </a:lnTo>
                  <a:cubicBezTo>
                    <a:pt x="7983225" y="0"/>
                    <a:pt x="7989378" y="2549"/>
                    <a:pt x="7993915" y="7085"/>
                  </a:cubicBezTo>
                  <a:cubicBezTo>
                    <a:pt x="7998451" y="11622"/>
                    <a:pt x="8001000" y="17775"/>
                    <a:pt x="8001000" y="24190"/>
                  </a:cubicBezTo>
                  <a:lnTo>
                    <a:pt x="8001000" y="737810"/>
                  </a:lnTo>
                  <a:cubicBezTo>
                    <a:pt x="8001000" y="744225"/>
                    <a:pt x="7998451" y="750378"/>
                    <a:pt x="7993915" y="754915"/>
                  </a:cubicBezTo>
                  <a:cubicBezTo>
                    <a:pt x="7989378" y="759451"/>
                    <a:pt x="7983225" y="762000"/>
                    <a:pt x="7976809" y="762000"/>
                  </a:cubicBezTo>
                  <a:lnTo>
                    <a:pt x="24190" y="762000"/>
                  </a:lnTo>
                  <a:cubicBezTo>
                    <a:pt x="17775" y="762000"/>
                    <a:pt x="11622" y="759451"/>
                    <a:pt x="7085" y="754915"/>
                  </a:cubicBezTo>
                  <a:cubicBezTo>
                    <a:pt x="2549" y="750378"/>
                    <a:pt x="0" y="744225"/>
                    <a:pt x="0" y="737810"/>
                  </a:cubicBezTo>
                  <a:lnTo>
                    <a:pt x="0" y="24190"/>
                  </a:lnTo>
                  <a:cubicBezTo>
                    <a:pt x="0" y="17775"/>
                    <a:pt x="2549" y="11622"/>
                    <a:pt x="7085" y="7085"/>
                  </a:cubicBezTo>
                  <a:cubicBezTo>
                    <a:pt x="11622" y="2549"/>
                    <a:pt x="17775" y="0"/>
                    <a:pt x="24190" y="0"/>
                  </a:cubicBezTo>
                  <a:close/>
                </a:path>
              </a:pathLst>
            </a:custGeom>
            <a:solidFill>
              <a:srgbClr val="DCE5EF"/>
            </a:solidFill>
          </p:spPr>
        </p:sp>
        <p:sp>
          <p:nvSpPr>
            <p:cNvPr name="TextBox 16" id="16"/>
            <p:cNvSpPr txBox="true"/>
            <p:nvPr/>
          </p:nvSpPr>
          <p:spPr>
            <a:xfrm>
              <a:off x="0" y="-38100"/>
              <a:ext cx="8001000" cy="800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11144250" y="2333625"/>
            <a:ext cx="6191250" cy="571500"/>
            <a:chOff x="0" y="0"/>
            <a:chExt cx="8255000" cy="762000"/>
          </a:xfrm>
        </p:grpSpPr>
        <p:sp>
          <p:nvSpPr>
            <p:cNvPr name="Freeform 18" id="18"/>
            <p:cNvSpPr/>
            <p:nvPr/>
          </p:nvSpPr>
          <p:spPr>
            <a:xfrm flipH="false" flipV="false" rot="0">
              <a:off x="0" y="0"/>
              <a:ext cx="8255000" cy="762000"/>
            </a:xfrm>
            <a:custGeom>
              <a:avLst/>
              <a:gdLst/>
              <a:ahLst/>
              <a:cxnLst/>
              <a:rect r="r" b="b" t="t" l="l"/>
              <a:pathLst>
                <a:path h="762000" w="8255000">
                  <a:moveTo>
                    <a:pt x="23446" y="0"/>
                  </a:moveTo>
                  <a:lnTo>
                    <a:pt x="8231554" y="0"/>
                  </a:lnTo>
                  <a:cubicBezTo>
                    <a:pt x="8244503" y="0"/>
                    <a:pt x="8255000" y="10497"/>
                    <a:pt x="8255000" y="23446"/>
                  </a:cubicBezTo>
                  <a:lnTo>
                    <a:pt x="8255000" y="738554"/>
                  </a:lnTo>
                  <a:cubicBezTo>
                    <a:pt x="8255000" y="751503"/>
                    <a:pt x="8244503" y="762000"/>
                    <a:pt x="8231554" y="762000"/>
                  </a:cubicBezTo>
                  <a:lnTo>
                    <a:pt x="23446" y="762000"/>
                  </a:lnTo>
                  <a:cubicBezTo>
                    <a:pt x="10497" y="762000"/>
                    <a:pt x="0" y="751503"/>
                    <a:pt x="0" y="738554"/>
                  </a:cubicBezTo>
                  <a:lnTo>
                    <a:pt x="0" y="23446"/>
                  </a:lnTo>
                  <a:cubicBezTo>
                    <a:pt x="0" y="10497"/>
                    <a:pt x="10497" y="0"/>
                    <a:pt x="23446" y="0"/>
                  </a:cubicBezTo>
                  <a:close/>
                </a:path>
              </a:pathLst>
            </a:custGeom>
            <a:solidFill>
              <a:srgbClr val="0E1E3A"/>
            </a:solidFill>
          </p:spPr>
        </p:sp>
        <p:sp>
          <p:nvSpPr>
            <p:cNvPr name="TextBox 19" id="19"/>
            <p:cNvSpPr txBox="true"/>
            <p:nvPr/>
          </p:nvSpPr>
          <p:spPr>
            <a:xfrm>
              <a:off x="0" y="-38100"/>
              <a:ext cx="8255000" cy="800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5181600" y="2457450"/>
            <a:ext cx="5619750" cy="276225"/>
          </a:xfrm>
          <a:prstGeom prst="rect">
            <a:avLst/>
          </a:prstGeom>
        </p:spPr>
        <p:txBody>
          <a:bodyPr anchor="t" rtlCol="false" tIns="0" lIns="0" bIns="0" rIns="0">
            <a:spAutoFit/>
          </a:bodyPr>
          <a:lstStyle/>
          <a:p>
            <a:pPr algn="l">
              <a:lnSpc>
                <a:spcPts val="2100"/>
              </a:lnSpc>
            </a:pPr>
            <a:r>
              <a:rPr lang="en-US" sz="1500" b="true">
                <a:solidFill>
                  <a:srgbClr val="0E1E3A"/>
                </a:solidFill>
                <a:latin typeface="Arimo Bold"/>
                <a:ea typeface="Arimo Bold"/>
                <a:cs typeface="Arimo Bold"/>
                <a:sym typeface="Arimo Bold"/>
              </a:rPr>
              <a:t>BARE (NO REINFORCEMENT)</a:t>
            </a:r>
          </a:p>
        </p:txBody>
      </p:sp>
      <p:sp>
        <p:nvSpPr>
          <p:cNvPr name="TextBox 21" id="21"/>
          <p:cNvSpPr txBox="true"/>
          <p:nvPr/>
        </p:nvSpPr>
        <p:spPr>
          <a:xfrm rot="0">
            <a:off x="11372850" y="2457450"/>
            <a:ext cx="5810250" cy="276225"/>
          </a:xfrm>
          <a:prstGeom prst="rect">
            <a:avLst/>
          </a:prstGeom>
        </p:spPr>
        <p:txBody>
          <a:bodyPr anchor="t" rtlCol="false" tIns="0" lIns="0" bIns="0" rIns="0">
            <a:spAutoFit/>
          </a:bodyPr>
          <a:lstStyle/>
          <a:p>
            <a:pPr algn="l">
              <a:lnSpc>
                <a:spcPts val="2100"/>
              </a:lnSpc>
            </a:pPr>
            <a:r>
              <a:rPr lang="en-US" sz="1500" b="true">
                <a:solidFill>
                  <a:srgbClr val="FFFFFF"/>
                </a:solidFill>
                <a:latin typeface="Arimo Bold"/>
                <a:ea typeface="Arimo Bold"/>
                <a:cs typeface="Arimo Bold"/>
                <a:sym typeface="Arimo Bold"/>
              </a:rPr>
              <a:t>SLEEVED (HOOP-REINFORCED)</a:t>
            </a:r>
          </a:p>
        </p:txBody>
      </p:sp>
      <p:grpSp>
        <p:nvGrpSpPr>
          <p:cNvPr name="Group 22" id="22"/>
          <p:cNvGrpSpPr/>
          <p:nvPr/>
        </p:nvGrpSpPr>
        <p:grpSpPr>
          <a:xfrm rot="0">
            <a:off x="952500" y="3048000"/>
            <a:ext cx="16383000" cy="685800"/>
            <a:chOff x="0" y="0"/>
            <a:chExt cx="21844000" cy="914400"/>
          </a:xfrm>
        </p:grpSpPr>
        <p:sp>
          <p:nvSpPr>
            <p:cNvPr name="Freeform 23" id="23"/>
            <p:cNvSpPr/>
            <p:nvPr/>
          </p:nvSpPr>
          <p:spPr>
            <a:xfrm flipH="false" flipV="false" rot="0">
              <a:off x="0" y="0"/>
              <a:ext cx="21844000" cy="914400"/>
            </a:xfrm>
            <a:custGeom>
              <a:avLst/>
              <a:gdLst/>
              <a:ahLst/>
              <a:cxnLst/>
              <a:rect r="r" b="b" t="t" l="l"/>
              <a:pathLst>
                <a:path h="914400" w="21844000">
                  <a:moveTo>
                    <a:pt x="8860" y="0"/>
                  </a:moveTo>
                  <a:lnTo>
                    <a:pt x="21835140" y="0"/>
                  </a:lnTo>
                  <a:cubicBezTo>
                    <a:pt x="21840033" y="0"/>
                    <a:pt x="21844000" y="3967"/>
                    <a:pt x="21844000" y="8860"/>
                  </a:cubicBezTo>
                  <a:lnTo>
                    <a:pt x="21844000" y="905539"/>
                  </a:lnTo>
                  <a:cubicBezTo>
                    <a:pt x="21844000" y="910433"/>
                    <a:pt x="21840033" y="914400"/>
                    <a:pt x="21835140" y="914400"/>
                  </a:cubicBezTo>
                  <a:lnTo>
                    <a:pt x="8860" y="914400"/>
                  </a:lnTo>
                  <a:cubicBezTo>
                    <a:pt x="3967" y="914400"/>
                    <a:pt x="0" y="910433"/>
                    <a:pt x="0" y="905539"/>
                  </a:cubicBezTo>
                  <a:lnTo>
                    <a:pt x="0" y="8860"/>
                  </a:lnTo>
                  <a:cubicBezTo>
                    <a:pt x="0" y="3967"/>
                    <a:pt x="3967" y="0"/>
                    <a:pt x="8860" y="0"/>
                  </a:cubicBezTo>
                  <a:close/>
                </a:path>
              </a:pathLst>
            </a:custGeom>
            <a:solidFill>
              <a:srgbClr val="F1F5FA"/>
            </a:solidFill>
          </p:spPr>
        </p:sp>
        <p:sp>
          <p:nvSpPr>
            <p:cNvPr name="TextBox 24" id="24"/>
            <p:cNvSpPr txBox="true"/>
            <p:nvPr/>
          </p:nvSpPr>
          <p:spPr>
            <a:xfrm>
              <a:off x="0" y="-38100"/>
              <a:ext cx="21844000" cy="9525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952500" y="4610100"/>
            <a:ext cx="16383000" cy="685800"/>
            <a:chOff x="0" y="0"/>
            <a:chExt cx="21844000" cy="914400"/>
          </a:xfrm>
        </p:grpSpPr>
        <p:sp>
          <p:nvSpPr>
            <p:cNvPr name="Freeform 26" id="26"/>
            <p:cNvSpPr/>
            <p:nvPr/>
          </p:nvSpPr>
          <p:spPr>
            <a:xfrm flipH="false" flipV="false" rot="0">
              <a:off x="0" y="0"/>
              <a:ext cx="21844000" cy="914400"/>
            </a:xfrm>
            <a:custGeom>
              <a:avLst/>
              <a:gdLst/>
              <a:ahLst/>
              <a:cxnLst/>
              <a:rect r="r" b="b" t="t" l="l"/>
              <a:pathLst>
                <a:path h="914400" w="21844000">
                  <a:moveTo>
                    <a:pt x="8860" y="0"/>
                  </a:moveTo>
                  <a:lnTo>
                    <a:pt x="21835140" y="0"/>
                  </a:lnTo>
                  <a:cubicBezTo>
                    <a:pt x="21840033" y="0"/>
                    <a:pt x="21844000" y="3967"/>
                    <a:pt x="21844000" y="8860"/>
                  </a:cubicBezTo>
                  <a:lnTo>
                    <a:pt x="21844000" y="905539"/>
                  </a:lnTo>
                  <a:cubicBezTo>
                    <a:pt x="21844000" y="910433"/>
                    <a:pt x="21840033" y="914400"/>
                    <a:pt x="21835140" y="914400"/>
                  </a:cubicBezTo>
                  <a:lnTo>
                    <a:pt x="8860" y="914400"/>
                  </a:lnTo>
                  <a:cubicBezTo>
                    <a:pt x="3967" y="914400"/>
                    <a:pt x="0" y="910433"/>
                    <a:pt x="0" y="905539"/>
                  </a:cubicBezTo>
                  <a:lnTo>
                    <a:pt x="0" y="8860"/>
                  </a:lnTo>
                  <a:cubicBezTo>
                    <a:pt x="0" y="3967"/>
                    <a:pt x="3967" y="0"/>
                    <a:pt x="8860" y="0"/>
                  </a:cubicBezTo>
                  <a:close/>
                </a:path>
              </a:pathLst>
            </a:custGeom>
            <a:solidFill>
              <a:srgbClr val="F1F5FA"/>
            </a:solidFill>
          </p:spPr>
        </p:sp>
        <p:sp>
          <p:nvSpPr>
            <p:cNvPr name="TextBox 27" id="27"/>
            <p:cNvSpPr txBox="true"/>
            <p:nvPr/>
          </p:nvSpPr>
          <p:spPr>
            <a:xfrm>
              <a:off x="0" y="-38100"/>
              <a:ext cx="21844000" cy="9525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952500" y="6172200"/>
            <a:ext cx="16383000" cy="685800"/>
            <a:chOff x="0" y="0"/>
            <a:chExt cx="21844000" cy="914400"/>
          </a:xfrm>
        </p:grpSpPr>
        <p:sp>
          <p:nvSpPr>
            <p:cNvPr name="Freeform 29" id="29"/>
            <p:cNvSpPr/>
            <p:nvPr/>
          </p:nvSpPr>
          <p:spPr>
            <a:xfrm flipH="false" flipV="false" rot="0">
              <a:off x="0" y="0"/>
              <a:ext cx="21844000" cy="914400"/>
            </a:xfrm>
            <a:custGeom>
              <a:avLst/>
              <a:gdLst/>
              <a:ahLst/>
              <a:cxnLst/>
              <a:rect r="r" b="b" t="t" l="l"/>
              <a:pathLst>
                <a:path h="914400" w="21844000">
                  <a:moveTo>
                    <a:pt x="8860" y="0"/>
                  </a:moveTo>
                  <a:lnTo>
                    <a:pt x="21835140" y="0"/>
                  </a:lnTo>
                  <a:cubicBezTo>
                    <a:pt x="21840033" y="0"/>
                    <a:pt x="21844000" y="3967"/>
                    <a:pt x="21844000" y="8860"/>
                  </a:cubicBezTo>
                  <a:lnTo>
                    <a:pt x="21844000" y="905539"/>
                  </a:lnTo>
                  <a:cubicBezTo>
                    <a:pt x="21844000" y="910433"/>
                    <a:pt x="21840033" y="914400"/>
                    <a:pt x="21835140" y="914400"/>
                  </a:cubicBezTo>
                  <a:lnTo>
                    <a:pt x="8860" y="914400"/>
                  </a:lnTo>
                  <a:cubicBezTo>
                    <a:pt x="3967" y="914400"/>
                    <a:pt x="0" y="910433"/>
                    <a:pt x="0" y="905539"/>
                  </a:cubicBezTo>
                  <a:lnTo>
                    <a:pt x="0" y="8860"/>
                  </a:lnTo>
                  <a:cubicBezTo>
                    <a:pt x="0" y="3967"/>
                    <a:pt x="3967" y="0"/>
                    <a:pt x="8860" y="0"/>
                  </a:cubicBezTo>
                  <a:close/>
                </a:path>
              </a:pathLst>
            </a:custGeom>
            <a:solidFill>
              <a:srgbClr val="F1F5FA"/>
            </a:solidFill>
          </p:spPr>
        </p:sp>
        <p:sp>
          <p:nvSpPr>
            <p:cNvPr name="TextBox 30" id="30"/>
            <p:cNvSpPr txBox="true"/>
            <p:nvPr/>
          </p:nvSpPr>
          <p:spPr>
            <a:xfrm>
              <a:off x="0" y="-38100"/>
              <a:ext cx="21844000" cy="9525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181100" y="3181350"/>
            <a:ext cx="36195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Tip deflection at 60 kPa</a:t>
            </a:r>
          </a:p>
        </p:txBody>
      </p:sp>
      <p:sp>
        <p:nvSpPr>
          <p:cNvPr name="TextBox 32" id="32"/>
          <p:cNvSpPr txBox="true"/>
          <p:nvPr/>
        </p:nvSpPr>
        <p:spPr>
          <a:xfrm rot="0">
            <a:off x="5181600" y="3181350"/>
            <a:ext cx="5715000" cy="325755"/>
          </a:xfrm>
          <a:prstGeom prst="rect">
            <a:avLst/>
          </a:prstGeom>
        </p:spPr>
        <p:txBody>
          <a:bodyPr anchor="t" rtlCol="false" tIns="0" lIns="0" bIns="0" rIns="0">
            <a:spAutoFit/>
          </a:bodyPr>
          <a:lstStyle/>
          <a:p>
            <a:pPr algn="l">
              <a:lnSpc>
                <a:spcPts val="2520"/>
              </a:lnSpc>
            </a:pPr>
            <a:r>
              <a:rPr lang="en-US" sz="1800">
                <a:solidFill>
                  <a:srgbClr val="3B4A5E"/>
                </a:solidFill>
                <a:latin typeface="Arimo"/>
                <a:ea typeface="Arimo"/>
                <a:cs typeface="Arimo"/>
                <a:sym typeface="Arimo"/>
              </a:rPr>
              <a:t>5.9 mm</a:t>
            </a:r>
          </a:p>
        </p:txBody>
      </p:sp>
      <p:sp>
        <p:nvSpPr>
          <p:cNvPr name="TextBox 33" id="33"/>
          <p:cNvSpPr txBox="true"/>
          <p:nvPr/>
        </p:nvSpPr>
        <p:spPr>
          <a:xfrm rot="0">
            <a:off x="11372850" y="3181350"/>
            <a:ext cx="5810250" cy="325755"/>
          </a:xfrm>
          <a:prstGeom prst="rect">
            <a:avLst/>
          </a:prstGeom>
        </p:spPr>
        <p:txBody>
          <a:bodyPr anchor="t" rtlCol="false" tIns="0" lIns="0" bIns="0" rIns="0">
            <a:spAutoFit/>
          </a:bodyPr>
          <a:lstStyle/>
          <a:p>
            <a:pPr algn="l">
              <a:lnSpc>
                <a:spcPts val="2520"/>
              </a:lnSpc>
            </a:pPr>
            <a:r>
              <a:rPr lang="en-US" sz="1800" b="true">
                <a:solidFill>
                  <a:srgbClr val="0E1E3A"/>
                </a:solidFill>
                <a:latin typeface="Arimo Bold"/>
                <a:ea typeface="Arimo Bold"/>
                <a:cs typeface="Arimo Bold"/>
                <a:sym typeface="Arimo Bold"/>
              </a:rPr>
              <a:t>16.3 mm  (2.8× more)</a:t>
            </a:r>
          </a:p>
        </p:txBody>
      </p:sp>
      <p:sp>
        <p:nvSpPr>
          <p:cNvPr name="TextBox 34" id="34"/>
          <p:cNvSpPr txBox="true"/>
          <p:nvPr/>
        </p:nvSpPr>
        <p:spPr>
          <a:xfrm rot="0">
            <a:off x="1181100" y="3962400"/>
            <a:ext cx="36195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Tip deflection at 100 kPa</a:t>
            </a:r>
          </a:p>
        </p:txBody>
      </p:sp>
      <p:sp>
        <p:nvSpPr>
          <p:cNvPr name="TextBox 35" id="35"/>
          <p:cNvSpPr txBox="true"/>
          <p:nvPr/>
        </p:nvSpPr>
        <p:spPr>
          <a:xfrm rot="0">
            <a:off x="5181600" y="3962400"/>
            <a:ext cx="5715000" cy="325755"/>
          </a:xfrm>
          <a:prstGeom prst="rect">
            <a:avLst/>
          </a:prstGeom>
        </p:spPr>
        <p:txBody>
          <a:bodyPr anchor="t" rtlCol="false" tIns="0" lIns="0" bIns="0" rIns="0">
            <a:spAutoFit/>
          </a:bodyPr>
          <a:lstStyle/>
          <a:p>
            <a:pPr algn="l">
              <a:lnSpc>
                <a:spcPts val="2520"/>
              </a:lnSpc>
            </a:pPr>
            <a:r>
              <a:rPr lang="en-US" sz="1800">
                <a:solidFill>
                  <a:srgbClr val="3B4A5E"/>
                </a:solidFill>
                <a:latin typeface="Arimo"/>
                <a:ea typeface="Arimo"/>
                <a:cs typeface="Arimo"/>
                <a:sym typeface="Arimo"/>
              </a:rPr>
              <a:t>37.6 mm, then snap-through at 104.7 kPa</a:t>
            </a:r>
          </a:p>
        </p:txBody>
      </p:sp>
      <p:sp>
        <p:nvSpPr>
          <p:cNvPr name="TextBox 36" id="36"/>
          <p:cNvSpPr txBox="true"/>
          <p:nvPr/>
        </p:nvSpPr>
        <p:spPr>
          <a:xfrm rot="0">
            <a:off x="11372850" y="3962400"/>
            <a:ext cx="5810250" cy="325755"/>
          </a:xfrm>
          <a:prstGeom prst="rect">
            <a:avLst/>
          </a:prstGeom>
        </p:spPr>
        <p:txBody>
          <a:bodyPr anchor="t" rtlCol="false" tIns="0" lIns="0" bIns="0" rIns="0">
            <a:spAutoFit/>
          </a:bodyPr>
          <a:lstStyle/>
          <a:p>
            <a:pPr algn="l">
              <a:lnSpc>
                <a:spcPts val="2520"/>
              </a:lnSpc>
            </a:pPr>
            <a:r>
              <a:rPr lang="en-US" sz="1800" b="true">
                <a:solidFill>
                  <a:srgbClr val="0E1E3A"/>
                </a:solidFill>
                <a:latin typeface="Arimo Bold"/>
                <a:ea typeface="Arimo Bold"/>
                <a:cs typeface="Arimo Bold"/>
                <a:sym typeface="Arimo Bold"/>
              </a:rPr>
              <a:t>33.7 mm, smooth and still rising</a:t>
            </a:r>
          </a:p>
        </p:txBody>
      </p:sp>
      <p:sp>
        <p:nvSpPr>
          <p:cNvPr name="TextBox 37" id="37"/>
          <p:cNvSpPr txBox="true"/>
          <p:nvPr/>
        </p:nvSpPr>
        <p:spPr>
          <a:xfrm rot="0">
            <a:off x="1181100" y="4743450"/>
            <a:ext cx="36195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Deformed shape</a:t>
            </a:r>
          </a:p>
        </p:txBody>
      </p:sp>
      <p:sp>
        <p:nvSpPr>
          <p:cNvPr name="TextBox 38" id="38"/>
          <p:cNvSpPr txBox="true"/>
          <p:nvPr/>
        </p:nvSpPr>
        <p:spPr>
          <a:xfrm rot="0">
            <a:off x="5181600" y="4743450"/>
            <a:ext cx="5715000" cy="325755"/>
          </a:xfrm>
          <a:prstGeom prst="rect">
            <a:avLst/>
          </a:prstGeom>
        </p:spPr>
        <p:txBody>
          <a:bodyPr anchor="t" rtlCol="false" tIns="0" lIns="0" bIns="0" rIns="0">
            <a:spAutoFit/>
          </a:bodyPr>
          <a:lstStyle/>
          <a:p>
            <a:pPr algn="l">
              <a:lnSpc>
                <a:spcPts val="2520"/>
              </a:lnSpc>
            </a:pPr>
            <a:r>
              <a:rPr lang="en-US" sz="1800">
                <a:solidFill>
                  <a:srgbClr val="3B4A5E"/>
                </a:solidFill>
                <a:latin typeface="Arimo"/>
                <a:ea typeface="Arimo"/>
                <a:cs typeface="Arimo"/>
                <a:sym typeface="Arimo"/>
              </a:rPr>
              <a:t>Local balloon on the thin wall</a:t>
            </a:r>
          </a:p>
        </p:txBody>
      </p:sp>
      <p:sp>
        <p:nvSpPr>
          <p:cNvPr name="TextBox 39" id="39"/>
          <p:cNvSpPr txBox="true"/>
          <p:nvPr/>
        </p:nvSpPr>
        <p:spPr>
          <a:xfrm rot="0">
            <a:off x="11372850" y="4743450"/>
            <a:ext cx="5810250" cy="325755"/>
          </a:xfrm>
          <a:prstGeom prst="rect">
            <a:avLst/>
          </a:prstGeom>
        </p:spPr>
        <p:txBody>
          <a:bodyPr anchor="t" rtlCol="false" tIns="0" lIns="0" bIns="0" rIns="0">
            <a:spAutoFit/>
          </a:bodyPr>
          <a:lstStyle/>
          <a:p>
            <a:pPr algn="l">
              <a:lnSpc>
                <a:spcPts val="2520"/>
              </a:lnSpc>
            </a:pPr>
            <a:r>
              <a:rPr lang="en-US" sz="1800" b="true">
                <a:solidFill>
                  <a:srgbClr val="0E1E3A"/>
                </a:solidFill>
                <a:latin typeface="Arimo Bold"/>
                <a:ea typeface="Arimo Bold"/>
                <a:cs typeface="Arimo Bold"/>
                <a:sym typeface="Arimo Bold"/>
              </a:rPr>
              <a:t>Uniform circular arc</a:t>
            </a:r>
          </a:p>
        </p:txBody>
      </p:sp>
      <p:sp>
        <p:nvSpPr>
          <p:cNvPr name="TextBox 40" id="40"/>
          <p:cNvSpPr txBox="true"/>
          <p:nvPr/>
        </p:nvSpPr>
        <p:spPr>
          <a:xfrm rot="0">
            <a:off x="1181100" y="5524500"/>
            <a:ext cx="36195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Usable pressure window</a:t>
            </a:r>
          </a:p>
        </p:txBody>
      </p:sp>
      <p:sp>
        <p:nvSpPr>
          <p:cNvPr name="TextBox 41" id="41"/>
          <p:cNvSpPr txBox="true"/>
          <p:nvPr/>
        </p:nvSpPr>
        <p:spPr>
          <a:xfrm rot="0">
            <a:off x="5181600" y="5524500"/>
            <a:ext cx="5715000" cy="325755"/>
          </a:xfrm>
          <a:prstGeom prst="rect">
            <a:avLst/>
          </a:prstGeom>
        </p:spPr>
        <p:txBody>
          <a:bodyPr anchor="t" rtlCol="false" tIns="0" lIns="0" bIns="0" rIns="0">
            <a:spAutoFit/>
          </a:bodyPr>
          <a:lstStyle/>
          <a:p>
            <a:pPr algn="l">
              <a:lnSpc>
                <a:spcPts val="2520"/>
              </a:lnSpc>
            </a:pPr>
            <a:r>
              <a:rPr lang="en-US" sz="1800">
                <a:solidFill>
                  <a:srgbClr val="3B4A5E"/>
                </a:solidFill>
                <a:latin typeface="Arimo"/>
                <a:ea typeface="Arimo"/>
                <a:cs typeface="Arimo"/>
                <a:sym typeface="Arimo"/>
              </a:rPr>
              <a:t>About 0.3–0.9 of the limit pressure</a:t>
            </a:r>
          </a:p>
        </p:txBody>
      </p:sp>
      <p:sp>
        <p:nvSpPr>
          <p:cNvPr name="TextBox 42" id="42"/>
          <p:cNvSpPr txBox="true"/>
          <p:nvPr/>
        </p:nvSpPr>
        <p:spPr>
          <a:xfrm rot="0">
            <a:off x="11372850" y="5524500"/>
            <a:ext cx="5810250" cy="325755"/>
          </a:xfrm>
          <a:prstGeom prst="rect">
            <a:avLst/>
          </a:prstGeom>
        </p:spPr>
        <p:txBody>
          <a:bodyPr anchor="t" rtlCol="false" tIns="0" lIns="0" bIns="0" rIns="0">
            <a:spAutoFit/>
          </a:bodyPr>
          <a:lstStyle/>
          <a:p>
            <a:pPr algn="l">
              <a:lnSpc>
                <a:spcPts val="2520"/>
              </a:lnSpc>
            </a:pPr>
            <a:r>
              <a:rPr lang="en-US" sz="1800" b="true">
                <a:solidFill>
                  <a:srgbClr val="0E1E3A"/>
                </a:solidFill>
                <a:latin typeface="Arimo Bold"/>
                <a:ea typeface="Arimo Bold"/>
                <a:cs typeface="Arimo Bold"/>
                <a:sym typeface="Arimo Bold"/>
              </a:rPr>
              <a:t>From zero to at least 110 kPa</a:t>
            </a:r>
          </a:p>
        </p:txBody>
      </p:sp>
      <p:sp>
        <p:nvSpPr>
          <p:cNvPr name="TextBox 43" id="43"/>
          <p:cNvSpPr txBox="true"/>
          <p:nvPr/>
        </p:nvSpPr>
        <p:spPr>
          <a:xfrm rot="0">
            <a:off x="1181100" y="6305550"/>
            <a:ext cx="36195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Analytical model</a:t>
            </a:r>
          </a:p>
        </p:txBody>
      </p:sp>
      <p:sp>
        <p:nvSpPr>
          <p:cNvPr name="TextBox 44" id="44"/>
          <p:cNvSpPr txBox="true"/>
          <p:nvPr/>
        </p:nvSpPr>
        <p:spPr>
          <a:xfrm rot="0">
            <a:off x="5181600" y="6305550"/>
            <a:ext cx="5715000" cy="325755"/>
          </a:xfrm>
          <a:prstGeom prst="rect">
            <a:avLst/>
          </a:prstGeom>
        </p:spPr>
        <p:txBody>
          <a:bodyPr anchor="t" rtlCol="false" tIns="0" lIns="0" bIns="0" rIns="0">
            <a:spAutoFit/>
          </a:bodyPr>
          <a:lstStyle/>
          <a:p>
            <a:pPr algn="l">
              <a:lnSpc>
                <a:spcPts val="2520"/>
              </a:lnSpc>
            </a:pPr>
            <a:r>
              <a:rPr lang="en-US" sz="1800">
                <a:solidFill>
                  <a:srgbClr val="3B4A5E"/>
                </a:solidFill>
                <a:latin typeface="Arimo"/>
                <a:ea typeface="Arimo"/>
                <a:cs typeface="Arimo"/>
                <a:sym typeface="Arimo"/>
              </a:rPr>
              <a:t>Needs the full nonlinear FE</a:t>
            </a:r>
          </a:p>
        </p:txBody>
      </p:sp>
      <p:sp>
        <p:nvSpPr>
          <p:cNvPr name="TextBox 45" id="45"/>
          <p:cNvSpPr txBox="true"/>
          <p:nvPr/>
        </p:nvSpPr>
        <p:spPr>
          <a:xfrm rot="0">
            <a:off x="11372850" y="6305550"/>
            <a:ext cx="5810250" cy="325755"/>
          </a:xfrm>
          <a:prstGeom prst="rect">
            <a:avLst/>
          </a:prstGeom>
        </p:spPr>
        <p:txBody>
          <a:bodyPr anchor="t" rtlCol="false" tIns="0" lIns="0" bIns="0" rIns="0">
            <a:spAutoFit/>
          </a:bodyPr>
          <a:lstStyle/>
          <a:p>
            <a:pPr algn="l">
              <a:lnSpc>
                <a:spcPts val="2520"/>
              </a:lnSpc>
            </a:pPr>
            <a:r>
              <a:rPr lang="en-US" sz="1800" b="true">
                <a:solidFill>
                  <a:srgbClr val="0E1E3A"/>
                </a:solidFill>
                <a:latin typeface="Arimo Bold"/>
                <a:ea typeface="Arimo Bold"/>
                <a:cs typeface="Arimo Bold"/>
                <a:sym typeface="Arimo Bold"/>
              </a:rPr>
              <a:t>Beam tiers: 5 % at low P, 20–25 % low at 60 kPa</a:t>
            </a:r>
          </a:p>
        </p:txBody>
      </p:sp>
      <p:sp>
        <p:nvSpPr>
          <p:cNvPr name="TextBox 46" id="46"/>
          <p:cNvSpPr txBox="true"/>
          <p:nvPr/>
        </p:nvSpPr>
        <p:spPr>
          <a:xfrm rot="0">
            <a:off x="1181100" y="7086600"/>
            <a:ext cx="3619500" cy="300990"/>
          </a:xfrm>
          <a:prstGeom prst="rect">
            <a:avLst/>
          </a:prstGeom>
        </p:spPr>
        <p:txBody>
          <a:bodyPr anchor="t" rtlCol="false" tIns="0" lIns="0" bIns="0" rIns="0">
            <a:spAutoFit/>
          </a:bodyPr>
          <a:lstStyle/>
          <a:p>
            <a:pPr algn="l">
              <a:lnSpc>
                <a:spcPts val="2310"/>
              </a:lnSpc>
            </a:pPr>
            <a:r>
              <a:rPr lang="en-US" sz="1650" b="true">
                <a:solidFill>
                  <a:srgbClr val="0E1E3A"/>
                </a:solidFill>
                <a:latin typeface="Arimo Bold"/>
                <a:ea typeface="Arimo Bold"/>
                <a:cs typeface="Arimo Bold"/>
                <a:sym typeface="Arimo Bold"/>
              </a:rPr>
              <a:t>Fabrication</a:t>
            </a:r>
          </a:p>
        </p:txBody>
      </p:sp>
      <p:sp>
        <p:nvSpPr>
          <p:cNvPr name="TextBox 47" id="47"/>
          <p:cNvSpPr txBox="true"/>
          <p:nvPr/>
        </p:nvSpPr>
        <p:spPr>
          <a:xfrm rot="0">
            <a:off x="5181600" y="7086600"/>
            <a:ext cx="5715000" cy="325755"/>
          </a:xfrm>
          <a:prstGeom prst="rect">
            <a:avLst/>
          </a:prstGeom>
        </p:spPr>
        <p:txBody>
          <a:bodyPr anchor="t" rtlCol="false" tIns="0" lIns="0" bIns="0" rIns="0">
            <a:spAutoFit/>
          </a:bodyPr>
          <a:lstStyle/>
          <a:p>
            <a:pPr algn="l">
              <a:lnSpc>
                <a:spcPts val="2520"/>
              </a:lnSpc>
            </a:pPr>
            <a:r>
              <a:rPr lang="en-US" sz="1800">
                <a:solidFill>
                  <a:srgbClr val="3B4A5E"/>
                </a:solidFill>
                <a:latin typeface="Arimo"/>
                <a:ea typeface="Arimo"/>
                <a:cs typeface="Arimo"/>
                <a:sym typeface="Arimo"/>
              </a:rPr>
              <a:t>Single silicone cast</a:t>
            </a:r>
          </a:p>
        </p:txBody>
      </p:sp>
      <p:sp>
        <p:nvSpPr>
          <p:cNvPr name="TextBox 48" id="48"/>
          <p:cNvSpPr txBox="true"/>
          <p:nvPr/>
        </p:nvSpPr>
        <p:spPr>
          <a:xfrm rot="0">
            <a:off x="11372850" y="7086600"/>
            <a:ext cx="5810250" cy="325755"/>
          </a:xfrm>
          <a:prstGeom prst="rect">
            <a:avLst/>
          </a:prstGeom>
        </p:spPr>
        <p:txBody>
          <a:bodyPr anchor="t" rtlCol="false" tIns="0" lIns="0" bIns="0" rIns="0">
            <a:spAutoFit/>
          </a:bodyPr>
          <a:lstStyle/>
          <a:p>
            <a:pPr algn="l">
              <a:lnSpc>
                <a:spcPts val="2520"/>
              </a:lnSpc>
            </a:pPr>
            <a:r>
              <a:rPr lang="en-US" sz="1800" b="true">
                <a:solidFill>
                  <a:srgbClr val="0E1E3A"/>
                </a:solidFill>
                <a:latin typeface="Arimo Bold"/>
                <a:ea typeface="Arimo Bold"/>
                <a:cs typeface="Arimo Bold"/>
                <a:sym typeface="Arimo Bold"/>
              </a:rPr>
              <a:t>Extra step: thread winding or fibre sleeve</a:t>
            </a:r>
          </a:p>
        </p:txBody>
      </p:sp>
      <p:grpSp>
        <p:nvGrpSpPr>
          <p:cNvPr name="Group 49" id="49"/>
          <p:cNvGrpSpPr/>
          <p:nvPr/>
        </p:nvGrpSpPr>
        <p:grpSpPr>
          <a:xfrm rot="0">
            <a:off x="952500" y="7905750"/>
            <a:ext cx="16383000" cy="1714500"/>
            <a:chOff x="0" y="0"/>
            <a:chExt cx="21844000" cy="2286000"/>
          </a:xfrm>
        </p:grpSpPr>
        <p:sp>
          <p:nvSpPr>
            <p:cNvPr name="Freeform 50" id="50"/>
            <p:cNvSpPr/>
            <p:nvPr/>
          </p:nvSpPr>
          <p:spPr>
            <a:xfrm flipH="false" flipV="false" rot="0">
              <a:off x="0" y="0"/>
              <a:ext cx="21844000" cy="2286000"/>
            </a:xfrm>
            <a:custGeom>
              <a:avLst/>
              <a:gdLst/>
              <a:ahLst/>
              <a:cxnLst/>
              <a:rect r="r" b="b" t="t" l="l"/>
              <a:pathLst>
                <a:path h="2286000" w="21844000">
                  <a:moveTo>
                    <a:pt x="13291" y="0"/>
                  </a:moveTo>
                  <a:lnTo>
                    <a:pt x="21830709" y="0"/>
                  </a:lnTo>
                  <a:cubicBezTo>
                    <a:pt x="21838050" y="0"/>
                    <a:pt x="21844000" y="5950"/>
                    <a:pt x="21844000" y="13291"/>
                  </a:cubicBezTo>
                  <a:lnTo>
                    <a:pt x="21844000" y="2272709"/>
                  </a:lnTo>
                  <a:cubicBezTo>
                    <a:pt x="21844000" y="2280050"/>
                    <a:pt x="21838050" y="2286000"/>
                    <a:pt x="21830709" y="2286000"/>
                  </a:cubicBezTo>
                  <a:lnTo>
                    <a:pt x="13291" y="2286000"/>
                  </a:lnTo>
                  <a:cubicBezTo>
                    <a:pt x="5950" y="2286000"/>
                    <a:pt x="0" y="2280050"/>
                    <a:pt x="0" y="2272709"/>
                  </a:cubicBezTo>
                  <a:lnTo>
                    <a:pt x="0" y="13291"/>
                  </a:lnTo>
                  <a:cubicBezTo>
                    <a:pt x="0" y="5950"/>
                    <a:pt x="5950" y="0"/>
                    <a:pt x="13291" y="0"/>
                  </a:cubicBezTo>
                  <a:close/>
                </a:path>
              </a:pathLst>
            </a:custGeom>
            <a:solidFill>
              <a:srgbClr val="0E1E3A"/>
            </a:solidFill>
          </p:spPr>
        </p:sp>
        <p:sp>
          <p:nvSpPr>
            <p:cNvPr name="TextBox 51" id="51"/>
            <p:cNvSpPr txBox="true"/>
            <p:nvPr/>
          </p:nvSpPr>
          <p:spPr>
            <a:xfrm>
              <a:off x="0" y="-38100"/>
              <a:ext cx="21844000" cy="2324100"/>
            </a:xfrm>
            <a:prstGeom prst="rect">
              <a:avLst/>
            </a:prstGeom>
          </p:spPr>
          <p:txBody>
            <a:bodyPr anchor="ctr" rtlCol="false" tIns="50800" lIns="50800" bIns="50800" rIns="50800"/>
            <a:lstStyle/>
            <a:p>
              <a:pPr algn="l">
                <a:lnSpc>
                  <a:spcPts val="1679"/>
                </a:lnSpc>
              </a:pPr>
            </a:p>
          </p:txBody>
        </p:sp>
      </p:grpSp>
      <p:sp>
        <p:nvSpPr>
          <p:cNvPr name="TextBox 52" id="52"/>
          <p:cNvSpPr txBox="true"/>
          <p:nvPr/>
        </p:nvSpPr>
        <p:spPr>
          <a:xfrm rot="0">
            <a:off x="1257300" y="8067675"/>
            <a:ext cx="5715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RECOMMENDATION</a:t>
            </a:r>
          </a:p>
        </p:txBody>
      </p:sp>
      <p:sp>
        <p:nvSpPr>
          <p:cNvPr name="TextBox 53" id="53"/>
          <p:cNvSpPr txBox="true"/>
          <p:nvPr/>
        </p:nvSpPr>
        <p:spPr>
          <a:xfrm rot="0">
            <a:off x="1257300" y="8429625"/>
            <a:ext cx="15811500" cy="677227"/>
          </a:xfrm>
          <a:prstGeom prst="rect">
            <a:avLst/>
          </a:prstGeom>
        </p:spPr>
        <p:txBody>
          <a:bodyPr anchor="t" rtlCol="false" tIns="0" lIns="0" bIns="0" rIns="0">
            <a:spAutoFit/>
          </a:bodyPr>
          <a:lstStyle/>
          <a:p>
            <a:pPr algn="l">
              <a:lnSpc>
                <a:spcPts val="2632"/>
              </a:lnSpc>
            </a:pPr>
            <a:r>
              <a:rPr lang="en-US" sz="1950">
                <a:solidFill>
                  <a:srgbClr val="FFFFFF"/>
                </a:solidFill>
                <a:latin typeface="Arimo"/>
                <a:ea typeface="Arimo"/>
                <a:cs typeface="Arimo"/>
                <a:sym typeface="Arimo"/>
              </a:rPr>
              <a:t>Build the hoop-reinforced (sleeved) actuator: it bends 2.8× more at moderate pressure, stays predictable across the range and is captured by the simple beam model. Keep one bare specimen to measure the ballooning limit.</a:t>
            </a:r>
          </a:p>
        </p:txBody>
      </p:sp>
      <p:sp>
        <p:nvSpPr>
          <p:cNvPr name="TextBox 54" id="54"/>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55" id="55"/>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19</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71450" cy="10287000"/>
            <a:chOff x="0" y="0"/>
            <a:chExt cx="228600" cy="13716000"/>
          </a:xfrm>
        </p:grpSpPr>
        <p:sp>
          <p:nvSpPr>
            <p:cNvPr name="Freeform 3" id="3"/>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0E1E3A"/>
            </a:solidFill>
          </p:spPr>
        </p:sp>
        <p:sp>
          <p:nvSpPr>
            <p:cNvPr name="TextBox 4" id="4"/>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390525"/>
            <a:ext cx="142875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NEXT MONTH · PLAN</a:t>
            </a:r>
          </a:p>
        </p:txBody>
      </p:sp>
      <p:sp>
        <p:nvSpPr>
          <p:cNvPr name="TextBox 6" id="6"/>
          <p:cNvSpPr txBox="true"/>
          <p:nvPr/>
        </p:nvSpPr>
        <p:spPr>
          <a:xfrm rot="0">
            <a:off x="952500" y="638175"/>
            <a:ext cx="16383000" cy="676275"/>
          </a:xfrm>
          <a:prstGeom prst="rect">
            <a:avLst/>
          </a:prstGeom>
        </p:spPr>
        <p:txBody>
          <a:bodyPr anchor="t" rtlCol="false" tIns="0" lIns="0" bIns="0" rIns="0">
            <a:spAutoFit/>
          </a:bodyPr>
          <a:lstStyle/>
          <a:p>
            <a:pPr algn="l" marL="0" indent="0" lvl="0">
              <a:lnSpc>
                <a:spcPts val="5250"/>
              </a:lnSpc>
              <a:spcBef>
                <a:spcPct val="0"/>
              </a:spcBef>
            </a:pPr>
            <a:r>
              <a:rPr lang="en-US" b="true" sz="3750" strike="noStrike" u="none">
                <a:solidFill>
                  <a:srgbClr val="0E1E3A"/>
                </a:solidFill>
                <a:latin typeface="Arimo Bold"/>
                <a:ea typeface="Arimo Bold"/>
                <a:cs typeface="Arimo Bold"/>
                <a:sym typeface="Arimo Bold"/>
              </a:rPr>
              <a:t>Timeline: 9 October – 8 November 2026</a:t>
            </a:r>
          </a:p>
        </p:txBody>
      </p:sp>
      <p:sp>
        <p:nvSpPr>
          <p:cNvPr name="TextBox 7" id="7"/>
          <p:cNvSpPr txBox="true"/>
          <p:nvPr/>
        </p:nvSpPr>
        <p:spPr>
          <a:xfrm rot="0">
            <a:off x="952500" y="1447800"/>
            <a:ext cx="16383000" cy="350520"/>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3B4A5E"/>
                </a:solidFill>
                <a:latin typeface="Arimo"/>
                <a:ea typeface="Arimo"/>
                <a:cs typeface="Arimo"/>
                <a:sym typeface="Arimo"/>
              </a:rPr>
              <a:t>What we will do: multi-cavity designs that bend in any x–y direction, an ANSYS check of every model, then mould and experiments</a:t>
            </a:r>
          </a:p>
        </p:txBody>
      </p:sp>
      <p:grpSp>
        <p:nvGrpSpPr>
          <p:cNvPr name="Group 8" id="8"/>
          <p:cNvGrpSpPr/>
          <p:nvPr/>
        </p:nvGrpSpPr>
        <p:grpSpPr>
          <a:xfrm rot="0">
            <a:off x="952500" y="2038350"/>
            <a:ext cx="16383000" cy="28575"/>
            <a:chOff x="0" y="0"/>
            <a:chExt cx="21844000" cy="38100"/>
          </a:xfrm>
        </p:grpSpPr>
        <p:sp>
          <p:nvSpPr>
            <p:cNvPr name="Freeform 9" id="9"/>
            <p:cNvSpPr/>
            <p:nvPr/>
          </p:nvSpPr>
          <p:spPr>
            <a:xfrm flipH="false" flipV="false" rot="0">
              <a:off x="0" y="0"/>
              <a:ext cx="21844000" cy="38100"/>
            </a:xfrm>
            <a:custGeom>
              <a:avLst/>
              <a:gdLst/>
              <a:ahLst/>
              <a:cxnLst/>
              <a:rect r="r" b="b" t="t" l="l"/>
              <a:pathLst>
                <a:path h="38100" w="21844000">
                  <a:moveTo>
                    <a:pt x="0" y="0"/>
                  </a:moveTo>
                  <a:lnTo>
                    <a:pt x="21844000" y="0"/>
                  </a:lnTo>
                  <a:lnTo>
                    <a:pt x="21844000" y="38100"/>
                  </a:lnTo>
                  <a:lnTo>
                    <a:pt x="0" y="38100"/>
                  </a:lnTo>
                  <a:close/>
                </a:path>
              </a:pathLst>
            </a:custGeom>
            <a:solidFill>
              <a:srgbClr val="DCE5EF"/>
            </a:solidFill>
          </p:spPr>
        </p:sp>
        <p:sp>
          <p:nvSpPr>
            <p:cNvPr name="TextBox 10" id="10"/>
            <p:cNvSpPr txBox="true"/>
            <p:nvPr/>
          </p:nvSpPr>
          <p:spPr>
            <a:xfrm>
              <a:off x="0" y="-38100"/>
              <a:ext cx="21844000" cy="762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009775"/>
            <a:ext cx="1143000" cy="76200"/>
            <a:chOff x="0" y="0"/>
            <a:chExt cx="1524000" cy="101600"/>
          </a:xfrm>
        </p:grpSpPr>
        <p:sp>
          <p:nvSpPr>
            <p:cNvPr name="Freeform 12" id="12"/>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13" id="13"/>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952500" y="2476500"/>
            <a:ext cx="3810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TASK</a:t>
            </a:r>
          </a:p>
        </p:txBody>
      </p:sp>
      <p:grpSp>
        <p:nvGrpSpPr>
          <p:cNvPr name="Group 15" id="15"/>
          <p:cNvGrpSpPr/>
          <p:nvPr/>
        </p:nvGrpSpPr>
        <p:grpSpPr>
          <a:xfrm rot="0">
            <a:off x="6934200" y="2333625"/>
            <a:ext cx="1943100" cy="609600"/>
            <a:chOff x="0" y="0"/>
            <a:chExt cx="2590800" cy="812800"/>
          </a:xfrm>
        </p:grpSpPr>
        <p:sp>
          <p:nvSpPr>
            <p:cNvPr name="Freeform 16" id="16"/>
            <p:cNvSpPr/>
            <p:nvPr/>
          </p:nvSpPr>
          <p:spPr>
            <a:xfrm flipH="false" flipV="false" rot="0">
              <a:off x="0" y="0"/>
              <a:ext cx="2590800" cy="812800"/>
            </a:xfrm>
            <a:custGeom>
              <a:avLst/>
              <a:gdLst/>
              <a:ahLst/>
              <a:cxnLst/>
              <a:rect r="r" b="b" t="t" l="l"/>
              <a:pathLst>
                <a:path h="812800" w="2590800">
                  <a:moveTo>
                    <a:pt x="62255" y="0"/>
                  </a:moveTo>
                  <a:lnTo>
                    <a:pt x="2528545" y="0"/>
                  </a:lnTo>
                  <a:cubicBezTo>
                    <a:pt x="2545056" y="0"/>
                    <a:pt x="2560891" y="6559"/>
                    <a:pt x="2572566" y="18234"/>
                  </a:cubicBezTo>
                  <a:cubicBezTo>
                    <a:pt x="2584241" y="29909"/>
                    <a:pt x="2590800" y="45744"/>
                    <a:pt x="2590800" y="62255"/>
                  </a:cubicBezTo>
                  <a:lnTo>
                    <a:pt x="2590800" y="750545"/>
                  </a:lnTo>
                  <a:cubicBezTo>
                    <a:pt x="2590800" y="767056"/>
                    <a:pt x="2584241" y="782891"/>
                    <a:pt x="2572566" y="794566"/>
                  </a:cubicBezTo>
                  <a:cubicBezTo>
                    <a:pt x="2560891" y="806241"/>
                    <a:pt x="2545056" y="812800"/>
                    <a:pt x="2528545" y="812800"/>
                  </a:cubicBezTo>
                  <a:lnTo>
                    <a:pt x="62255" y="812800"/>
                  </a:lnTo>
                  <a:cubicBezTo>
                    <a:pt x="45744" y="812800"/>
                    <a:pt x="29909" y="806241"/>
                    <a:pt x="18234" y="794566"/>
                  </a:cubicBezTo>
                  <a:cubicBezTo>
                    <a:pt x="6559" y="782891"/>
                    <a:pt x="0" y="767056"/>
                    <a:pt x="0" y="750545"/>
                  </a:cubicBezTo>
                  <a:lnTo>
                    <a:pt x="0" y="62255"/>
                  </a:lnTo>
                  <a:cubicBezTo>
                    <a:pt x="0" y="45744"/>
                    <a:pt x="6559" y="29909"/>
                    <a:pt x="18234" y="18234"/>
                  </a:cubicBezTo>
                  <a:cubicBezTo>
                    <a:pt x="29909" y="6559"/>
                    <a:pt x="45744" y="0"/>
                    <a:pt x="62255" y="0"/>
                  </a:cubicBezTo>
                  <a:close/>
                </a:path>
              </a:pathLst>
            </a:custGeom>
            <a:solidFill>
              <a:srgbClr val="0E1E3A"/>
            </a:solidFill>
          </p:spPr>
        </p:sp>
        <p:sp>
          <p:nvSpPr>
            <p:cNvPr name="TextBox 17" id="17"/>
            <p:cNvSpPr txBox="true"/>
            <p:nvPr/>
          </p:nvSpPr>
          <p:spPr>
            <a:xfrm>
              <a:off x="0" y="-38100"/>
              <a:ext cx="2590800" cy="8509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9029700" y="2333625"/>
            <a:ext cx="1943100" cy="609600"/>
            <a:chOff x="0" y="0"/>
            <a:chExt cx="2590800" cy="812800"/>
          </a:xfrm>
        </p:grpSpPr>
        <p:sp>
          <p:nvSpPr>
            <p:cNvPr name="Freeform 19" id="19"/>
            <p:cNvSpPr/>
            <p:nvPr/>
          </p:nvSpPr>
          <p:spPr>
            <a:xfrm flipH="false" flipV="false" rot="0">
              <a:off x="0" y="0"/>
              <a:ext cx="2590800" cy="812800"/>
            </a:xfrm>
            <a:custGeom>
              <a:avLst/>
              <a:gdLst/>
              <a:ahLst/>
              <a:cxnLst/>
              <a:rect r="r" b="b" t="t" l="l"/>
              <a:pathLst>
                <a:path h="812800" w="2590800">
                  <a:moveTo>
                    <a:pt x="62255" y="0"/>
                  </a:moveTo>
                  <a:lnTo>
                    <a:pt x="2528545" y="0"/>
                  </a:lnTo>
                  <a:cubicBezTo>
                    <a:pt x="2545056" y="0"/>
                    <a:pt x="2560891" y="6559"/>
                    <a:pt x="2572566" y="18234"/>
                  </a:cubicBezTo>
                  <a:cubicBezTo>
                    <a:pt x="2584241" y="29909"/>
                    <a:pt x="2590800" y="45744"/>
                    <a:pt x="2590800" y="62255"/>
                  </a:cubicBezTo>
                  <a:lnTo>
                    <a:pt x="2590800" y="750545"/>
                  </a:lnTo>
                  <a:cubicBezTo>
                    <a:pt x="2590800" y="767056"/>
                    <a:pt x="2584241" y="782891"/>
                    <a:pt x="2572566" y="794566"/>
                  </a:cubicBezTo>
                  <a:cubicBezTo>
                    <a:pt x="2560891" y="806241"/>
                    <a:pt x="2545056" y="812800"/>
                    <a:pt x="2528545" y="812800"/>
                  </a:cubicBezTo>
                  <a:lnTo>
                    <a:pt x="62255" y="812800"/>
                  </a:lnTo>
                  <a:cubicBezTo>
                    <a:pt x="45744" y="812800"/>
                    <a:pt x="29909" y="806241"/>
                    <a:pt x="18234" y="794566"/>
                  </a:cubicBezTo>
                  <a:cubicBezTo>
                    <a:pt x="6559" y="782891"/>
                    <a:pt x="0" y="767056"/>
                    <a:pt x="0" y="750545"/>
                  </a:cubicBezTo>
                  <a:lnTo>
                    <a:pt x="0" y="62255"/>
                  </a:lnTo>
                  <a:cubicBezTo>
                    <a:pt x="0" y="45744"/>
                    <a:pt x="6559" y="29909"/>
                    <a:pt x="18234" y="18234"/>
                  </a:cubicBezTo>
                  <a:cubicBezTo>
                    <a:pt x="29909" y="6559"/>
                    <a:pt x="45744" y="0"/>
                    <a:pt x="62255" y="0"/>
                  </a:cubicBezTo>
                  <a:close/>
                </a:path>
              </a:pathLst>
            </a:custGeom>
            <a:solidFill>
              <a:srgbClr val="0E1E3A"/>
            </a:solidFill>
          </p:spPr>
        </p:sp>
        <p:sp>
          <p:nvSpPr>
            <p:cNvPr name="TextBox 20" id="20"/>
            <p:cNvSpPr txBox="true"/>
            <p:nvPr/>
          </p:nvSpPr>
          <p:spPr>
            <a:xfrm>
              <a:off x="0" y="-38100"/>
              <a:ext cx="2590800" cy="8509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11125200" y="2333625"/>
            <a:ext cx="1943100" cy="609600"/>
            <a:chOff x="0" y="0"/>
            <a:chExt cx="2590800" cy="812800"/>
          </a:xfrm>
        </p:grpSpPr>
        <p:sp>
          <p:nvSpPr>
            <p:cNvPr name="Freeform 22" id="22"/>
            <p:cNvSpPr/>
            <p:nvPr/>
          </p:nvSpPr>
          <p:spPr>
            <a:xfrm flipH="false" flipV="false" rot="0">
              <a:off x="0" y="0"/>
              <a:ext cx="2590800" cy="812800"/>
            </a:xfrm>
            <a:custGeom>
              <a:avLst/>
              <a:gdLst/>
              <a:ahLst/>
              <a:cxnLst/>
              <a:rect r="r" b="b" t="t" l="l"/>
              <a:pathLst>
                <a:path h="812800" w="2590800">
                  <a:moveTo>
                    <a:pt x="62255" y="0"/>
                  </a:moveTo>
                  <a:lnTo>
                    <a:pt x="2528545" y="0"/>
                  </a:lnTo>
                  <a:cubicBezTo>
                    <a:pt x="2545056" y="0"/>
                    <a:pt x="2560891" y="6559"/>
                    <a:pt x="2572566" y="18234"/>
                  </a:cubicBezTo>
                  <a:cubicBezTo>
                    <a:pt x="2584241" y="29909"/>
                    <a:pt x="2590800" y="45744"/>
                    <a:pt x="2590800" y="62255"/>
                  </a:cubicBezTo>
                  <a:lnTo>
                    <a:pt x="2590800" y="750545"/>
                  </a:lnTo>
                  <a:cubicBezTo>
                    <a:pt x="2590800" y="767056"/>
                    <a:pt x="2584241" y="782891"/>
                    <a:pt x="2572566" y="794566"/>
                  </a:cubicBezTo>
                  <a:cubicBezTo>
                    <a:pt x="2560891" y="806241"/>
                    <a:pt x="2545056" y="812800"/>
                    <a:pt x="2528545" y="812800"/>
                  </a:cubicBezTo>
                  <a:lnTo>
                    <a:pt x="62255" y="812800"/>
                  </a:lnTo>
                  <a:cubicBezTo>
                    <a:pt x="45744" y="812800"/>
                    <a:pt x="29909" y="806241"/>
                    <a:pt x="18234" y="794566"/>
                  </a:cubicBezTo>
                  <a:cubicBezTo>
                    <a:pt x="6559" y="782891"/>
                    <a:pt x="0" y="767056"/>
                    <a:pt x="0" y="750545"/>
                  </a:cubicBezTo>
                  <a:lnTo>
                    <a:pt x="0" y="62255"/>
                  </a:lnTo>
                  <a:cubicBezTo>
                    <a:pt x="0" y="45744"/>
                    <a:pt x="6559" y="29909"/>
                    <a:pt x="18234" y="18234"/>
                  </a:cubicBezTo>
                  <a:cubicBezTo>
                    <a:pt x="29909" y="6559"/>
                    <a:pt x="45744" y="0"/>
                    <a:pt x="62255" y="0"/>
                  </a:cubicBezTo>
                  <a:close/>
                </a:path>
              </a:pathLst>
            </a:custGeom>
            <a:solidFill>
              <a:srgbClr val="0E1E3A"/>
            </a:solidFill>
          </p:spPr>
        </p:sp>
        <p:sp>
          <p:nvSpPr>
            <p:cNvPr name="TextBox 23" id="23"/>
            <p:cNvSpPr txBox="true"/>
            <p:nvPr/>
          </p:nvSpPr>
          <p:spPr>
            <a:xfrm>
              <a:off x="0" y="-38100"/>
              <a:ext cx="2590800" cy="8509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13220700" y="2333625"/>
            <a:ext cx="1943100" cy="609600"/>
            <a:chOff x="0" y="0"/>
            <a:chExt cx="2590800" cy="812800"/>
          </a:xfrm>
        </p:grpSpPr>
        <p:sp>
          <p:nvSpPr>
            <p:cNvPr name="Freeform 25" id="25"/>
            <p:cNvSpPr/>
            <p:nvPr/>
          </p:nvSpPr>
          <p:spPr>
            <a:xfrm flipH="false" flipV="false" rot="0">
              <a:off x="0" y="0"/>
              <a:ext cx="2590800" cy="812800"/>
            </a:xfrm>
            <a:custGeom>
              <a:avLst/>
              <a:gdLst/>
              <a:ahLst/>
              <a:cxnLst/>
              <a:rect r="r" b="b" t="t" l="l"/>
              <a:pathLst>
                <a:path h="812800" w="2590800">
                  <a:moveTo>
                    <a:pt x="62255" y="0"/>
                  </a:moveTo>
                  <a:lnTo>
                    <a:pt x="2528545" y="0"/>
                  </a:lnTo>
                  <a:cubicBezTo>
                    <a:pt x="2545056" y="0"/>
                    <a:pt x="2560891" y="6559"/>
                    <a:pt x="2572566" y="18234"/>
                  </a:cubicBezTo>
                  <a:cubicBezTo>
                    <a:pt x="2584241" y="29909"/>
                    <a:pt x="2590800" y="45744"/>
                    <a:pt x="2590800" y="62255"/>
                  </a:cubicBezTo>
                  <a:lnTo>
                    <a:pt x="2590800" y="750545"/>
                  </a:lnTo>
                  <a:cubicBezTo>
                    <a:pt x="2590800" y="767056"/>
                    <a:pt x="2584241" y="782891"/>
                    <a:pt x="2572566" y="794566"/>
                  </a:cubicBezTo>
                  <a:cubicBezTo>
                    <a:pt x="2560891" y="806241"/>
                    <a:pt x="2545056" y="812800"/>
                    <a:pt x="2528545" y="812800"/>
                  </a:cubicBezTo>
                  <a:lnTo>
                    <a:pt x="62255" y="812800"/>
                  </a:lnTo>
                  <a:cubicBezTo>
                    <a:pt x="45744" y="812800"/>
                    <a:pt x="29909" y="806241"/>
                    <a:pt x="18234" y="794566"/>
                  </a:cubicBezTo>
                  <a:cubicBezTo>
                    <a:pt x="6559" y="782891"/>
                    <a:pt x="0" y="767056"/>
                    <a:pt x="0" y="750545"/>
                  </a:cubicBezTo>
                  <a:lnTo>
                    <a:pt x="0" y="62255"/>
                  </a:lnTo>
                  <a:cubicBezTo>
                    <a:pt x="0" y="45744"/>
                    <a:pt x="6559" y="29909"/>
                    <a:pt x="18234" y="18234"/>
                  </a:cubicBezTo>
                  <a:cubicBezTo>
                    <a:pt x="29909" y="6559"/>
                    <a:pt x="45744" y="0"/>
                    <a:pt x="62255" y="0"/>
                  </a:cubicBezTo>
                  <a:close/>
                </a:path>
              </a:pathLst>
            </a:custGeom>
            <a:solidFill>
              <a:srgbClr val="0E1E3A"/>
            </a:solidFill>
          </p:spPr>
        </p:sp>
        <p:sp>
          <p:nvSpPr>
            <p:cNvPr name="TextBox 26" id="26"/>
            <p:cNvSpPr txBox="true"/>
            <p:nvPr/>
          </p:nvSpPr>
          <p:spPr>
            <a:xfrm>
              <a:off x="0" y="-38100"/>
              <a:ext cx="2590800" cy="8509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15316200" y="2333625"/>
            <a:ext cx="1943100" cy="609600"/>
            <a:chOff x="0" y="0"/>
            <a:chExt cx="2590800" cy="812800"/>
          </a:xfrm>
        </p:grpSpPr>
        <p:sp>
          <p:nvSpPr>
            <p:cNvPr name="Freeform 28" id="28"/>
            <p:cNvSpPr/>
            <p:nvPr/>
          </p:nvSpPr>
          <p:spPr>
            <a:xfrm flipH="false" flipV="false" rot="0">
              <a:off x="0" y="0"/>
              <a:ext cx="2590800" cy="812800"/>
            </a:xfrm>
            <a:custGeom>
              <a:avLst/>
              <a:gdLst/>
              <a:ahLst/>
              <a:cxnLst/>
              <a:rect r="r" b="b" t="t" l="l"/>
              <a:pathLst>
                <a:path h="812800" w="2590800">
                  <a:moveTo>
                    <a:pt x="62255" y="0"/>
                  </a:moveTo>
                  <a:lnTo>
                    <a:pt x="2528545" y="0"/>
                  </a:lnTo>
                  <a:cubicBezTo>
                    <a:pt x="2545056" y="0"/>
                    <a:pt x="2560891" y="6559"/>
                    <a:pt x="2572566" y="18234"/>
                  </a:cubicBezTo>
                  <a:cubicBezTo>
                    <a:pt x="2584241" y="29909"/>
                    <a:pt x="2590800" y="45744"/>
                    <a:pt x="2590800" y="62255"/>
                  </a:cubicBezTo>
                  <a:lnTo>
                    <a:pt x="2590800" y="750545"/>
                  </a:lnTo>
                  <a:cubicBezTo>
                    <a:pt x="2590800" y="767056"/>
                    <a:pt x="2584241" y="782891"/>
                    <a:pt x="2572566" y="794566"/>
                  </a:cubicBezTo>
                  <a:cubicBezTo>
                    <a:pt x="2560891" y="806241"/>
                    <a:pt x="2545056" y="812800"/>
                    <a:pt x="2528545" y="812800"/>
                  </a:cubicBezTo>
                  <a:lnTo>
                    <a:pt x="62255" y="812800"/>
                  </a:lnTo>
                  <a:cubicBezTo>
                    <a:pt x="45744" y="812800"/>
                    <a:pt x="29909" y="806241"/>
                    <a:pt x="18234" y="794566"/>
                  </a:cubicBezTo>
                  <a:cubicBezTo>
                    <a:pt x="6559" y="782891"/>
                    <a:pt x="0" y="767056"/>
                    <a:pt x="0" y="750545"/>
                  </a:cubicBezTo>
                  <a:lnTo>
                    <a:pt x="0" y="62255"/>
                  </a:lnTo>
                  <a:cubicBezTo>
                    <a:pt x="0" y="45744"/>
                    <a:pt x="6559" y="29909"/>
                    <a:pt x="18234" y="18234"/>
                  </a:cubicBezTo>
                  <a:cubicBezTo>
                    <a:pt x="29909" y="6559"/>
                    <a:pt x="45744" y="0"/>
                    <a:pt x="62255" y="0"/>
                  </a:cubicBezTo>
                  <a:close/>
                </a:path>
              </a:pathLst>
            </a:custGeom>
            <a:solidFill>
              <a:srgbClr val="0E1E3A"/>
            </a:solidFill>
          </p:spPr>
        </p:sp>
        <p:sp>
          <p:nvSpPr>
            <p:cNvPr name="TextBox 29" id="29"/>
            <p:cNvSpPr txBox="true"/>
            <p:nvPr/>
          </p:nvSpPr>
          <p:spPr>
            <a:xfrm>
              <a:off x="0" y="-38100"/>
              <a:ext cx="2590800" cy="8509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6934200" y="2486025"/>
            <a:ext cx="1943100" cy="249555"/>
          </a:xfrm>
          <a:prstGeom prst="rect">
            <a:avLst/>
          </a:prstGeom>
        </p:spPr>
        <p:txBody>
          <a:bodyPr anchor="t" rtlCol="false" tIns="0" lIns="0" bIns="0" rIns="0">
            <a:spAutoFit/>
          </a:bodyPr>
          <a:lstStyle/>
          <a:p>
            <a:pPr algn="ctr" marL="0" indent="0" lvl="0">
              <a:lnSpc>
                <a:spcPts val="1995"/>
              </a:lnSpc>
              <a:spcBef>
                <a:spcPct val="0"/>
              </a:spcBef>
            </a:pPr>
            <a:r>
              <a:rPr lang="en-US" b="true" sz="1425" strike="noStrike" u="none">
                <a:solidFill>
                  <a:srgbClr val="FFFFFF"/>
                </a:solidFill>
                <a:latin typeface="Arimo Bold"/>
                <a:ea typeface="Arimo Bold"/>
                <a:cs typeface="Arimo Bold"/>
                <a:sym typeface="Arimo Bold"/>
              </a:rPr>
              <a:t>W1 · 5–11 Oct</a:t>
            </a:r>
          </a:p>
        </p:txBody>
      </p:sp>
      <p:sp>
        <p:nvSpPr>
          <p:cNvPr name="TextBox 31" id="31"/>
          <p:cNvSpPr txBox="true"/>
          <p:nvPr/>
        </p:nvSpPr>
        <p:spPr>
          <a:xfrm rot="0">
            <a:off x="9029700" y="2486025"/>
            <a:ext cx="1943100" cy="249555"/>
          </a:xfrm>
          <a:prstGeom prst="rect">
            <a:avLst/>
          </a:prstGeom>
        </p:spPr>
        <p:txBody>
          <a:bodyPr anchor="t" rtlCol="false" tIns="0" lIns="0" bIns="0" rIns="0">
            <a:spAutoFit/>
          </a:bodyPr>
          <a:lstStyle/>
          <a:p>
            <a:pPr algn="ctr" marL="0" indent="0" lvl="0">
              <a:lnSpc>
                <a:spcPts val="1995"/>
              </a:lnSpc>
              <a:spcBef>
                <a:spcPct val="0"/>
              </a:spcBef>
            </a:pPr>
            <a:r>
              <a:rPr lang="en-US" b="true" sz="1425" strike="noStrike" u="none">
                <a:solidFill>
                  <a:srgbClr val="FFFFFF"/>
                </a:solidFill>
                <a:latin typeface="Arimo Bold"/>
                <a:ea typeface="Arimo Bold"/>
                <a:cs typeface="Arimo Bold"/>
                <a:sym typeface="Arimo Bold"/>
              </a:rPr>
              <a:t>W2 · 12–18 Oct</a:t>
            </a:r>
          </a:p>
        </p:txBody>
      </p:sp>
      <p:sp>
        <p:nvSpPr>
          <p:cNvPr name="TextBox 32" id="32"/>
          <p:cNvSpPr txBox="true"/>
          <p:nvPr/>
        </p:nvSpPr>
        <p:spPr>
          <a:xfrm rot="0">
            <a:off x="11125200" y="2486025"/>
            <a:ext cx="1943100" cy="249555"/>
          </a:xfrm>
          <a:prstGeom prst="rect">
            <a:avLst/>
          </a:prstGeom>
        </p:spPr>
        <p:txBody>
          <a:bodyPr anchor="t" rtlCol="false" tIns="0" lIns="0" bIns="0" rIns="0">
            <a:spAutoFit/>
          </a:bodyPr>
          <a:lstStyle/>
          <a:p>
            <a:pPr algn="ctr" marL="0" indent="0" lvl="0">
              <a:lnSpc>
                <a:spcPts val="1995"/>
              </a:lnSpc>
              <a:spcBef>
                <a:spcPct val="0"/>
              </a:spcBef>
            </a:pPr>
            <a:r>
              <a:rPr lang="en-US" b="true" sz="1425" strike="noStrike" u="none">
                <a:solidFill>
                  <a:srgbClr val="FFFFFF"/>
                </a:solidFill>
                <a:latin typeface="Arimo Bold"/>
                <a:ea typeface="Arimo Bold"/>
                <a:cs typeface="Arimo Bold"/>
                <a:sym typeface="Arimo Bold"/>
              </a:rPr>
              <a:t>W3 · 19–25 Oct</a:t>
            </a:r>
          </a:p>
        </p:txBody>
      </p:sp>
      <p:sp>
        <p:nvSpPr>
          <p:cNvPr name="TextBox 33" id="33"/>
          <p:cNvSpPr txBox="true"/>
          <p:nvPr/>
        </p:nvSpPr>
        <p:spPr>
          <a:xfrm rot="0">
            <a:off x="13220700" y="2486025"/>
            <a:ext cx="1943100" cy="249555"/>
          </a:xfrm>
          <a:prstGeom prst="rect">
            <a:avLst/>
          </a:prstGeom>
        </p:spPr>
        <p:txBody>
          <a:bodyPr anchor="t" rtlCol="false" tIns="0" lIns="0" bIns="0" rIns="0">
            <a:spAutoFit/>
          </a:bodyPr>
          <a:lstStyle/>
          <a:p>
            <a:pPr algn="ctr" marL="0" indent="0" lvl="0">
              <a:lnSpc>
                <a:spcPts val="1995"/>
              </a:lnSpc>
              <a:spcBef>
                <a:spcPct val="0"/>
              </a:spcBef>
            </a:pPr>
            <a:r>
              <a:rPr lang="en-US" b="true" sz="1425" strike="noStrike" u="none">
                <a:solidFill>
                  <a:srgbClr val="FFFFFF"/>
                </a:solidFill>
                <a:latin typeface="Arimo Bold"/>
                <a:ea typeface="Arimo Bold"/>
                <a:cs typeface="Arimo Bold"/>
                <a:sym typeface="Arimo Bold"/>
              </a:rPr>
              <a:t>W4 · 26 Oct–1 Nov</a:t>
            </a:r>
          </a:p>
        </p:txBody>
      </p:sp>
      <p:sp>
        <p:nvSpPr>
          <p:cNvPr name="TextBox 34" id="34"/>
          <p:cNvSpPr txBox="true"/>
          <p:nvPr/>
        </p:nvSpPr>
        <p:spPr>
          <a:xfrm rot="0">
            <a:off x="15316200" y="2486025"/>
            <a:ext cx="1943100" cy="249555"/>
          </a:xfrm>
          <a:prstGeom prst="rect">
            <a:avLst/>
          </a:prstGeom>
        </p:spPr>
        <p:txBody>
          <a:bodyPr anchor="t" rtlCol="false" tIns="0" lIns="0" bIns="0" rIns="0">
            <a:spAutoFit/>
          </a:bodyPr>
          <a:lstStyle/>
          <a:p>
            <a:pPr algn="ctr" marL="0" indent="0" lvl="0">
              <a:lnSpc>
                <a:spcPts val="1995"/>
              </a:lnSpc>
              <a:spcBef>
                <a:spcPct val="0"/>
              </a:spcBef>
            </a:pPr>
            <a:r>
              <a:rPr lang="en-US" b="true" sz="1425" strike="noStrike" u="none">
                <a:solidFill>
                  <a:srgbClr val="FFFFFF"/>
                </a:solidFill>
                <a:latin typeface="Arimo Bold"/>
                <a:ea typeface="Arimo Bold"/>
                <a:cs typeface="Arimo Bold"/>
                <a:sym typeface="Arimo Bold"/>
              </a:rPr>
              <a:t>W5 · 2–8 Nov</a:t>
            </a:r>
          </a:p>
        </p:txBody>
      </p:sp>
      <p:grpSp>
        <p:nvGrpSpPr>
          <p:cNvPr name="Group 35" id="35"/>
          <p:cNvGrpSpPr/>
          <p:nvPr/>
        </p:nvGrpSpPr>
        <p:grpSpPr>
          <a:xfrm rot="0">
            <a:off x="952500" y="3095625"/>
            <a:ext cx="16383000" cy="533400"/>
            <a:chOff x="0" y="0"/>
            <a:chExt cx="21844000" cy="711200"/>
          </a:xfrm>
        </p:grpSpPr>
        <p:sp>
          <p:nvSpPr>
            <p:cNvPr name="Freeform 36" id="36"/>
            <p:cNvSpPr/>
            <p:nvPr/>
          </p:nvSpPr>
          <p:spPr>
            <a:xfrm flipH="false" flipV="false" rot="0">
              <a:off x="0" y="0"/>
              <a:ext cx="21844000" cy="711200"/>
            </a:xfrm>
            <a:custGeom>
              <a:avLst/>
              <a:gdLst/>
              <a:ahLst/>
              <a:cxnLst/>
              <a:rect r="r" b="b" t="t" l="l"/>
              <a:pathLst>
                <a:path h="711200" w="21844000">
                  <a:moveTo>
                    <a:pt x="7384" y="0"/>
                  </a:moveTo>
                  <a:lnTo>
                    <a:pt x="21836616" y="0"/>
                  </a:lnTo>
                  <a:cubicBezTo>
                    <a:pt x="21840695" y="0"/>
                    <a:pt x="21844000" y="3306"/>
                    <a:pt x="21844000" y="7384"/>
                  </a:cubicBezTo>
                  <a:lnTo>
                    <a:pt x="21844000" y="703816"/>
                  </a:lnTo>
                  <a:cubicBezTo>
                    <a:pt x="21844000" y="707894"/>
                    <a:pt x="21840695" y="711200"/>
                    <a:pt x="21836616" y="711200"/>
                  </a:cubicBezTo>
                  <a:lnTo>
                    <a:pt x="7384" y="711200"/>
                  </a:lnTo>
                  <a:cubicBezTo>
                    <a:pt x="3306" y="711200"/>
                    <a:pt x="0" y="707894"/>
                    <a:pt x="0" y="703816"/>
                  </a:cubicBezTo>
                  <a:lnTo>
                    <a:pt x="0" y="7384"/>
                  </a:lnTo>
                  <a:cubicBezTo>
                    <a:pt x="0" y="3306"/>
                    <a:pt x="3306" y="0"/>
                    <a:pt x="7384" y="0"/>
                  </a:cubicBezTo>
                  <a:close/>
                </a:path>
              </a:pathLst>
            </a:custGeom>
            <a:solidFill>
              <a:srgbClr val="F1F5FA"/>
            </a:solidFill>
          </p:spPr>
        </p:sp>
        <p:sp>
          <p:nvSpPr>
            <p:cNvPr name="TextBox 37" id="37"/>
            <p:cNvSpPr txBox="true"/>
            <p:nvPr/>
          </p:nvSpPr>
          <p:spPr>
            <a:xfrm>
              <a:off x="0" y="-38100"/>
              <a:ext cx="21844000" cy="749300"/>
            </a:xfrm>
            <a:prstGeom prst="rect">
              <a:avLst/>
            </a:prstGeom>
          </p:spPr>
          <p:txBody>
            <a:bodyPr anchor="ctr" rtlCol="false" tIns="50800" lIns="50800" bIns="50800" rIns="50800"/>
            <a:lstStyle/>
            <a:p>
              <a:pPr algn="l">
                <a:lnSpc>
                  <a:spcPts val="1679"/>
                </a:lnSpc>
              </a:pPr>
            </a:p>
          </p:txBody>
        </p:sp>
      </p:grpSp>
      <p:grpSp>
        <p:nvGrpSpPr>
          <p:cNvPr name="Group 38" id="38"/>
          <p:cNvGrpSpPr/>
          <p:nvPr/>
        </p:nvGrpSpPr>
        <p:grpSpPr>
          <a:xfrm rot="0">
            <a:off x="952500" y="4276725"/>
            <a:ext cx="16383000" cy="533400"/>
            <a:chOff x="0" y="0"/>
            <a:chExt cx="21844000" cy="711200"/>
          </a:xfrm>
        </p:grpSpPr>
        <p:sp>
          <p:nvSpPr>
            <p:cNvPr name="Freeform 39" id="39"/>
            <p:cNvSpPr/>
            <p:nvPr/>
          </p:nvSpPr>
          <p:spPr>
            <a:xfrm flipH="false" flipV="false" rot="0">
              <a:off x="0" y="0"/>
              <a:ext cx="21844000" cy="711200"/>
            </a:xfrm>
            <a:custGeom>
              <a:avLst/>
              <a:gdLst/>
              <a:ahLst/>
              <a:cxnLst/>
              <a:rect r="r" b="b" t="t" l="l"/>
              <a:pathLst>
                <a:path h="711200" w="21844000">
                  <a:moveTo>
                    <a:pt x="7384" y="0"/>
                  </a:moveTo>
                  <a:lnTo>
                    <a:pt x="21836616" y="0"/>
                  </a:lnTo>
                  <a:cubicBezTo>
                    <a:pt x="21840695" y="0"/>
                    <a:pt x="21844000" y="3306"/>
                    <a:pt x="21844000" y="7384"/>
                  </a:cubicBezTo>
                  <a:lnTo>
                    <a:pt x="21844000" y="703816"/>
                  </a:lnTo>
                  <a:cubicBezTo>
                    <a:pt x="21844000" y="707894"/>
                    <a:pt x="21840695" y="711200"/>
                    <a:pt x="21836616" y="711200"/>
                  </a:cubicBezTo>
                  <a:lnTo>
                    <a:pt x="7384" y="711200"/>
                  </a:lnTo>
                  <a:cubicBezTo>
                    <a:pt x="3306" y="711200"/>
                    <a:pt x="0" y="707894"/>
                    <a:pt x="0" y="703816"/>
                  </a:cubicBezTo>
                  <a:lnTo>
                    <a:pt x="0" y="7384"/>
                  </a:lnTo>
                  <a:cubicBezTo>
                    <a:pt x="0" y="3306"/>
                    <a:pt x="3306" y="0"/>
                    <a:pt x="7384" y="0"/>
                  </a:cubicBezTo>
                  <a:close/>
                </a:path>
              </a:pathLst>
            </a:custGeom>
            <a:solidFill>
              <a:srgbClr val="F1F5FA"/>
            </a:solidFill>
          </p:spPr>
        </p:sp>
        <p:sp>
          <p:nvSpPr>
            <p:cNvPr name="TextBox 40" id="40"/>
            <p:cNvSpPr txBox="true"/>
            <p:nvPr/>
          </p:nvSpPr>
          <p:spPr>
            <a:xfrm>
              <a:off x="0" y="-38100"/>
              <a:ext cx="21844000" cy="749300"/>
            </a:xfrm>
            <a:prstGeom prst="rect">
              <a:avLst/>
            </a:prstGeom>
          </p:spPr>
          <p:txBody>
            <a:bodyPr anchor="ctr" rtlCol="false" tIns="50800" lIns="50800" bIns="50800" rIns="50800"/>
            <a:lstStyle/>
            <a:p>
              <a:pPr algn="l">
                <a:lnSpc>
                  <a:spcPts val="1679"/>
                </a:lnSpc>
              </a:pPr>
            </a:p>
          </p:txBody>
        </p:sp>
      </p:grpSp>
      <p:grpSp>
        <p:nvGrpSpPr>
          <p:cNvPr name="Group 41" id="41"/>
          <p:cNvGrpSpPr/>
          <p:nvPr/>
        </p:nvGrpSpPr>
        <p:grpSpPr>
          <a:xfrm rot="0">
            <a:off x="952500" y="5457825"/>
            <a:ext cx="16383000" cy="533400"/>
            <a:chOff x="0" y="0"/>
            <a:chExt cx="21844000" cy="711200"/>
          </a:xfrm>
        </p:grpSpPr>
        <p:sp>
          <p:nvSpPr>
            <p:cNvPr name="Freeform 42" id="42"/>
            <p:cNvSpPr/>
            <p:nvPr/>
          </p:nvSpPr>
          <p:spPr>
            <a:xfrm flipH="false" flipV="false" rot="0">
              <a:off x="0" y="0"/>
              <a:ext cx="21844000" cy="711200"/>
            </a:xfrm>
            <a:custGeom>
              <a:avLst/>
              <a:gdLst/>
              <a:ahLst/>
              <a:cxnLst/>
              <a:rect r="r" b="b" t="t" l="l"/>
              <a:pathLst>
                <a:path h="711200" w="21844000">
                  <a:moveTo>
                    <a:pt x="7384" y="0"/>
                  </a:moveTo>
                  <a:lnTo>
                    <a:pt x="21836616" y="0"/>
                  </a:lnTo>
                  <a:cubicBezTo>
                    <a:pt x="21840695" y="0"/>
                    <a:pt x="21844000" y="3306"/>
                    <a:pt x="21844000" y="7384"/>
                  </a:cubicBezTo>
                  <a:lnTo>
                    <a:pt x="21844000" y="703816"/>
                  </a:lnTo>
                  <a:cubicBezTo>
                    <a:pt x="21844000" y="707894"/>
                    <a:pt x="21840695" y="711200"/>
                    <a:pt x="21836616" y="711200"/>
                  </a:cubicBezTo>
                  <a:lnTo>
                    <a:pt x="7384" y="711200"/>
                  </a:lnTo>
                  <a:cubicBezTo>
                    <a:pt x="3306" y="711200"/>
                    <a:pt x="0" y="707894"/>
                    <a:pt x="0" y="703816"/>
                  </a:cubicBezTo>
                  <a:lnTo>
                    <a:pt x="0" y="7384"/>
                  </a:lnTo>
                  <a:cubicBezTo>
                    <a:pt x="0" y="3306"/>
                    <a:pt x="3306" y="0"/>
                    <a:pt x="7384" y="0"/>
                  </a:cubicBezTo>
                  <a:close/>
                </a:path>
              </a:pathLst>
            </a:custGeom>
            <a:solidFill>
              <a:srgbClr val="F1F5FA"/>
            </a:solidFill>
          </p:spPr>
        </p:sp>
        <p:sp>
          <p:nvSpPr>
            <p:cNvPr name="TextBox 43" id="43"/>
            <p:cNvSpPr txBox="true"/>
            <p:nvPr/>
          </p:nvSpPr>
          <p:spPr>
            <a:xfrm>
              <a:off x="0" y="-38100"/>
              <a:ext cx="21844000" cy="749300"/>
            </a:xfrm>
            <a:prstGeom prst="rect">
              <a:avLst/>
            </a:prstGeom>
          </p:spPr>
          <p:txBody>
            <a:bodyPr anchor="ctr" rtlCol="false" tIns="50800" lIns="50800" bIns="50800" rIns="50800"/>
            <a:lstStyle/>
            <a:p>
              <a:pPr algn="l">
                <a:lnSpc>
                  <a:spcPts val="1679"/>
                </a:lnSpc>
              </a:pPr>
            </a:p>
          </p:txBody>
        </p:sp>
      </p:grpSp>
      <p:grpSp>
        <p:nvGrpSpPr>
          <p:cNvPr name="Group 44" id="44"/>
          <p:cNvGrpSpPr/>
          <p:nvPr/>
        </p:nvGrpSpPr>
        <p:grpSpPr>
          <a:xfrm rot="0">
            <a:off x="952500" y="6638925"/>
            <a:ext cx="16383000" cy="533400"/>
            <a:chOff x="0" y="0"/>
            <a:chExt cx="21844000" cy="711200"/>
          </a:xfrm>
        </p:grpSpPr>
        <p:sp>
          <p:nvSpPr>
            <p:cNvPr name="Freeform 45" id="45"/>
            <p:cNvSpPr/>
            <p:nvPr/>
          </p:nvSpPr>
          <p:spPr>
            <a:xfrm flipH="false" flipV="false" rot="0">
              <a:off x="0" y="0"/>
              <a:ext cx="21844000" cy="711200"/>
            </a:xfrm>
            <a:custGeom>
              <a:avLst/>
              <a:gdLst/>
              <a:ahLst/>
              <a:cxnLst/>
              <a:rect r="r" b="b" t="t" l="l"/>
              <a:pathLst>
                <a:path h="711200" w="21844000">
                  <a:moveTo>
                    <a:pt x="7384" y="0"/>
                  </a:moveTo>
                  <a:lnTo>
                    <a:pt x="21836616" y="0"/>
                  </a:lnTo>
                  <a:cubicBezTo>
                    <a:pt x="21840695" y="0"/>
                    <a:pt x="21844000" y="3306"/>
                    <a:pt x="21844000" y="7384"/>
                  </a:cubicBezTo>
                  <a:lnTo>
                    <a:pt x="21844000" y="703816"/>
                  </a:lnTo>
                  <a:cubicBezTo>
                    <a:pt x="21844000" y="707894"/>
                    <a:pt x="21840695" y="711200"/>
                    <a:pt x="21836616" y="711200"/>
                  </a:cubicBezTo>
                  <a:lnTo>
                    <a:pt x="7384" y="711200"/>
                  </a:lnTo>
                  <a:cubicBezTo>
                    <a:pt x="3306" y="711200"/>
                    <a:pt x="0" y="707894"/>
                    <a:pt x="0" y="703816"/>
                  </a:cubicBezTo>
                  <a:lnTo>
                    <a:pt x="0" y="7384"/>
                  </a:lnTo>
                  <a:cubicBezTo>
                    <a:pt x="0" y="3306"/>
                    <a:pt x="3306" y="0"/>
                    <a:pt x="7384" y="0"/>
                  </a:cubicBezTo>
                  <a:close/>
                </a:path>
              </a:pathLst>
            </a:custGeom>
            <a:solidFill>
              <a:srgbClr val="F1F5FA"/>
            </a:solidFill>
          </p:spPr>
        </p:sp>
        <p:sp>
          <p:nvSpPr>
            <p:cNvPr name="TextBox 46" id="46"/>
            <p:cNvSpPr txBox="true"/>
            <p:nvPr/>
          </p:nvSpPr>
          <p:spPr>
            <a:xfrm>
              <a:off x="0" y="-38100"/>
              <a:ext cx="21844000" cy="749300"/>
            </a:xfrm>
            <a:prstGeom prst="rect">
              <a:avLst/>
            </a:prstGeom>
          </p:spPr>
          <p:txBody>
            <a:bodyPr anchor="ctr" rtlCol="false" tIns="50800" lIns="50800" bIns="50800" rIns="50800"/>
            <a:lstStyle/>
            <a:p>
              <a:pPr algn="l">
                <a:lnSpc>
                  <a:spcPts val="1679"/>
                </a:lnSpc>
              </a:pPr>
            </a:p>
          </p:txBody>
        </p:sp>
      </p:grpSp>
      <p:grpSp>
        <p:nvGrpSpPr>
          <p:cNvPr name="Group 47" id="47"/>
          <p:cNvGrpSpPr/>
          <p:nvPr/>
        </p:nvGrpSpPr>
        <p:grpSpPr>
          <a:xfrm rot="0">
            <a:off x="952500" y="7820025"/>
            <a:ext cx="16383000" cy="533400"/>
            <a:chOff x="0" y="0"/>
            <a:chExt cx="21844000" cy="711200"/>
          </a:xfrm>
        </p:grpSpPr>
        <p:sp>
          <p:nvSpPr>
            <p:cNvPr name="Freeform 48" id="48"/>
            <p:cNvSpPr/>
            <p:nvPr/>
          </p:nvSpPr>
          <p:spPr>
            <a:xfrm flipH="false" flipV="false" rot="0">
              <a:off x="0" y="0"/>
              <a:ext cx="21844000" cy="711200"/>
            </a:xfrm>
            <a:custGeom>
              <a:avLst/>
              <a:gdLst/>
              <a:ahLst/>
              <a:cxnLst/>
              <a:rect r="r" b="b" t="t" l="l"/>
              <a:pathLst>
                <a:path h="711200" w="21844000">
                  <a:moveTo>
                    <a:pt x="7384" y="0"/>
                  </a:moveTo>
                  <a:lnTo>
                    <a:pt x="21836616" y="0"/>
                  </a:lnTo>
                  <a:cubicBezTo>
                    <a:pt x="21840695" y="0"/>
                    <a:pt x="21844000" y="3306"/>
                    <a:pt x="21844000" y="7384"/>
                  </a:cubicBezTo>
                  <a:lnTo>
                    <a:pt x="21844000" y="703816"/>
                  </a:lnTo>
                  <a:cubicBezTo>
                    <a:pt x="21844000" y="707894"/>
                    <a:pt x="21840695" y="711200"/>
                    <a:pt x="21836616" y="711200"/>
                  </a:cubicBezTo>
                  <a:lnTo>
                    <a:pt x="7384" y="711200"/>
                  </a:lnTo>
                  <a:cubicBezTo>
                    <a:pt x="3306" y="711200"/>
                    <a:pt x="0" y="707894"/>
                    <a:pt x="0" y="703816"/>
                  </a:cubicBezTo>
                  <a:lnTo>
                    <a:pt x="0" y="7384"/>
                  </a:lnTo>
                  <a:cubicBezTo>
                    <a:pt x="0" y="3306"/>
                    <a:pt x="3306" y="0"/>
                    <a:pt x="7384" y="0"/>
                  </a:cubicBezTo>
                  <a:close/>
                </a:path>
              </a:pathLst>
            </a:custGeom>
            <a:solidFill>
              <a:srgbClr val="F1F5FA"/>
            </a:solidFill>
          </p:spPr>
        </p:sp>
        <p:sp>
          <p:nvSpPr>
            <p:cNvPr name="TextBox 49" id="49"/>
            <p:cNvSpPr txBox="true"/>
            <p:nvPr/>
          </p:nvSpPr>
          <p:spPr>
            <a:xfrm>
              <a:off x="0" y="-38100"/>
              <a:ext cx="21844000" cy="7493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1143000" y="318135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Multi-cavity concepts: 2–4 eccentric cavities</a:t>
            </a:r>
          </a:p>
        </p:txBody>
      </p:sp>
      <p:sp>
        <p:nvSpPr>
          <p:cNvPr name="TextBox 51" id="51"/>
          <p:cNvSpPr txBox="true"/>
          <p:nvPr/>
        </p:nvSpPr>
        <p:spPr>
          <a:xfrm rot="0">
            <a:off x="1143000" y="377190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Analytical model: cavity moments → bend direction</a:t>
            </a:r>
          </a:p>
        </p:txBody>
      </p:sp>
      <p:sp>
        <p:nvSpPr>
          <p:cNvPr name="TextBox 52" id="52"/>
          <p:cNvSpPr txBox="true"/>
          <p:nvPr/>
        </p:nvSpPr>
        <p:spPr>
          <a:xfrm rot="0">
            <a:off x="1143000" y="436245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In-house FE sweeps of the multi-cavity designs</a:t>
            </a:r>
          </a:p>
        </p:txBody>
      </p:sp>
      <p:sp>
        <p:nvSpPr>
          <p:cNvPr name="TextBox 53" id="53"/>
          <p:cNvSpPr txBox="true"/>
          <p:nvPr/>
        </p:nvSpPr>
        <p:spPr>
          <a:xfrm rot="0">
            <a:off x="1143000" y="495300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ANSYS model: geometry, hyperelastic silicone, mesh</a:t>
            </a:r>
          </a:p>
        </p:txBody>
      </p:sp>
      <p:sp>
        <p:nvSpPr>
          <p:cNvPr name="TextBox 54" id="54"/>
          <p:cNvSpPr txBox="true"/>
          <p:nvPr/>
        </p:nvSpPr>
        <p:spPr>
          <a:xfrm rot="0">
            <a:off x="1143000" y="554355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ANSYS vs in-house FE and beam models</a:t>
            </a:r>
          </a:p>
        </p:txBody>
      </p:sp>
      <p:sp>
        <p:nvSpPr>
          <p:cNvPr name="TextBox 55" id="55"/>
          <p:cNvSpPr txBox="true"/>
          <p:nvPr/>
        </p:nvSpPr>
        <p:spPr>
          <a:xfrm rot="0">
            <a:off x="1143000" y="613410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Mould design in CAD and 3-D print</a:t>
            </a:r>
          </a:p>
        </p:txBody>
      </p:sp>
      <p:sp>
        <p:nvSpPr>
          <p:cNvPr name="TextBox 56" id="56"/>
          <p:cNvSpPr txBox="true"/>
          <p:nvPr/>
        </p:nvSpPr>
        <p:spPr>
          <a:xfrm rot="0">
            <a:off x="1143000" y="672465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Cast actuators and tensile test strips</a:t>
            </a:r>
          </a:p>
        </p:txBody>
      </p:sp>
      <p:sp>
        <p:nvSpPr>
          <p:cNvPr name="TextBox 57" id="57"/>
          <p:cNvSpPr txBox="true"/>
          <p:nvPr/>
        </p:nvSpPr>
        <p:spPr>
          <a:xfrm rot="0">
            <a:off x="1143000" y="731520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Pressure tests + tip tracking in x and y</a:t>
            </a:r>
          </a:p>
        </p:txBody>
      </p:sp>
      <p:sp>
        <p:nvSpPr>
          <p:cNvPr name="TextBox 58" id="58"/>
          <p:cNvSpPr txBox="true"/>
          <p:nvPr/>
        </p:nvSpPr>
        <p:spPr>
          <a:xfrm rot="0">
            <a:off x="1143000" y="7905750"/>
            <a:ext cx="5715000" cy="2838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0E1E3A"/>
                </a:solidFill>
                <a:latin typeface="Arimo"/>
                <a:ea typeface="Arimo"/>
                <a:cs typeface="Arimo"/>
                <a:sym typeface="Arimo"/>
              </a:rPr>
              <a:t>Compare experiments with the models</a:t>
            </a:r>
          </a:p>
        </p:txBody>
      </p:sp>
      <p:grpSp>
        <p:nvGrpSpPr>
          <p:cNvPr name="Group 59" id="59"/>
          <p:cNvGrpSpPr/>
          <p:nvPr/>
        </p:nvGrpSpPr>
        <p:grpSpPr>
          <a:xfrm rot="0">
            <a:off x="6934200" y="3209925"/>
            <a:ext cx="4038600" cy="304800"/>
            <a:chOff x="0" y="0"/>
            <a:chExt cx="5384800" cy="406400"/>
          </a:xfrm>
        </p:grpSpPr>
        <p:sp>
          <p:nvSpPr>
            <p:cNvPr name="Freeform 60" id="60"/>
            <p:cNvSpPr/>
            <p:nvPr/>
          </p:nvSpPr>
          <p:spPr>
            <a:xfrm flipH="false" flipV="false" rot="0">
              <a:off x="0" y="0"/>
              <a:ext cx="5384800" cy="406400"/>
            </a:xfrm>
            <a:custGeom>
              <a:avLst/>
              <a:gdLst/>
              <a:ahLst/>
              <a:cxnLst/>
              <a:rect r="r" b="b" t="t" l="l"/>
              <a:pathLst>
                <a:path h="406400" w="5384800">
                  <a:moveTo>
                    <a:pt x="47925" y="0"/>
                  </a:moveTo>
                  <a:lnTo>
                    <a:pt x="5336875" y="0"/>
                  </a:lnTo>
                  <a:cubicBezTo>
                    <a:pt x="5363344" y="0"/>
                    <a:pt x="5384800" y="21457"/>
                    <a:pt x="5384800" y="47925"/>
                  </a:cubicBezTo>
                  <a:lnTo>
                    <a:pt x="5384800" y="358475"/>
                  </a:lnTo>
                  <a:cubicBezTo>
                    <a:pt x="5384800" y="384943"/>
                    <a:pt x="5363344" y="406400"/>
                    <a:pt x="5336875" y="406400"/>
                  </a:cubicBezTo>
                  <a:lnTo>
                    <a:pt x="47925" y="406400"/>
                  </a:lnTo>
                  <a:cubicBezTo>
                    <a:pt x="21457" y="406400"/>
                    <a:pt x="0" y="384943"/>
                    <a:pt x="0" y="358475"/>
                  </a:cubicBezTo>
                  <a:lnTo>
                    <a:pt x="0" y="47925"/>
                  </a:lnTo>
                  <a:cubicBezTo>
                    <a:pt x="0" y="21457"/>
                    <a:pt x="21457" y="0"/>
                    <a:pt x="47925" y="0"/>
                  </a:cubicBezTo>
                  <a:close/>
                </a:path>
              </a:pathLst>
            </a:custGeom>
            <a:solidFill>
              <a:srgbClr val="4390F8"/>
            </a:solidFill>
          </p:spPr>
        </p:sp>
        <p:sp>
          <p:nvSpPr>
            <p:cNvPr name="TextBox 61" id="61"/>
            <p:cNvSpPr txBox="true"/>
            <p:nvPr/>
          </p:nvSpPr>
          <p:spPr>
            <a:xfrm>
              <a:off x="0" y="-38100"/>
              <a:ext cx="5384800" cy="444500"/>
            </a:xfrm>
            <a:prstGeom prst="rect">
              <a:avLst/>
            </a:prstGeom>
          </p:spPr>
          <p:txBody>
            <a:bodyPr anchor="ctr" rtlCol="false" tIns="50800" lIns="50800" bIns="50800" rIns="50800"/>
            <a:lstStyle/>
            <a:p>
              <a:pPr algn="l">
                <a:lnSpc>
                  <a:spcPts val="1679"/>
                </a:lnSpc>
              </a:pPr>
            </a:p>
          </p:txBody>
        </p:sp>
      </p:grpSp>
      <p:grpSp>
        <p:nvGrpSpPr>
          <p:cNvPr name="Group 62" id="62"/>
          <p:cNvGrpSpPr/>
          <p:nvPr/>
        </p:nvGrpSpPr>
        <p:grpSpPr>
          <a:xfrm rot="0">
            <a:off x="6934200" y="3800475"/>
            <a:ext cx="4038600" cy="304800"/>
            <a:chOff x="0" y="0"/>
            <a:chExt cx="5384800" cy="406400"/>
          </a:xfrm>
        </p:grpSpPr>
        <p:sp>
          <p:nvSpPr>
            <p:cNvPr name="Freeform 63" id="63"/>
            <p:cNvSpPr/>
            <p:nvPr/>
          </p:nvSpPr>
          <p:spPr>
            <a:xfrm flipH="false" flipV="false" rot="0">
              <a:off x="0" y="0"/>
              <a:ext cx="5384800" cy="406400"/>
            </a:xfrm>
            <a:custGeom>
              <a:avLst/>
              <a:gdLst/>
              <a:ahLst/>
              <a:cxnLst/>
              <a:rect r="r" b="b" t="t" l="l"/>
              <a:pathLst>
                <a:path h="406400" w="5384800">
                  <a:moveTo>
                    <a:pt x="47925" y="0"/>
                  </a:moveTo>
                  <a:lnTo>
                    <a:pt x="5336875" y="0"/>
                  </a:lnTo>
                  <a:cubicBezTo>
                    <a:pt x="5363344" y="0"/>
                    <a:pt x="5384800" y="21457"/>
                    <a:pt x="5384800" y="47925"/>
                  </a:cubicBezTo>
                  <a:lnTo>
                    <a:pt x="5384800" y="358475"/>
                  </a:lnTo>
                  <a:cubicBezTo>
                    <a:pt x="5384800" y="384943"/>
                    <a:pt x="5363344" y="406400"/>
                    <a:pt x="5336875" y="406400"/>
                  </a:cubicBezTo>
                  <a:lnTo>
                    <a:pt x="47925" y="406400"/>
                  </a:lnTo>
                  <a:cubicBezTo>
                    <a:pt x="21457" y="406400"/>
                    <a:pt x="0" y="384943"/>
                    <a:pt x="0" y="358475"/>
                  </a:cubicBezTo>
                  <a:lnTo>
                    <a:pt x="0" y="47925"/>
                  </a:lnTo>
                  <a:cubicBezTo>
                    <a:pt x="0" y="21457"/>
                    <a:pt x="21457" y="0"/>
                    <a:pt x="47925" y="0"/>
                  </a:cubicBezTo>
                  <a:close/>
                </a:path>
              </a:pathLst>
            </a:custGeom>
            <a:solidFill>
              <a:srgbClr val="4390F8"/>
            </a:solidFill>
          </p:spPr>
        </p:sp>
        <p:sp>
          <p:nvSpPr>
            <p:cNvPr name="TextBox 64" id="64"/>
            <p:cNvSpPr txBox="true"/>
            <p:nvPr/>
          </p:nvSpPr>
          <p:spPr>
            <a:xfrm>
              <a:off x="0" y="-38100"/>
              <a:ext cx="5384800" cy="444500"/>
            </a:xfrm>
            <a:prstGeom prst="rect">
              <a:avLst/>
            </a:prstGeom>
          </p:spPr>
          <p:txBody>
            <a:bodyPr anchor="ctr" rtlCol="false" tIns="50800" lIns="50800" bIns="50800" rIns="50800"/>
            <a:lstStyle/>
            <a:p>
              <a:pPr algn="l">
                <a:lnSpc>
                  <a:spcPts val="1679"/>
                </a:lnSpc>
              </a:pPr>
            </a:p>
          </p:txBody>
        </p:sp>
      </p:grpSp>
      <p:grpSp>
        <p:nvGrpSpPr>
          <p:cNvPr name="Group 65" id="65"/>
          <p:cNvGrpSpPr/>
          <p:nvPr/>
        </p:nvGrpSpPr>
        <p:grpSpPr>
          <a:xfrm rot="0">
            <a:off x="9029700" y="4391025"/>
            <a:ext cx="1943100" cy="304800"/>
            <a:chOff x="0" y="0"/>
            <a:chExt cx="2590800" cy="406400"/>
          </a:xfrm>
        </p:grpSpPr>
        <p:sp>
          <p:nvSpPr>
            <p:cNvPr name="Freeform 66" id="66"/>
            <p:cNvSpPr/>
            <p:nvPr/>
          </p:nvSpPr>
          <p:spPr>
            <a:xfrm flipH="false" flipV="false" rot="0">
              <a:off x="0" y="0"/>
              <a:ext cx="2590800" cy="406400"/>
            </a:xfrm>
            <a:custGeom>
              <a:avLst/>
              <a:gdLst/>
              <a:ahLst/>
              <a:cxnLst/>
              <a:rect r="r" b="b" t="t" l="l"/>
              <a:pathLst>
                <a:path h="406400" w="2590800">
                  <a:moveTo>
                    <a:pt x="99608" y="0"/>
                  </a:moveTo>
                  <a:lnTo>
                    <a:pt x="2491192" y="0"/>
                  </a:lnTo>
                  <a:cubicBezTo>
                    <a:pt x="2517610" y="0"/>
                    <a:pt x="2542945" y="10494"/>
                    <a:pt x="2561626" y="29174"/>
                  </a:cubicBezTo>
                  <a:cubicBezTo>
                    <a:pt x="2580306" y="47855"/>
                    <a:pt x="2590800" y="73190"/>
                    <a:pt x="2590800" y="99608"/>
                  </a:cubicBezTo>
                  <a:lnTo>
                    <a:pt x="2590800" y="306792"/>
                  </a:lnTo>
                  <a:cubicBezTo>
                    <a:pt x="2590800" y="333210"/>
                    <a:pt x="2580306" y="358545"/>
                    <a:pt x="2561626" y="377226"/>
                  </a:cubicBezTo>
                  <a:cubicBezTo>
                    <a:pt x="2542945" y="395906"/>
                    <a:pt x="2517610" y="406400"/>
                    <a:pt x="2491192" y="406400"/>
                  </a:cubicBezTo>
                  <a:lnTo>
                    <a:pt x="99608" y="406400"/>
                  </a:lnTo>
                  <a:cubicBezTo>
                    <a:pt x="73190" y="406400"/>
                    <a:pt x="47855" y="395906"/>
                    <a:pt x="29174" y="377226"/>
                  </a:cubicBezTo>
                  <a:cubicBezTo>
                    <a:pt x="10494" y="358545"/>
                    <a:pt x="0" y="333210"/>
                    <a:pt x="0" y="306792"/>
                  </a:cubicBezTo>
                  <a:lnTo>
                    <a:pt x="0" y="99608"/>
                  </a:lnTo>
                  <a:cubicBezTo>
                    <a:pt x="0" y="73190"/>
                    <a:pt x="10494" y="47855"/>
                    <a:pt x="29174" y="29174"/>
                  </a:cubicBezTo>
                  <a:cubicBezTo>
                    <a:pt x="47855" y="10494"/>
                    <a:pt x="73190" y="0"/>
                    <a:pt x="99608" y="0"/>
                  </a:cubicBezTo>
                  <a:close/>
                </a:path>
              </a:pathLst>
            </a:custGeom>
            <a:solidFill>
              <a:srgbClr val="4390F8"/>
            </a:solidFill>
          </p:spPr>
        </p:sp>
        <p:sp>
          <p:nvSpPr>
            <p:cNvPr name="TextBox 67" id="67"/>
            <p:cNvSpPr txBox="true"/>
            <p:nvPr/>
          </p:nvSpPr>
          <p:spPr>
            <a:xfrm>
              <a:off x="0" y="-38100"/>
              <a:ext cx="2590800" cy="444500"/>
            </a:xfrm>
            <a:prstGeom prst="rect">
              <a:avLst/>
            </a:prstGeom>
          </p:spPr>
          <p:txBody>
            <a:bodyPr anchor="ctr" rtlCol="false" tIns="50800" lIns="50800" bIns="50800" rIns="50800"/>
            <a:lstStyle/>
            <a:p>
              <a:pPr algn="l">
                <a:lnSpc>
                  <a:spcPts val="1679"/>
                </a:lnSpc>
              </a:pPr>
            </a:p>
          </p:txBody>
        </p:sp>
      </p:grpSp>
      <p:grpSp>
        <p:nvGrpSpPr>
          <p:cNvPr name="Group 68" id="68"/>
          <p:cNvGrpSpPr/>
          <p:nvPr/>
        </p:nvGrpSpPr>
        <p:grpSpPr>
          <a:xfrm rot="0">
            <a:off x="11125200" y="4981575"/>
            <a:ext cx="1943100" cy="304800"/>
            <a:chOff x="0" y="0"/>
            <a:chExt cx="2590800" cy="406400"/>
          </a:xfrm>
        </p:grpSpPr>
        <p:sp>
          <p:nvSpPr>
            <p:cNvPr name="Freeform 69" id="69"/>
            <p:cNvSpPr/>
            <p:nvPr/>
          </p:nvSpPr>
          <p:spPr>
            <a:xfrm flipH="false" flipV="false" rot="0">
              <a:off x="0" y="0"/>
              <a:ext cx="2590800" cy="406400"/>
            </a:xfrm>
            <a:custGeom>
              <a:avLst/>
              <a:gdLst/>
              <a:ahLst/>
              <a:cxnLst/>
              <a:rect r="r" b="b" t="t" l="l"/>
              <a:pathLst>
                <a:path h="406400" w="2590800">
                  <a:moveTo>
                    <a:pt x="99608" y="0"/>
                  </a:moveTo>
                  <a:lnTo>
                    <a:pt x="2491192" y="0"/>
                  </a:lnTo>
                  <a:cubicBezTo>
                    <a:pt x="2517610" y="0"/>
                    <a:pt x="2542945" y="10494"/>
                    <a:pt x="2561626" y="29174"/>
                  </a:cubicBezTo>
                  <a:cubicBezTo>
                    <a:pt x="2580306" y="47855"/>
                    <a:pt x="2590800" y="73190"/>
                    <a:pt x="2590800" y="99608"/>
                  </a:cubicBezTo>
                  <a:lnTo>
                    <a:pt x="2590800" y="306792"/>
                  </a:lnTo>
                  <a:cubicBezTo>
                    <a:pt x="2590800" y="333210"/>
                    <a:pt x="2580306" y="358545"/>
                    <a:pt x="2561626" y="377226"/>
                  </a:cubicBezTo>
                  <a:cubicBezTo>
                    <a:pt x="2542945" y="395906"/>
                    <a:pt x="2517610" y="406400"/>
                    <a:pt x="2491192" y="406400"/>
                  </a:cubicBezTo>
                  <a:lnTo>
                    <a:pt x="99608" y="406400"/>
                  </a:lnTo>
                  <a:cubicBezTo>
                    <a:pt x="73190" y="406400"/>
                    <a:pt x="47855" y="395906"/>
                    <a:pt x="29174" y="377226"/>
                  </a:cubicBezTo>
                  <a:cubicBezTo>
                    <a:pt x="10494" y="358545"/>
                    <a:pt x="0" y="333210"/>
                    <a:pt x="0" y="306792"/>
                  </a:cubicBezTo>
                  <a:lnTo>
                    <a:pt x="0" y="99608"/>
                  </a:lnTo>
                  <a:cubicBezTo>
                    <a:pt x="0" y="73190"/>
                    <a:pt x="10494" y="47855"/>
                    <a:pt x="29174" y="29174"/>
                  </a:cubicBezTo>
                  <a:cubicBezTo>
                    <a:pt x="47855" y="10494"/>
                    <a:pt x="73190" y="0"/>
                    <a:pt x="99608" y="0"/>
                  </a:cubicBezTo>
                  <a:close/>
                </a:path>
              </a:pathLst>
            </a:custGeom>
            <a:solidFill>
              <a:srgbClr val="2A9D8F"/>
            </a:solidFill>
          </p:spPr>
        </p:sp>
        <p:sp>
          <p:nvSpPr>
            <p:cNvPr name="TextBox 70" id="70"/>
            <p:cNvSpPr txBox="true"/>
            <p:nvPr/>
          </p:nvSpPr>
          <p:spPr>
            <a:xfrm>
              <a:off x="0" y="-38100"/>
              <a:ext cx="2590800" cy="444500"/>
            </a:xfrm>
            <a:prstGeom prst="rect">
              <a:avLst/>
            </a:prstGeom>
          </p:spPr>
          <p:txBody>
            <a:bodyPr anchor="ctr" rtlCol="false" tIns="50800" lIns="50800" bIns="50800" rIns="50800"/>
            <a:lstStyle/>
            <a:p>
              <a:pPr algn="l">
                <a:lnSpc>
                  <a:spcPts val="1679"/>
                </a:lnSpc>
              </a:pPr>
            </a:p>
          </p:txBody>
        </p:sp>
      </p:grpSp>
      <p:grpSp>
        <p:nvGrpSpPr>
          <p:cNvPr name="Group 71" id="71"/>
          <p:cNvGrpSpPr/>
          <p:nvPr/>
        </p:nvGrpSpPr>
        <p:grpSpPr>
          <a:xfrm rot="0">
            <a:off x="11125200" y="5572125"/>
            <a:ext cx="1943100" cy="304800"/>
            <a:chOff x="0" y="0"/>
            <a:chExt cx="2590800" cy="406400"/>
          </a:xfrm>
        </p:grpSpPr>
        <p:sp>
          <p:nvSpPr>
            <p:cNvPr name="Freeform 72" id="72"/>
            <p:cNvSpPr/>
            <p:nvPr/>
          </p:nvSpPr>
          <p:spPr>
            <a:xfrm flipH="false" flipV="false" rot="0">
              <a:off x="0" y="0"/>
              <a:ext cx="2590800" cy="406400"/>
            </a:xfrm>
            <a:custGeom>
              <a:avLst/>
              <a:gdLst/>
              <a:ahLst/>
              <a:cxnLst/>
              <a:rect r="r" b="b" t="t" l="l"/>
              <a:pathLst>
                <a:path h="406400" w="2590800">
                  <a:moveTo>
                    <a:pt x="99608" y="0"/>
                  </a:moveTo>
                  <a:lnTo>
                    <a:pt x="2491192" y="0"/>
                  </a:lnTo>
                  <a:cubicBezTo>
                    <a:pt x="2517610" y="0"/>
                    <a:pt x="2542945" y="10494"/>
                    <a:pt x="2561626" y="29174"/>
                  </a:cubicBezTo>
                  <a:cubicBezTo>
                    <a:pt x="2580306" y="47855"/>
                    <a:pt x="2590800" y="73190"/>
                    <a:pt x="2590800" y="99608"/>
                  </a:cubicBezTo>
                  <a:lnTo>
                    <a:pt x="2590800" y="306792"/>
                  </a:lnTo>
                  <a:cubicBezTo>
                    <a:pt x="2590800" y="333210"/>
                    <a:pt x="2580306" y="358545"/>
                    <a:pt x="2561626" y="377226"/>
                  </a:cubicBezTo>
                  <a:cubicBezTo>
                    <a:pt x="2542945" y="395906"/>
                    <a:pt x="2517610" y="406400"/>
                    <a:pt x="2491192" y="406400"/>
                  </a:cubicBezTo>
                  <a:lnTo>
                    <a:pt x="99608" y="406400"/>
                  </a:lnTo>
                  <a:cubicBezTo>
                    <a:pt x="73190" y="406400"/>
                    <a:pt x="47855" y="395906"/>
                    <a:pt x="29174" y="377226"/>
                  </a:cubicBezTo>
                  <a:cubicBezTo>
                    <a:pt x="10494" y="358545"/>
                    <a:pt x="0" y="333210"/>
                    <a:pt x="0" y="306792"/>
                  </a:cubicBezTo>
                  <a:lnTo>
                    <a:pt x="0" y="99608"/>
                  </a:lnTo>
                  <a:cubicBezTo>
                    <a:pt x="0" y="73190"/>
                    <a:pt x="10494" y="47855"/>
                    <a:pt x="29174" y="29174"/>
                  </a:cubicBezTo>
                  <a:cubicBezTo>
                    <a:pt x="47855" y="10494"/>
                    <a:pt x="73190" y="0"/>
                    <a:pt x="99608" y="0"/>
                  </a:cubicBezTo>
                  <a:close/>
                </a:path>
              </a:pathLst>
            </a:custGeom>
            <a:solidFill>
              <a:srgbClr val="2A9D8F"/>
            </a:solidFill>
          </p:spPr>
        </p:sp>
        <p:sp>
          <p:nvSpPr>
            <p:cNvPr name="TextBox 73" id="73"/>
            <p:cNvSpPr txBox="true"/>
            <p:nvPr/>
          </p:nvSpPr>
          <p:spPr>
            <a:xfrm>
              <a:off x="0" y="-38100"/>
              <a:ext cx="2590800" cy="444500"/>
            </a:xfrm>
            <a:prstGeom prst="rect">
              <a:avLst/>
            </a:prstGeom>
          </p:spPr>
          <p:txBody>
            <a:bodyPr anchor="ctr" rtlCol="false" tIns="50800" lIns="50800" bIns="50800" rIns="50800"/>
            <a:lstStyle/>
            <a:p>
              <a:pPr algn="l">
                <a:lnSpc>
                  <a:spcPts val="1679"/>
                </a:lnSpc>
              </a:pPr>
            </a:p>
          </p:txBody>
        </p:sp>
      </p:grpSp>
      <p:grpSp>
        <p:nvGrpSpPr>
          <p:cNvPr name="Group 74" id="74"/>
          <p:cNvGrpSpPr/>
          <p:nvPr/>
        </p:nvGrpSpPr>
        <p:grpSpPr>
          <a:xfrm rot="0">
            <a:off x="13220700" y="6162675"/>
            <a:ext cx="1943100" cy="304800"/>
            <a:chOff x="0" y="0"/>
            <a:chExt cx="2590800" cy="406400"/>
          </a:xfrm>
        </p:grpSpPr>
        <p:sp>
          <p:nvSpPr>
            <p:cNvPr name="Freeform 75" id="75"/>
            <p:cNvSpPr/>
            <p:nvPr/>
          </p:nvSpPr>
          <p:spPr>
            <a:xfrm flipH="false" flipV="false" rot="0">
              <a:off x="0" y="0"/>
              <a:ext cx="2590800" cy="406400"/>
            </a:xfrm>
            <a:custGeom>
              <a:avLst/>
              <a:gdLst/>
              <a:ahLst/>
              <a:cxnLst/>
              <a:rect r="r" b="b" t="t" l="l"/>
              <a:pathLst>
                <a:path h="406400" w="2590800">
                  <a:moveTo>
                    <a:pt x="99608" y="0"/>
                  </a:moveTo>
                  <a:lnTo>
                    <a:pt x="2491192" y="0"/>
                  </a:lnTo>
                  <a:cubicBezTo>
                    <a:pt x="2517610" y="0"/>
                    <a:pt x="2542945" y="10494"/>
                    <a:pt x="2561626" y="29174"/>
                  </a:cubicBezTo>
                  <a:cubicBezTo>
                    <a:pt x="2580306" y="47855"/>
                    <a:pt x="2590800" y="73190"/>
                    <a:pt x="2590800" y="99608"/>
                  </a:cubicBezTo>
                  <a:lnTo>
                    <a:pt x="2590800" y="306792"/>
                  </a:lnTo>
                  <a:cubicBezTo>
                    <a:pt x="2590800" y="333210"/>
                    <a:pt x="2580306" y="358545"/>
                    <a:pt x="2561626" y="377226"/>
                  </a:cubicBezTo>
                  <a:cubicBezTo>
                    <a:pt x="2542945" y="395906"/>
                    <a:pt x="2517610" y="406400"/>
                    <a:pt x="2491192" y="406400"/>
                  </a:cubicBezTo>
                  <a:lnTo>
                    <a:pt x="99608" y="406400"/>
                  </a:lnTo>
                  <a:cubicBezTo>
                    <a:pt x="73190" y="406400"/>
                    <a:pt x="47855" y="395906"/>
                    <a:pt x="29174" y="377226"/>
                  </a:cubicBezTo>
                  <a:cubicBezTo>
                    <a:pt x="10494" y="358545"/>
                    <a:pt x="0" y="333210"/>
                    <a:pt x="0" y="306792"/>
                  </a:cubicBezTo>
                  <a:lnTo>
                    <a:pt x="0" y="99608"/>
                  </a:lnTo>
                  <a:cubicBezTo>
                    <a:pt x="0" y="73190"/>
                    <a:pt x="10494" y="47855"/>
                    <a:pt x="29174" y="29174"/>
                  </a:cubicBezTo>
                  <a:cubicBezTo>
                    <a:pt x="47855" y="10494"/>
                    <a:pt x="73190" y="0"/>
                    <a:pt x="99608" y="0"/>
                  </a:cubicBezTo>
                  <a:close/>
                </a:path>
              </a:pathLst>
            </a:custGeom>
            <a:solidFill>
              <a:srgbClr val="F4A261"/>
            </a:solidFill>
          </p:spPr>
        </p:sp>
        <p:sp>
          <p:nvSpPr>
            <p:cNvPr name="TextBox 76" id="76"/>
            <p:cNvSpPr txBox="true"/>
            <p:nvPr/>
          </p:nvSpPr>
          <p:spPr>
            <a:xfrm>
              <a:off x="0" y="-38100"/>
              <a:ext cx="2590800" cy="444500"/>
            </a:xfrm>
            <a:prstGeom prst="rect">
              <a:avLst/>
            </a:prstGeom>
          </p:spPr>
          <p:txBody>
            <a:bodyPr anchor="ctr" rtlCol="false" tIns="50800" lIns="50800" bIns="50800" rIns="50800"/>
            <a:lstStyle/>
            <a:p>
              <a:pPr algn="l">
                <a:lnSpc>
                  <a:spcPts val="1679"/>
                </a:lnSpc>
              </a:pPr>
            </a:p>
          </p:txBody>
        </p:sp>
      </p:grpSp>
      <p:grpSp>
        <p:nvGrpSpPr>
          <p:cNvPr name="Group 77" id="77"/>
          <p:cNvGrpSpPr/>
          <p:nvPr/>
        </p:nvGrpSpPr>
        <p:grpSpPr>
          <a:xfrm rot="0">
            <a:off x="13220700" y="6753225"/>
            <a:ext cx="1943100" cy="304800"/>
            <a:chOff x="0" y="0"/>
            <a:chExt cx="2590800" cy="406400"/>
          </a:xfrm>
        </p:grpSpPr>
        <p:sp>
          <p:nvSpPr>
            <p:cNvPr name="Freeform 78" id="78"/>
            <p:cNvSpPr/>
            <p:nvPr/>
          </p:nvSpPr>
          <p:spPr>
            <a:xfrm flipH="false" flipV="false" rot="0">
              <a:off x="0" y="0"/>
              <a:ext cx="2590800" cy="406400"/>
            </a:xfrm>
            <a:custGeom>
              <a:avLst/>
              <a:gdLst/>
              <a:ahLst/>
              <a:cxnLst/>
              <a:rect r="r" b="b" t="t" l="l"/>
              <a:pathLst>
                <a:path h="406400" w="2590800">
                  <a:moveTo>
                    <a:pt x="99608" y="0"/>
                  </a:moveTo>
                  <a:lnTo>
                    <a:pt x="2491192" y="0"/>
                  </a:lnTo>
                  <a:cubicBezTo>
                    <a:pt x="2517610" y="0"/>
                    <a:pt x="2542945" y="10494"/>
                    <a:pt x="2561626" y="29174"/>
                  </a:cubicBezTo>
                  <a:cubicBezTo>
                    <a:pt x="2580306" y="47855"/>
                    <a:pt x="2590800" y="73190"/>
                    <a:pt x="2590800" y="99608"/>
                  </a:cubicBezTo>
                  <a:lnTo>
                    <a:pt x="2590800" y="306792"/>
                  </a:lnTo>
                  <a:cubicBezTo>
                    <a:pt x="2590800" y="333210"/>
                    <a:pt x="2580306" y="358545"/>
                    <a:pt x="2561626" y="377226"/>
                  </a:cubicBezTo>
                  <a:cubicBezTo>
                    <a:pt x="2542945" y="395906"/>
                    <a:pt x="2517610" y="406400"/>
                    <a:pt x="2491192" y="406400"/>
                  </a:cubicBezTo>
                  <a:lnTo>
                    <a:pt x="99608" y="406400"/>
                  </a:lnTo>
                  <a:cubicBezTo>
                    <a:pt x="73190" y="406400"/>
                    <a:pt x="47855" y="395906"/>
                    <a:pt x="29174" y="377226"/>
                  </a:cubicBezTo>
                  <a:cubicBezTo>
                    <a:pt x="10494" y="358545"/>
                    <a:pt x="0" y="333210"/>
                    <a:pt x="0" y="306792"/>
                  </a:cubicBezTo>
                  <a:lnTo>
                    <a:pt x="0" y="99608"/>
                  </a:lnTo>
                  <a:cubicBezTo>
                    <a:pt x="0" y="73190"/>
                    <a:pt x="10494" y="47855"/>
                    <a:pt x="29174" y="29174"/>
                  </a:cubicBezTo>
                  <a:cubicBezTo>
                    <a:pt x="47855" y="10494"/>
                    <a:pt x="73190" y="0"/>
                    <a:pt x="99608" y="0"/>
                  </a:cubicBezTo>
                  <a:close/>
                </a:path>
              </a:pathLst>
            </a:custGeom>
            <a:solidFill>
              <a:srgbClr val="F4A261"/>
            </a:solidFill>
          </p:spPr>
        </p:sp>
        <p:sp>
          <p:nvSpPr>
            <p:cNvPr name="TextBox 79" id="79"/>
            <p:cNvSpPr txBox="true"/>
            <p:nvPr/>
          </p:nvSpPr>
          <p:spPr>
            <a:xfrm>
              <a:off x="0" y="-38100"/>
              <a:ext cx="2590800" cy="444500"/>
            </a:xfrm>
            <a:prstGeom prst="rect">
              <a:avLst/>
            </a:prstGeom>
          </p:spPr>
          <p:txBody>
            <a:bodyPr anchor="ctr" rtlCol="false" tIns="50800" lIns="50800" bIns="50800" rIns="50800"/>
            <a:lstStyle/>
            <a:p>
              <a:pPr algn="l">
                <a:lnSpc>
                  <a:spcPts val="1679"/>
                </a:lnSpc>
              </a:pPr>
            </a:p>
          </p:txBody>
        </p:sp>
      </p:grpSp>
      <p:grpSp>
        <p:nvGrpSpPr>
          <p:cNvPr name="Group 80" id="80"/>
          <p:cNvGrpSpPr/>
          <p:nvPr/>
        </p:nvGrpSpPr>
        <p:grpSpPr>
          <a:xfrm rot="0">
            <a:off x="13220700" y="7343775"/>
            <a:ext cx="4038600" cy="304800"/>
            <a:chOff x="0" y="0"/>
            <a:chExt cx="5384800" cy="406400"/>
          </a:xfrm>
        </p:grpSpPr>
        <p:sp>
          <p:nvSpPr>
            <p:cNvPr name="Freeform 81" id="81"/>
            <p:cNvSpPr/>
            <p:nvPr/>
          </p:nvSpPr>
          <p:spPr>
            <a:xfrm flipH="false" flipV="false" rot="0">
              <a:off x="0" y="0"/>
              <a:ext cx="5384800" cy="406400"/>
            </a:xfrm>
            <a:custGeom>
              <a:avLst/>
              <a:gdLst/>
              <a:ahLst/>
              <a:cxnLst/>
              <a:rect r="r" b="b" t="t" l="l"/>
              <a:pathLst>
                <a:path h="406400" w="5384800">
                  <a:moveTo>
                    <a:pt x="47925" y="0"/>
                  </a:moveTo>
                  <a:lnTo>
                    <a:pt x="5336875" y="0"/>
                  </a:lnTo>
                  <a:cubicBezTo>
                    <a:pt x="5363344" y="0"/>
                    <a:pt x="5384800" y="21457"/>
                    <a:pt x="5384800" y="47925"/>
                  </a:cubicBezTo>
                  <a:lnTo>
                    <a:pt x="5384800" y="358475"/>
                  </a:lnTo>
                  <a:cubicBezTo>
                    <a:pt x="5384800" y="384943"/>
                    <a:pt x="5363344" y="406400"/>
                    <a:pt x="5336875" y="406400"/>
                  </a:cubicBezTo>
                  <a:lnTo>
                    <a:pt x="47925" y="406400"/>
                  </a:lnTo>
                  <a:cubicBezTo>
                    <a:pt x="21457" y="406400"/>
                    <a:pt x="0" y="384943"/>
                    <a:pt x="0" y="358475"/>
                  </a:cubicBezTo>
                  <a:lnTo>
                    <a:pt x="0" y="47925"/>
                  </a:lnTo>
                  <a:cubicBezTo>
                    <a:pt x="0" y="21457"/>
                    <a:pt x="21457" y="0"/>
                    <a:pt x="47925" y="0"/>
                  </a:cubicBezTo>
                  <a:close/>
                </a:path>
              </a:pathLst>
            </a:custGeom>
            <a:solidFill>
              <a:srgbClr val="E76F51"/>
            </a:solidFill>
          </p:spPr>
        </p:sp>
        <p:sp>
          <p:nvSpPr>
            <p:cNvPr name="TextBox 82" id="82"/>
            <p:cNvSpPr txBox="true"/>
            <p:nvPr/>
          </p:nvSpPr>
          <p:spPr>
            <a:xfrm>
              <a:off x="0" y="-38100"/>
              <a:ext cx="5384800" cy="444500"/>
            </a:xfrm>
            <a:prstGeom prst="rect">
              <a:avLst/>
            </a:prstGeom>
          </p:spPr>
          <p:txBody>
            <a:bodyPr anchor="ctr" rtlCol="false" tIns="50800" lIns="50800" bIns="50800" rIns="50800"/>
            <a:lstStyle/>
            <a:p>
              <a:pPr algn="l">
                <a:lnSpc>
                  <a:spcPts val="1679"/>
                </a:lnSpc>
              </a:pPr>
            </a:p>
          </p:txBody>
        </p:sp>
      </p:grpSp>
      <p:grpSp>
        <p:nvGrpSpPr>
          <p:cNvPr name="Group 83" id="83"/>
          <p:cNvGrpSpPr/>
          <p:nvPr/>
        </p:nvGrpSpPr>
        <p:grpSpPr>
          <a:xfrm rot="0">
            <a:off x="15316200" y="7934325"/>
            <a:ext cx="1943100" cy="304800"/>
            <a:chOff x="0" y="0"/>
            <a:chExt cx="2590800" cy="406400"/>
          </a:xfrm>
        </p:grpSpPr>
        <p:sp>
          <p:nvSpPr>
            <p:cNvPr name="Freeform 84" id="84"/>
            <p:cNvSpPr/>
            <p:nvPr/>
          </p:nvSpPr>
          <p:spPr>
            <a:xfrm flipH="false" flipV="false" rot="0">
              <a:off x="0" y="0"/>
              <a:ext cx="2590800" cy="406400"/>
            </a:xfrm>
            <a:custGeom>
              <a:avLst/>
              <a:gdLst/>
              <a:ahLst/>
              <a:cxnLst/>
              <a:rect r="r" b="b" t="t" l="l"/>
              <a:pathLst>
                <a:path h="406400" w="2590800">
                  <a:moveTo>
                    <a:pt x="99608" y="0"/>
                  </a:moveTo>
                  <a:lnTo>
                    <a:pt x="2491192" y="0"/>
                  </a:lnTo>
                  <a:cubicBezTo>
                    <a:pt x="2517610" y="0"/>
                    <a:pt x="2542945" y="10494"/>
                    <a:pt x="2561626" y="29174"/>
                  </a:cubicBezTo>
                  <a:cubicBezTo>
                    <a:pt x="2580306" y="47855"/>
                    <a:pt x="2590800" y="73190"/>
                    <a:pt x="2590800" y="99608"/>
                  </a:cubicBezTo>
                  <a:lnTo>
                    <a:pt x="2590800" y="306792"/>
                  </a:lnTo>
                  <a:cubicBezTo>
                    <a:pt x="2590800" y="333210"/>
                    <a:pt x="2580306" y="358545"/>
                    <a:pt x="2561626" y="377226"/>
                  </a:cubicBezTo>
                  <a:cubicBezTo>
                    <a:pt x="2542945" y="395906"/>
                    <a:pt x="2517610" y="406400"/>
                    <a:pt x="2491192" y="406400"/>
                  </a:cubicBezTo>
                  <a:lnTo>
                    <a:pt x="99608" y="406400"/>
                  </a:lnTo>
                  <a:cubicBezTo>
                    <a:pt x="73190" y="406400"/>
                    <a:pt x="47855" y="395906"/>
                    <a:pt x="29174" y="377226"/>
                  </a:cubicBezTo>
                  <a:cubicBezTo>
                    <a:pt x="10494" y="358545"/>
                    <a:pt x="0" y="333210"/>
                    <a:pt x="0" y="306792"/>
                  </a:cubicBezTo>
                  <a:lnTo>
                    <a:pt x="0" y="99608"/>
                  </a:lnTo>
                  <a:cubicBezTo>
                    <a:pt x="0" y="73190"/>
                    <a:pt x="10494" y="47855"/>
                    <a:pt x="29174" y="29174"/>
                  </a:cubicBezTo>
                  <a:cubicBezTo>
                    <a:pt x="47855" y="10494"/>
                    <a:pt x="73190" y="0"/>
                    <a:pt x="99608" y="0"/>
                  </a:cubicBezTo>
                  <a:close/>
                </a:path>
              </a:pathLst>
            </a:custGeom>
            <a:solidFill>
              <a:srgbClr val="0E1E3A"/>
            </a:solidFill>
          </p:spPr>
        </p:sp>
        <p:sp>
          <p:nvSpPr>
            <p:cNvPr name="TextBox 85" id="85"/>
            <p:cNvSpPr txBox="true"/>
            <p:nvPr/>
          </p:nvSpPr>
          <p:spPr>
            <a:xfrm>
              <a:off x="0" y="-38100"/>
              <a:ext cx="2590800" cy="444500"/>
            </a:xfrm>
            <a:prstGeom prst="rect">
              <a:avLst/>
            </a:prstGeom>
          </p:spPr>
          <p:txBody>
            <a:bodyPr anchor="ctr" rtlCol="false" tIns="50800" lIns="50800" bIns="50800" rIns="50800"/>
            <a:lstStyle/>
            <a:p>
              <a:pPr algn="l">
                <a:lnSpc>
                  <a:spcPts val="1679"/>
                </a:lnSpc>
              </a:pPr>
            </a:p>
          </p:txBody>
        </p:sp>
      </p:grpSp>
      <p:sp>
        <p:nvSpPr>
          <p:cNvPr name="TextBox 86" id="86"/>
          <p:cNvSpPr txBox="true"/>
          <p:nvPr/>
        </p:nvSpPr>
        <p:spPr>
          <a:xfrm rot="0">
            <a:off x="952500" y="8905875"/>
            <a:ext cx="3810000" cy="276225"/>
          </a:xfrm>
          <a:prstGeom prst="rect">
            <a:avLst/>
          </a:prstGeom>
        </p:spPr>
        <p:txBody>
          <a:bodyPr anchor="t" rtlCol="false" tIns="0" lIns="0" bIns="0" rIns="0">
            <a:spAutoFit/>
          </a:bodyPr>
          <a:lstStyle/>
          <a:p>
            <a:pPr algn="l">
              <a:lnSpc>
                <a:spcPts val="2100"/>
              </a:lnSpc>
            </a:pPr>
            <a:r>
              <a:rPr lang="en-US" sz="1500" b="true">
                <a:solidFill>
                  <a:srgbClr val="4390F8"/>
                </a:solidFill>
                <a:latin typeface="Arimo Bold"/>
                <a:ea typeface="Arimo Bold"/>
                <a:cs typeface="Arimo Bold"/>
                <a:sym typeface="Arimo Bold"/>
              </a:rPr>
              <a:t>MILESTONES</a:t>
            </a:r>
          </a:p>
        </p:txBody>
      </p:sp>
      <p:grpSp>
        <p:nvGrpSpPr>
          <p:cNvPr name="Group 87" id="87"/>
          <p:cNvGrpSpPr/>
          <p:nvPr/>
        </p:nvGrpSpPr>
        <p:grpSpPr>
          <a:xfrm rot="0">
            <a:off x="7800975" y="8534400"/>
            <a:ext cx="209550" cy="209550"/>
            <a:chOff x="0" y="0"/>
            <a:chExt cx="279400" cy="279400"/>
          </a:xfrm>
        </p:grpSpPr>
        <p:sp>
          <p:nvSpPr>
            <p:cNvPr name="Freeform 88" id="88"/>
            <p:cNvSpPr/>
            <p:nvPr/>
          </p:nvSpPr>
          <p:spPr>
            <a:xfrm flipH="false" flipV="false" rot="0">
              <a:off x="0" y="0"/>
              <a:ext cx="279400" cy="279400"/>
            </a:xfrm>
            <a:custGeom>
              <a:avLst/>
              <a:gdLst/>
              <a:ahLst/>
              <a:cxnLst/>
              <a:rect r="r" b="b" t="t" l="l"/>
              <a:pathLst>
                <a:path h="279400" w="279400">
                  <a:moveTo>
                    <a:pt x="139700" y="0"/>
                  </a:moveTo>
                  <a:lnTo>
                    <a:pt x="279400" y="139700"/>
                  </a:lnTo>
                  <a:lnTo>
                    <a:pt x="139700" y="279400"/>
                  </a:lnTo>
                  <a:lnTo>
                    <a:pt x="0" y="139700"/>
                  </a:lnTo>
                  <a:close/>
                </a:path>
              </a:pathLst>
            </a:custGeom>
            <a:solidFill>
              <a:srgbClr val="4390F8"/>
            </a:solidFill>
          </p:spPr>
        </p:sp>
        <p:sp>
          <p:nvSpPr>
            <p:cNvPr name="TextBox 89" id="89"/>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grpSp>
        <p:nvGrpSpPr>
          <p:cNvPr name="Group 90" id="90"/>
          <p:cNvGrpSpPr/>
          <p:nvPr/>
        </p:nvGrpSpPr>
        <p:grpSpPr>
          <a:xfrm rot="0">
            <a:off x="9896475" y="8534400"/>
            <a:ext cx="209550" cy="209550"/>
            <a:chOff x="0" y="0"/>
            <a:chExt cx="279400" cy="279400"/>
          </a:xfrm>
        </p:grpSpPr>
        <p:sp>
          <p:nvSpPr>
            <p:cNvPr name="Freeform 91" id="91"/>
            <p:cNvSpPr/>
            <p:nvPr/>
          </p:nvSpPr>
          <p:spPr>
            <a:xfrm flipH="false" flipV="false" rot="0">
              <a:off x="0" y="0"/>
              <a:ext cx="279400" cy="279400"/>
            </a:xfrm>
            <a:custGeom>
              <a:avLst/>
              <a:gdLst/>
              <a:ahLst/>
              <a:cxnLst/>
              <a:rect r="r" b="b" t="t" l="l"/>
              <a:pathLst>
                <a:path h="279400" w="279400">
                  <a:moveTo>
                    <a:pt x="139700" y="0"/>
                  </a:moveTo>
                  <a:lnTo>
                    <a:pt x="279400" y="139700"/>
                  </a:lnTo>
                  <a:lnTo>
                    <a:pt x="139700" y="279400"/>
                  </a:lnTo>
                  <a:lnTo>
                    <a:pt x="0" y="139700"/>
                  </a:lnTo>
                  <a:close/>
                </a:path>
              </a:pathLst>
            </a:custGeom>
            <a:solidFill>
              <a:srgbClr val="4390F8"/>
            </a:solidFill>
          </p:spPr>
        </p:sp>
        <p:sp>
          <p:nvSpPr>
            <p:cNvPr name="TextBox 92" id="92"/>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grpSp>
        <p:nvGrpSpPr>
          <p:cNvPr name="Group 93" id="93"/>
          <p:cNvGrpSpPr/>
          <p:nvPr/>
        </p:nvGrpSpPr>
        <p:grpSpPr>
          <a:xfrm rot="0">
            <a:off x="11991975" y="8534400"/>
            <a:ext cx="209550" cy="209550"/>
            <a:chOff x="0" y="0"/>
            <a:chExt cx="279400" cy="279400"/>
          </a:xfrm>
        </p:grpSpPr>
        <p:sp>
          <p:nvSpPr>
            <p:cNvPr name="Freeform 94" id="94"/>
            <p:cNvSpPr/>
            <p:nvPr/>
          </p:nvSpPr>
          <p:spPr>
            <a:xfrm flipH="false" flipV="false" rot="0">
              <a:off x="0" y="0"/>
              <a:ext cx="279400" cy="279400"/>
            </a:xfrm>
            <a:custGeom>
              <a:avLst/>
              <a:gdLst/>
              <a:ahLst/>
              <a:cxnLst/>
              <a:rect r="r" b="b" t="t" l="l"/>
              <a:pathLst>
                <a:path h="279400" w="279400">
                  <a:moveTo>
                    <a:pt x="139700" y="0"/>
                  </a:moveTo>
                  <a:lnTo>
                    <a:pt x="279400" y="139700"/>
                  </a:lnTo>
                  <a:lnTo>
                    <a:pt x="139700" y="279400"/>
                  </a:lnTo>
                  <a:lnTo>
                    <a:pt x="0" y="139700"/>
                  </a:lnTo>
                  <a:close/>
                </a:path>
              </a:pathLst>
            </a:custGeom>
            <a:solidFill>
              <a:srgbClr val="2A9D8F"/>
            </a:solidFill>
          </p:spPr>
        </p:sp>
        <p:sp>
          <p:nvSpPr>
            <p:cNvPr name="TextBox 95" id="95"/>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grpSp>
        <p:nvGrpSpPr>
          <p:cNvPr name="Group 96" id="96"/>
          <p:cNvGrpSpPr/>
          <p:nvPr/>
        </p:nvGrpSpPr>
        <p:grpSpPr>
          <a:xfrm rot="0">
            <a:off x="14087475" y="8534400"/>
            <a:ext cx="209550" cy="209550"/>
            <a:chOff x="0" y="0"/>
            <a:chExt cx="279400" cy="279400"/>
          </a:xfrm>
        </p:grpSpPr>
        <p:sp>
          <p:nvSpPr>
            <p:cNvPr name="Freeform 97" id="97"/>
            <p:cNvSpPr/>
            <p:nvPr/>
          </p:nvSpPr>
          <p:spPr>
            <a:xfrm flipH="false" flipV="false" rot="0">
              <a:off x="0" y="0"/>
              <a:ext cx="279400" cy="279400"/>
            </a:xfrm>
            <a:custGeom>
              <a:avLst/>
              <a:gdLst/>
              <a:ahLst/>
              <a:cxnLst/>
              <a:rect r="r" b="b" t="t" l="l"/>
              <a:pathLst>
                <a:path h="279400" w="279400">
                  <a:moveTo>
                    <a:pt x="139700" y="0"/>
                  </a:moveTo>
                  <a:lnTo>
                    <a:pt x="279400" y="139700"/>
                  </a:lnTo>
                  <a:lnTo>
                    <a:pt x="139700" y="279400"/>
                  </a:lnTo>
                  <a:lnTo>
                    <a:pt x="0" y="139700"/>
                  </a:lnTo>
                  <a:close/>
                </a:path>
              </a:pathLst>
            </a:custGeom>
            <a:solidFill>
              <a:srgbClr val="F4A261"/>
            </a:solidFill>
          </p:spPr>
        </p:sp>
        <p:sp>
          <p:nvSpPr>
            <p:cNvPr name="TextBox 98" id="98"/>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grpSp>
        <p:nvGrpSpPr>
          <p:cNvPr name="Group 99" id="99"/>
          <p:cNvGrpSpPr/>
          <p:nvPr/>
        </p:nvGrpSpPr>
        <p:grpSpPr>
          <a:xfrm rot="0">
            <a:off x="16182975" y="8534400"/>
            <a:ext cx="209550" cy="209550"/>
            <a:chOff x="0" y="0"/>
            <a:chExt cx="279400" cy="279400"/>
          </a:xfrm>
        </p:grpSpPr>
        <p:sp>
          <p:nvSpPr>
            <p:cNvPr name="Freeform 100" id="100"/>
            <p:cNvSpPr/>
            <p:nvPr/>
          </p:nvSpPr>
          <p:spPr>
            <a:xfrm flipH="false" flipV="false" rot="0">
              <a:off x="0" y="0"/>
              <a:ext cx="279400" cy="279400"/>
            </a:xfrm>
            <a:custGeom>
              <a:avLst/>
              <a:gdLst/>
              <a:ahLst/>
              <a:cxnLst/>
              <a:rect r="r" b="b" t="t" l="l"/>
              <a:pathLst>
                <a:path h="279400" w="279400">
                  <a:moveTo>
                    <a:pt x="139700" y="0"/>
                  </a:moveTo>
                  <a:lnTo>
                    <a:pt x="279400" y="139700"/>
                  </a:lnTo>
                  <a:lnTo>
                    <a:pt x="139700" y="279400"/>
                  </a:lnTo>
                  <a:lnTo>
                    <a:pt x="0" y="139700"/>
                  </a:lnTo>
                  <a:close/>
                </a:path>
              </a:pathLst>
            </a:custGeom>
            <a:solidFill>
              <a:srgbClr val="0E1E3A"/>
            </a:solidFill>
          </p:spPr>
        </p:sp>
        <p:sp>
          <p:nvSpPr>
            <p:cNvPr name="TextBox 101" id="101"/>
            <p:cNvSpPr txBox="true"/>
            <p:nvPr/>
          </p:nvSpPr>
          <p:spPr>
            <a:xfrm>
              <a:off x="0" y="-38100"/>
              <a:ext cx="279400" cy="317500"/>
            </a:xfrm>
            <a:prstGeom prst="rect">
              <a:avLst/>
            </a:prstGeom>
          </p:spPr>
          <p:txBody>
            <a:bodyPr anchor="ctr" rtlCol="false" tIns="50800" lIns="50800" bIns="50800" rIns="50800"/>
            <a:lstStyle/>
            <a:p>
              <a:pPr algn="l">
                <a:lnSpc>
                  <a:spcPts val="1679"/>
                </a:lnSpc>
              </a:pPr>
            </a:p>
          </p:txBody>
        </p:sp>
      </p:grpSp>
      <p:sp>
        <p:nvSpPr>
          <p:cNvPr name="TextBox 102" id="102"/>
          <p:cNvSpPr txBox="true"/>
          <p:nvPr/>
        </p:nvSpPr>
        <p:spPr>
          <a:xfrm rot="0">
            <a:off x="6934200" y="8791575"/>
            <a:ext cx="1943100" cy="449580"/>
          </a:xfrm>
          <a:prstGeom prst="rect">
            <a:avLst/>
          </a:prstGeom>
        </p:spPr>
        <p:txBody>
          <a:bodyPr anchor="t" rtlCol="false" tIns="0" lIns="0" bIns="0" rIns="0">
            <a:spAutoFit/>
          </a:bodyPr>
          <a:lstStyle/>
          <a:p>
            <a:pPr algn="ctr" marL="0" indent="0" lvl="0">
              <a:lnSpc>
                <a:spcPts val="1755"/>
              </a:lnSpc>
              <a:spcBef>
                <a:spcPct val="0"/>
              </a:spcBef>
            </a:pPr>
            <a:r>
              <a:rPr lang="en-US" sz="1350" strike="noStrike" u="none">
                <a:solidFill>
                  <a:srgbClr val="3B4A5E"/>
                </a:solidFill>
                <a:latin typeface="Arimo"/>
                <a:ea typeface="Arimo"/>
                <a:cs typeface="Arimo"/>
                <a:sym typeface="Arimo"/>
              </a:rPr>
              <a:t>M1 · 11 Oct</a:t>
            </a:r>
          </a:p>
          <a:p>
            <a:pPr algn="ctr" marL="0" indent="0" lvl="0">
              <a:lnSpc>
                <a:spcPts val="1755"/>
              </a:lnSpc>
              <a:spcBef>
                <a:spcPct val="0"/>
              </a:spcBef>
            </a:pPr>
            <a:r>
              <a:rPr lang="en-US" sz="1350" strike="noStrike" u="none">
                <a:solidFill>
                  <a:srgbClr val="3B4A5E"/>
                </a:solidFill>
                <a:latin typeface="Arimo"/>
                <a:ea typeface="Arimo"/>
                <a:cs typeface="Arimo"/>
                <a:sym typeface="Arimo"/>
              </a:rPr>
              <a:t>Concepts drafted</a:t>
            </a:r>
          </a:p>
        </p:txBody>
      </p:sp>
      <p:sp>
        <p:nvSpPr>
          <p:cNvPr name="TextBox 103" id="103"/>
          <p:cNvSpPr txBox="true"/>
          <p:nvPr/>
        </p:nvSpPr>
        <p:spPr>
          <a:xfrm rot="0">
            <a:off x="9029700" y="8791575"/>
            <a:ext cx="1943100" cy="668655"/>
          </a:xfrm>
          <a:prstGeom prst="rect">
            <a:avLst/>
          </a:prstGeom>
        </p:spPr>
        <p:txBody>
          <a:bodyPr anchor="t" rtlCol="false" tIns="0" lIns="0" bIns="0" rIns="0">
            <a:spAutoFit/>
          </a:bodyPr>
          <a:lstStyle/>
          <a:p>
            <a:pPr algn="ctr" marL="0" indent="0" lvl="0">
              <a:lnSpc>
                <a:spcPts val="1755"/>
              </a:lnSpc>
              <a:spcBef>
                <a:spcPct val="0"/>
              </a:spcBef>
            </a:pPr>
            <a:r>
              <a:rPr lang="en-US" sz="1350" strike="noStrike" u="none">
                <a:solidFill>
                  <a:srgbClr val="3B4A5E"/>
                </a:solidFill>
                <a:latin typeface="Arimo"/>
                <a:ea typeface="Arimo"/>
                <a:cs typeface="Arimo"/>
                <a:sym typeface="Arimo"/>
              </a:rPr>
              <a:t>M2 · 18 Oct</a:t>
            </a:r>
          </a:p>
          <a:p>
            <a:pPr algn="ctr" marL="0" indent="0" lvl="0">
              <a:lnSpc>
                <a:spcPts val="1755"/>
              </a:lnSpc>
              <a:spcBef>
                <a:spcPct val="0"/>
              </a:spcBef>
            </a:pPr>
            <a:r>
              <a:rPr lang="en-US" sz="1350" strike="noStrike" u="none">
                <a:solidFill>
                  <a:srgbClr val="3B4A5E"/>
                </a:solidFill>
                <a:latin typeface="Arimo"/>
                <a:ea typeface="Arimo"/>
                <a:cs typeface="Arimo"/>
                <a:sym typeface="Arimo"/>
              </a:rPr>
              <a:t>Multi-cavity design chosen</a:t>
            </a:r>
          </a:p>
        </p:txBody>
      </p:sp>
      <p:sp>
        <p:nvSpPr>
          <p:cNvPr name="TextBox 104" id="104"/>
          <p:cNvSpPr txBox="true"/>
          <p:nvPr/>
        </p:nvSpPr>
        <p:spPr>
          <a:xfrm rot="0">
            <a:off x="11125200" y="8791575"/>
            <a:ext cx="1943100" cy="449580"/>
          </a:xfrm>
          <a:prstGeom prst="rect">
            <a:avLst/>
          </a:prstGeom>
        </p:spPr>
        <p:txBody>
          <a:bodyPr anchor="t" rtlCol="false" tIns="0" lIns="0" bIns="0" rIns="0">
            <a:spAutoFit/>
          </a:bodyPr>
          <a:lstStyle/>
          <a:p>
            <a:pPr algn="ctr" marL="0" indent="0" lvl="0">
              <a:lnSpc>
                <a:spcPts val="1755"/>
              </a:lnSpc>
              <a:spcBef>
                <a:spcPct val="0"/>
              </a:spcBef>
            </a:pPr>
            <a:r>
              <a:rPr lang="en-US" sz="1350" strike="noStrike" u="none">
                <a:solidFill>
                  <a:srgbClr val="3B4A5E"/>
                </a:solidFill>
                <a:latin typeface="Arimo"/>
                <a:ea typeface="Arimo"/>
                <a:cs typeface="Arimo"/>
                <a:sym typeface="Arimo"/>
              </a:rPr>
              <a:t>M3 · 25 Oct</a:t>
            </a:r>
          </a:p>
          <a:p>
            <a:pPr algn="ctr" marL="0" indent="0" lvl="0">
              <a:lnSpc>
                <a:spcPts val="1755"/>
              </a:lnSpc>
              <a:spcBef>
                <a:spcPct val="0"/>
              </a:spcBef>
            </a:pPr>
            <a:r>
              <a:rPr lang="en-US" sz="1350" strike="noStrike" u="none">
                <a:solidFill>
                  <a:srgbClr val="3B4A5E"/>
                </a:solidFill>
                <a:latin typeface="Arimo"/>
                <a:ea typeface="Arimo"/>
                <a:cs typeface="Arimo"/>
                <a:sym typeface="Arimo"/>
              </a:rPr>
              <a:t>ANSYS check done</a:t>
            </a:r>
          </a:p>
        </p:txBody>
      </p:sp>
      <p:sp>
        <p:nvSpPr>
          <p:cNvPr name="TextBox 105" id="105"/>
          <p:cNvSpPr txBox="true"/>
          <p:nvPr/>
        </p:nvSpPr>
        <p:spPr>
          <a:xfrm rot="0">
            <a:off x="13220700" y="8791575"/>
            <a:ext cx="1943100" cy="449580"/>
          </a:xfrm>
          <a:prstGeom prst="rect">
            <a:avLst/>
          </a:prstGeom>
        </p:spPr>
        <p:txBody>
          <a:bodyPr anchor="t" rtlCol="false" tIns="0" lIns="0" bIns="0" rIns="0">
            <a:spAutoFit/>
          </a:bodyPr>
          <a:lstStyle/>
          <a:p>
            <a:pPr algn="ctr" marL="0" indent="0" lvl="0">
              <a:lnSpc>
                <a:spcPts val="1755"/>
              </a:lnSpc>
              <a:spcBef>
                <a:spcPct val="0"/>
              </a:spcBef>
            </a:pPr>
            <a:r>
              <a:rPr lang="en-US" sz="1350" strike="noStrike" u="none">
                <a:solidFill>
                  <a:srgbClr val="3B4A5E"/>
                </a:solidFill>
                <a:latin typeface="Arimo"/>
                <a:ea typeface="Arimo"/>
                <a:cs typeface="Arimo"/>
                <a:sym typeface="Arimo"/>
              </a:rPr>
              <a:t>M4 · 1 Nov</a:t>
            </a:r>
          </a:p>
          <a:p>
            <a:pPr algn="ctr" marL="0" indent="0" lvl="0">
              <a:lnSpc>
                <a:spcPts val="1755"/>
              </a:lnSpc>
              <a:spcBef>
                <a:spcPct val="0"/>
              </a:spcBef>
            </a:pPr>
            <a:r>
              <a:rPr lang="en-US" sz="1350" strike="noStrike" u="none">
                <a:solidFill>
                  <a:srgbClr val="3B4A5E"/>
                </a:solidFill>
                <a:latin typeface="Arimo"/>
                <a:ea typeface="Arimo"/>
                <a:cs typeface="Arimo"/>
                <a:sym typeface="Arimo"/>
              </a:rPr>
              <a:t>First actuator cast</a:t>
            </a:r>
          </a:p>
        </p:txBody>
      </p:sp>
      <p:sp>
        <p:nvSpPr>
          <p:cNvPr name="TextBox 106" id="106"/>
          <p:cNvSpPr txBox="true"/>
          <p:nvPr/>
        </p:nvSpPr>
        <p:spPr>
          <a:xfrm rot="0">
            <a:off x="15316200" y="8791575"/>
            <a:ext cx="1943100" cy="449580"/>
          </a:xfrm>
          <a:prstGeom prst="rect">
            <a:avLst/>
          </a:prstGeom>
        </p:spPr>
        <p:txBody>
          <a:bodyPr anchor="t" rtlCol="false" tIns="0" lIns="0" bIns="0" rIns="0">
            <a:spAutoFit/>
          </a:bodyPr>
          <a:lstStyle/>
          <a:p>
            <a:pPr algn="ctr" marL="0" indent="0" lvl="0">
              <a:lnSpc>
                <a:spcPts val="1755"/>
              </a:lnSpc>
              <a:spcBef>
                <a:spcPct val="0"/>
              </a:spcBef>
            </a:pPr>
            <a:r>
              <a:rPr lang="en-US" sz="1350" strike="noStrike" u="none">
                <a:solidFill>
                  <a:srgbClr val="3B4A5E"/>
                </a:solidFill>
                <a:latin typeface="Arimo"/>
                <a:ea typeface="Arimo"/>
                <a:cs typeface="Arimo"/>
                <a:sym typeface="Arimo"/>
              </a:rPr>
              <a:t>M5 · 8 Nov</a:t>
            </a:r>
          </a:p>
          <a:p>
            <a:pPr algn="ctr" marL="0" indent="0" lvl="0">
              <a:lnSpc>
                <a:spcPts val="1755"/>
              </a:lnSpc>
              <a:spcBef>
                <a:spcPct val="0"/>
              </a:spcBef>
            </a:pPr>
            <a:r>
              <a:rPr lang="en-US" sz="1350" strike="noStrike" u="none">
                <a:solidFill>
                  <a:srgbClr val="3B4A5E"/>
                </a:solidFill>
                <a:latin typeface="Arimo"/>
                <a:ea typeface="Arimo"/>
                <a:cs typeface="Arimo"/>
                <a:sym typeface="Arimo"/>
              </a:rPr>
              <a:t>First test data</a:t>
            </a:r>
          </a:p>
        </p:txBody>
      </p:sp>
      <p:sp>
        <p:nvSpPr>
          <p:cNvPr name="TextBox 107" id="107"/>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108" id="108"/>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20</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1F4E7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E1E3A"/>
            </a:solidFill>
          </p:spPr>
        </p:sp>
        <p:sp>
          <p:nvSpPr>
            <p:cNvPr name="TextBox 4" id="4"/>
            <p:cNvSpPr txBox="true"/>
            <p:nvPr/>
          </p:nvSpPr>
          <p:spPr>
            <a:xfrm>
              <a:off x="0" y="-38100"/>
              <a:ext cx="24384000" cy="13754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952500" y="1143000"/>
            <a:ext cx="1143000" cy="76200"/>
            <a:chOff x="0" y="0"/>
            <a:chExt cx="1524000" cy="101600"/>
          </a:xfrm>
        </p:grpSpPr>
        <p:sp>
          <p:nvSpPr>
            <p:cNvPr name="Freeform 6" id="6"/>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4390F8"/>
            </a:solidFill>
          </p:spPr>
        </p:sp>
        <p:sp>
          <p:nvSpPr>
            <p:cNvPr name="TextBox 7" id="7"/>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952500" y="1371600"/>
            <a:ext cx="7620000" cy="300990"/>
          </a:xfrm>
          <a:prstGeom prst="rect">
            <a:avLst/>
          </a:prstGeom>
        </p:spPr>
        <p:txBody>
          <a:bodyPr anchor="t" rtlCol="false" tIns="0" lIns="0" bIns="0" rIns="0">
            <a:spAutoFit/>
          </a:bodyPr>
          <a:lstStyle/>
          <a:p>
            <a:pPr algn="l">
              <a:lnSpc>
                <a:spcPts val="2310"/>
              </a:lnSpc>
            </a:pPr>
            <a:r>
              <a:rPr lang="en-US" sz="1650" b="true">
                <a:solidFill>
                  <a:srgbClr val="4390F8"/>
                </a:solidFill>
                <a:latin typeface="Arimo Bold"/>
                <a:ea typeface="Arimo Bold"/>
                <a:cs typeface="Arimo Bold"/>
                <a:sym typeface="Arimo Bold"/>
              </a:rPr>
              <a:t>SUMMARY</a:t>
            </a:r>
          </a:p>
        </p:txBody>
      </p:sp>
      <p:sp>
        <p:nvSpPr>
          <p:cNvPr name="TextBox 9" id="9"/>
          <p:cNvSpPr txBox="true"/>
          <p:nvPr/>
        </p:nvSpPr>
        <p:spPr>
          <a:xfrm rot="0">
            <a:off x="952500" y="1657350"/>
            <a:ext cx="16383000" cy="840105"/>
          </a:xfrm>
          <a:prstGeom prst="rect">
            <a:avLst/>
          </a:prstGeom>
        </p:spPr>
        <p:txBody>
          <a:bodyPr anchor="t" rtlCol="false" tIns="0" lIns="0" bIns="0" rIns="0">
            <a:spAutoFit/>
          </a:bodyPr>
          <a:lstStyle/>
          <a:p>
            <a:pPr algn="l">
              <a:lnSpc>
                <a:spcPts val="6719"/>
              </a:lnSpc>
            </a:pPr>
            <a:r>
              <a:rPr lang="en-US" sz="4800" b="true">
                <a:solidFill>
                  <a:srgbClr val="FFFFFF"/>
                </a:solidFill>
                <a:latin typeface="Arimo Bold"/>
                <a:ea typeface="Arimo Bold"/>
                <a:cs typeface="Arimo Bold"/>
                <a:sym typeface="Arimo Bold"/>
              </a:rPr>
              <a:t>What we know so far</a:t>
            </a:r>
          </a:p>
        </p:txBody>
      </p:sp>
      <p:grpSp>
        <p:nvGrpSpPr>
          <p:cNvPr name="Group 10" id="10"/>
          <p:cNvGrpSpPr/>
          <p:nvPr/>
        </p:nvGrpSpPr>
        <p:grpSpPr>
          <a:xfrm rot="0">
            <a:off x="952500" y="3048000"/>
            <a:ext cx="8001000" cy="2476500"/>
            <a:chOff x="0" y="0"/>
            <a:chExt cx="10668000" cy="3302000"/>
          </a:xfrm>
        </p:grpSpPr>
        <p:sp>
          <p:nvSpPr>
            <p:cNvPr name="Freeform 11" id="11"/>
            <p:cNvSpPr/>
            <p:nvPr/>
          </p:nvSpPr>
          <p:spPr>
            <a:xfrm flipH="false" flipV="false" rot="0">
              <a:off x="0" y="0"/>
              <a:ext cx="10668000" cy="3302000"/>
            </a:xfrm>
            <a:custGeom>
              <a:avLst/>
              <a:gdLst/>
              <a:ahLst/>
              <a:cxnLst/>
              <a:rect r="r" b="b" t="t" l="l"/>
              <a:pathLst>
                <a:path h="3302000" w="10668000">
                  <a:moveTo>
                    <a:pt x="27214" y="0"/>
                  </a:moveTo>
                  <a:lnTo>
                    <a:pt x="10640785" y="0"/>
                  </a:lnTo>
                  <a:cubicBezTo>
                    <a:pt x="10648004" y="0"/>
                    <a:pt x="10654926" y="2867"/>
                    <a:pt x="10660029" y="7971"/>
                  </a:cubicBezTo>
                  <a:cubicBezTo>
                    <a:pt x="10665133" y="13075"/>
                    <a:pt x="10668000" y="19997"/>
                    <a:pt x="10668000" y="27214"/>
                  </a:cubicBezTo>
                  <a:lnTo>
                    <a:pt x="10668000" y="3274786"/>
                  </a:lnTo>
                  <a:cubicBezTo>
                    <a:pt x="10668000" y="3282004"/>
                    <a:pt x="10665133" y="3288926"/>
                    <a:pt x="10660029" y="3294029"/>
                  </a:cubicBezTo>
                  <a:cubicBezTo>
                    <a:pt x="10654926" y="3299133"/>
                    <a:pt x="10648004" y="3302000"/>
                    <a:pt x="10640785" y="3302000"/>
                  </a:cubicBezTo>
                  <a:lnTo>
                    <a:pt x="27214" y="3302000"/>
                  </a:lnTo>
                  <a:cubicBezTo>
                    <a:pt x="19997" y="3302000"/>
                    <a:pt x="13075" y="3299133"/>
                    <a:pt x="7971" y="3294029"/>
                  </a:cubicBezTo>
                  <a:cubicBezTo>
                    <a:pt x="2867" y="3288926"/>
                    <a:pt x="0" y="3282004"/>
                    <a:pt x="0" y="3274786"/>
                  </a:cubicBezTo>
                  <a:lnTo>
                    <a:pt x="0" y="27214"/>
                  </a:lnTo>
                  <a:cubicBezTo>
                    <a:pt x="0" y="19997"/>
                    <a:pt x="2867" y="13075"/>
                    <a:pt x="7971" y="7971"/>
                  </a:cubicBezTo>
                  <a:cubicBezTo>
                    <a:pt x="13075" y="2867"/>
                    <a:pt x="19997" y="0"/>
                    <a:pt x="27214" y="0"/>
                  </a:cubicBezTo>
                  <a:close/>
                </a:path>
              </a:pathLst>
            </a:custGeom>
            <a:solidFill>
              <a:srgbClr val="1A2F55"/>
            </a:solidFill>
          </p:spPr>
        </p:sp>
        <p:sp>
          <p:nvSpPr>
            <p:cNvPr name="TextBox 12" id="12"/>
            <p:cNvSpPr txBox="true"/>
            <p:nvPr/>
          </p:nvSpPr>
          <p:spPr>
            <a:xfrm>
              <a:off x="0" y="-38100"/>
              <a:ext cx="10668000" cy="3340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9334500" y="3048000"/>
            <a:ext cx="8001000" cy="2476500"/>
            <a:chOff x="0" y="0"/>
            <a:chExt cx="10668000" cy="3302000"/>
          </a:xfrm>
        </p:grpSpPr>
        <p:sp>
          <p:nvSpPr>
            <p:cNvPr name="Freeform 14" id="14"/>
            <p:cNvSpPr/>
            <p:nvPr/>
          </p:nvSpPr>
          <p:spPr>
            <a:xfrm flipH="false" flipV="false" rot="0">
              <a:off x="0" y="0"/>
              <a:ext cx="10668000" cy="3302000"/>
            </a:xfrm>
            <a:custGeom>
              <a:avLst/>
              <a:gdLst/>
              <a:ahLst/>
              <a:cxnLst/>
              <a:rect r="r" b="b" t="t" l="l"/>
              <a:pathLst>
                <a:path h="3302000" w="10668000">
                  <a:moveTo>
                    <a:pt x="27214" y="0"/>
                  </a:moveTo>
                  <a:lnTo>
                    <a:pt x="10640785" y="0"/>
                  </a:lnTo>
                  <a:cubicBezTo>
                    <a:pt x="10648004" y="0"/>
                    <a:pt x="10654926" y="2867"/>
                    <a:pt x="10660029" y="7971"/>
                  </a:cubicBezTo>
                  <a:cubicBezTo>
                    <a:pt x="10665133" y="13075"/>
                    <a:pt x="10668000" y="19997"/>
                    <a:pt x="10668000" y="27214"/>
                  </a:cubicBezTo>
                  <a:lnTo>
                    <a:pt x="10668000" y="3274786"/>
                  </a:lnTo>
                  <a:cubicBezTo>
                    <a:pt x="10668000" y="3282004"/>
                    <a:pt x="10665133" y="3288926"/>
                    <a:pt x="10660029" y="3294029"/>
                  </a:cubicBezTo>
                  <a:cubicBezTo>
                    <a:pt x="10654926" y="3299133"/>
                    <a:pt x="10648004" y="3302000"/>
                    <a:pt x="10640785" y="3302000"/>
                  </a:cubicBezTo>
                  <a:lnTo>
                    <a:pt x="27214" y="3302000"/>
                  </a:lnTo>
                  <a:cubicBezTo>
                    <a:pt x="19997" y="3302000"/>
                    <a:pt x="13075" y="3299133"/>
                    <a:pt x="7971" y="3294029"/>
                  </a:cubicBezTo>
                  <a:cubicBezTo>
                    <a:pt x="2867" y="3288926"/>
                    <a:pt x="0" y="3282004"/>
                    <a:pt x="0" y="3274786"/>
                  </a:cubicBezTo>
                  <a:lnTo>
                    <a:pt x="0" y="27214"/>
                  </a:lnTo>
                  <a:cubicBezTo>
                    <a:pt x="0" y="19997"/>
                    <a:pt x="2867" y="13075"/>
                    <a:pt x="7971" y="7971"/>
                  </a:cubicBezTo>
                  <a:cubicBezTo>
                    <a:pt x="13075" y="2867"/>
                    <a:pt x="19997" y="0"/>
                    <a:pt x="27214" y="0"/>
                  </a:cubicBezTo>
                  <a:close/>
                </a:path>
              </a:pathLst>
            </a:custGeom>
            <a:solidFill>
              <a:srgbClr val="1A2F55"/>
            </a:solidFill>
          </p:spPr>
        </p:sp>
        <p:sp>
          <p:nvSpPr>
            <p:cNvPr name="TextBox 15" id="15"/>
            <p:cNvSpPr txBox="true"/>
            <p:nvPr/>
          </p:nvSpPr>
          <p:spPr>
            <a:xfrm>
              <a:off x="0" y="-38100"/>
              <a:ext cx="10668000" cy="33401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952500" y="5810250"/>
            <a:ext cx="8001000" cy="2476500"/>
            <a:chOff x="0" y="0"/>
            <a:chExt cx="10668000" cy="3302000"/>
          </a:xfrm>
        </p:grpSpPr>
        <p:sp>
          <p:nvSpPr>
            <p:cNvPr name="Freeform 17" id="17"/>
            <p:cNvSpPr/>
            <p:nvPr/>
          </p:nvSpPr>
          <p:spPr>
            <a:xfrm flipH="false" flipV="false" rot="0">
              <a:off x="0" y="0"/>
              <a:ext cx="10668000" cy="3302000"/>
            </a:xfrm>
            <a:custGeom>
              <a:avLst/>
              <a:gdLst/>
              <a:ahLst/>
              <a:cxnLst/>
              <a:rect r="r" b="b" t="t" l="l"/>
              <a:pathLst>
                <a:path h="3302000" w="10668000">
                  <a:moveTo>
                    <a:pt x="27214" y="0"/>
                  </a:moveTo>
                  <a:lnTo>
                    <a:pt x="10640785" y="0"/>
                  </a:lnTo>
                  <a:cubicBezTo>
                    <a:pt x="10648004" y="0"/>
                    <a:pt x="10654926" y="2867"/>
                    <a:pt x="10660029" y="7971"/>
                  </a:cubicBezTo>
                  <a:cubicBezTo>
                    <a:pt x="10665133" y="13075"/>
                    <a:pt x="10668000" y="19997"/>
                    <a:pt x="10668000" y="27214"/>
                  </a:cubicBezTo>
                  <a:lnTo>
                    <a:pt x="10668000" y="3274786"/>
                  </a:lnTo>
                  <a:cubicBezTo>
                    <a:pt x="10668000" y="3282004"/>
                    <a:pt x="10665133" y="3288926"/>
                    <a:pt x="10660029" y="3294029"/>
                  </a:cubicBezTo>
                  <a:cubicBezTo>
                    <a:pt x="10654926" y="3299133"/>
                    <a:pt x="10648004" y="3302000"/>
                    <a:pt x="10640785" y="3302000"/>
                  </a:cubicBezTo>
                  <a:lnTo>
                    <a:pt x="27214" y="3302000"/>
                  </a:lnTo>
                  <a:cubicBezTo>
                    <a:pt x="19997" y="3302000"/>
                    <a:pt x="13075" y="3299133"/>
                    <a:pt x="7971" y="3294029"/>
                  </a:cubicBezTo>
                  <a:cubicBezTo>
                    <a:pt x="2867" y="3288926"/>
                    <a:pt x="0" y="3282004"/>
                    <a:pt x="0" y="3274786"/>
                  </a:cubicBezTo>
                  <a:lnTo>
                    <a:pt x="0" y="27214"/>
                  </a:lnTo>
                  <a:cubicBezTo>
                    <a:pt x="0" y="19997"/>
                    <a:pt x="2867" y="13075"/>
                    <a:pt x="7971" y="7971"/>
                  </a:cubicBezTo>
                  <a:cubicBezTo>
                    <a:pt x="13075" y="2867"/>
                    <a:pt x="19997" y="0"/>
                    <a:pt x="27214" y="0"/>
                  </a:cubicBezTo>
                  <a:close/>
                </a:path>
              </a:pathLst>
            </a:custGeom>
            <a:solidFill>
              <a:srgbClr val="1A2F55"/>
            </a:solidFill>
          </p:spPr>
        </p:sp>
        <p:sp>
          <p:nvSpPr>
            <p:cNvPr name="TextBox 18" id="18"/>
            <p:cNvSpPr txBox="true"/>
            <p:nvPr/>
          </p:nvSpPr>
          <p:spPr>
            <a:xfrm>
              <a:off x="0" y="-38100"/>
              <a:ext cx="10668000" cy="3340100"/>
            </a:xfrm>
            <a:prstGeom prst="rect">
              <a:avLst/>
            </a:prstGeom>
          </p:spPr>
          <p:txBody>
            <a:bodyPr anchor="ctr" rtlCol="false" tIns="50800" lIns="50800" bIns="50800" rIns="50800"/>
            <a:lstStyle/>
            <a:p>
              <a:pPr algn="l">
                <a:lnSpc>
                  <a:spcPts val="1679"/>
                </a:lnSpc>
              </a:pPr>
            </a:p>
          </p:txBody>
        </p:sp>
      </p:grpSp>
      <p:grpSp>
        <p:nvGrpSpPr>
          <p:cNvPr name="Group 19" id="19"/>
          <p:cNvGrpSpPr/>
          <p:nvPr/>
        </p:nvGrpSpPr>
        <p:grpSpPr>
          <a:xfrm rot="0">
            <a:off x="9334500" y="5810250"/>
            <a:ext cx="8001000" cy="2476500"/>
            <a:chOff x="0" y="0"/>
            <a:chExt cx="10668000" cy="3302000"/>
          </a:xfrm>
        </p:grpSpPr>
        <p:sp>
          <p:nvSpPr>
            <p:cNvPr name="Freeform 20" id="20"/>
            <p:cNvSpPr/>
            <p:nvPr/>
          </p:nvSpPr>
          <p:spPr>
            <a:xfrm flipH="false" flipV="false" rot="0">
              <a:off x="0" y="0"/>
              <a:ext cx="10668000" cy="3302000"/>
            </a:xfrm>
            <a:custGeom>
              <a:avLst/>
              <a:gdLst/>
              <a:ahLst/>
              <a:cxnLst/>
              <a:rect r="r" b="b" t="t" l="l"/>
              <a:pathLst>
                <a:path h="3302000" w="10668000">
                  <a:moveTo>
                    <a:pt x="27214" y="0"/>
                  </a:moveTo>
                  <a:lnTo>
                    <a:pt x="10640785" y="0"/>
                  </a:lnTo>
                  <a:cubicBezTo>
                    <a:pt x="10648004" y="0"/>
                    <a:pt x="10654926" y="2867"/>
                    <a:pt x="10660029" y="7971"/>
                  </a:cubicBezTo>
                  <a:cubicBezTo>
                    <a:pt x="10665133" y="13075"/>
                    <a:pt x="10668000" y="19997"/>
                    <a:pt x="10668000" y="27214"/>
                  </a:cubicBezTo>
                  <a:lnTo>
                    <a:pt x="10668000" y="3274786"/>
                  </a:lnTo>
                  <a:cubicBezTo>
                    <a:pt x="10668000" y="3282004"/>
                    <a:pt x="10665133" y="3288926"/>
                    <a:pt x="10660029" y="3294029"/>
                  </a:cubicBezTo>
                  <a:cubicBezTo>
                    <a:pt x="10654926" y="3299133"/>
                    <a:pt x="10648004" y="3302000"/>
                    <a:pt x="10640785" y="3302000"/>
                  </a:cubicBezTo>
                  <a:lnTo>
                    <a:pt x="27214" y="3302000"/>
                  </a:lnTo>
                  <a:cubicBezTo>
                    <a:pt x="19997" y="3302000"/>
                    <a:pt x="13075" y="3299133"/>
                    <a:pt x="7971" y="3294029"/>
                  </a:cubicBezTo>
                  <a:cubicBezTo>
                    <a:pt x="2867" y="3288926"/>
                    <a:pt x="0" y="3282004"/>
                    <a:pt x="0" y="3274786"/>
                  </a:cubicBezTo>
                  <a:lnTo>
                    <a:pt x="0" y="27214"/>
                  </a:lnTo>
                  <a:cubicBezTo>
                    <a:pt x="0" y="19997"/>
                    <a:pt x="2867" y="13075"/>
                    <a:pt x="7971" y="7971"/>
                  </a:cubicBezTo>
                  <a:cubicBezTo>
                    <a:pt x="13075" y="2867"/>
                    <a:pt x="19997" y="0"/>
                    <a:pt x="27214" y="0"/>
                  </a:cubicBezTo>
                  <a:close/>
                </a:path>
              </a:pathLst>
            </a:custGeom>
            <a:solidFill>
              <a:srgbClr val="1A2F55"/>
            </a:solidFill>
          </p:spPr>
        </p:sp>
        <p:sp>
          <p:nvSpPr>
            <p:cNvPr name="TextBox 21" id="21"/>
            <p:cNvSpPr txBox="true"/>
            <p:nvPr/>
          </p:nvSpPr>
          <p:spPr>
            <a:xfrm>
              <a:off x="0" y="-38100"/>
              <a:ext cx="10668000" cy="33401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257300" y="3219450"/>
            <a:ext cx="952500" cy="533400"/>
          </a:xfrm>
          <a:prstGeom prst="rect">
            <a:avLst/>
          </a:prstGeom>
        </p:spPr>
        <p:txBody>
          <a:bodyPr anchor="t" rtlCol="false" tIns="0" lIns="0" bIns="0" rIns="0">
            <a:spAutoFit/>
          </a:bodyPr>
          <a:lstStyle/>
          <a:p>
            <a:pPr algn="l">
              <a:lnSpc>
                <a:spcPts val="4200"/>
              </a:lnSpc>
            </a:pPr>
            <a:r>
              <a:rPr lang="en-US" sz="3000" b="true">
                <a:solidFill>
                  <a:srgbClr val="4390F8"/>
                </a:solidFill>
                <a:latin typeface="Arimo Bold"/>
                <a:ea typeface="Arimo Bold"/>
                <a:cs typeface="Arimo Bold"/>
                <a:sym typeface="Arimo Bold"/>
              </a:rPr>
              <a:t>01</a:t>
            </a:r>
          </a:p>
        </p:txBody>
      </p:sp>
      <p:sp>
        <p:nvSpPr>
          <p:cNvPr name="TextBox 23" id="23"/>
          <p:cNvSpPr txBox="true"/>
          <p:nvPr/>
        </p:nvSpPr>
        <p:spPr>
          <a:xfrm rot="0">
            <a:off x="1257300" y="3790950"/>
            <a:ext cx="7429500" cy="400050"/>
          </a:xfrm>
          <a:prstGeom prst="rect">
            <a:avLst/>
          </a:prstGeom>
        </p:spPr>
        <p:txBody>
          <a:bodyPr anchor="t" rtlCol="false" tIns="0" lIns="0" bIns="0" rIns="0">
            <a:spAutoFit/>
          </a:bodyPr>
          <a:lstStyle/>
          <a:p>
            <a:pPr algn="l" marL="0" indent="0" lvl="0">
              <a:lnSpc>
                <a:spcPts val="3149"/>
              </a:lnSpc>
              <a:spcBef>
                <a:spcPct val="0"/>
              </a:spcBef>
            </a:pPr>
            <a:r>
              <a:rPr lang="en-US" b="true" sz="2250" strike="noStrike" u="none">
                <a:solidFill>
                  <a:srgbClr val="FFFFFF"/>
                </a:solidFill>
                <a:latin typeface="Arimo Bold"/>
                <a:ea typeface="Arimo Bold"/>
                <a:cs typeface="Arimo Bold"/>
                <a:sym typeface="Arimo Bold"/>
              </a:rPr>
              <a:t>Derivation, step by step</a:t>
            </a:r>
          </a:p>
        </p:txBody>
      </p:sp>
      <p:sp>
        <p:nvSpPr>
          <p:cNvPr name="TextBox 24" id="24"/>
          <p:cNvSpPr txBox="true"/>
          <p:nvPr/>
        </p:nvSpPr>
        <p:spPr>
          <a:xfrm rot="0">
            <a:off x="1257300" y="4248150"/>
            <a:ext cx="7429500" cy="872490"/>
          </a:xfrm>
          <a:prstGeom prst="rect">
            <a:avLst/>
          </a:prstGeom>
        </p:spPr>
        <p:txBody>
          <a:bodyPr anchor="t" rtlCol="false" tIns="0" lIns="0" bIns="0" rIns="0">
            <a:spAutoFit/>
          </a:bodyPr>
          <a:lstStyle/>
          <a:p>
            <a:pPr algn="l" marL="0" indent="0" lvl="0">
              <a:lnSpc>
                <a:spcPts val="2310"/>
              </a:lnSpc>
              <a:spcBef>
                <a:spcPct val="0"/>
              </a:spcBef>
            </a:pPr>
            <a:r>
              <a:rPr lang="en-US" sz="1650" strike="noStrike" u="none">
                <a:solidFill>
                  <a:srgbClr val="C9D6E8"/>
                </a:solidFill>
                <a:latin typeface="Arimo"/>
                <a:ea typeface="Arimo"/>
                <a:cs typeface="Arimo"/>
                <a:sym typeface="Arimo"/>
              </a:rPr>
              <a:t>Section, loading and beam response follow from statics. The (1−2ν) factor shows that axial stretch alone barely bends a silicone actuator; the bending comes from the wall ballooning.</a:t>
            </a:r>
          </a:p>
        </p:txBody>
      </p:sp>
      <p:sp>
        <p:nvSpPr>
          <p:cNvPr name="TextBox 25" id="25"/>
          <p:cNvSpPr txBox="true"/>
          <p:nvPr/>
        </p:nvSpPr>
        <p:spPr>
          <a:xfrm rot="0">
            <a:off x="9639300" y="3219450"/>
            <a:ext cx="952500" cy="533400"/>
          </a:xfrm>
          <a:prstGeom prst="rect">
            <a:avLst/>
          </a:prstGeom>
        </p:spPr>
        <p:txBody>
          <a:bodyPr anchor="t" rtlCol="false" tIns="0" lIns="0" bIns="0" rIns="0">
            <a:spAutoFit/>
          </a:bodyPr>
          <a:lstStyle/>
          <a:p>
            <a:pPr algn="l">
              <a:lnSpc>
                <a:spcPts val="4200"/>
              </a:lnSpc>
            </a:pPr>
            <a:r>
              <a:rPr lang="en-US" sz="3000" b="true">
                <a:solidFill>
                  <a:srgbClr val="4390F8"/>
                </a:solidFill>
                <a:latin typeface="Arimo Bold"/>
                <a:ea typeface="Arimo Bold"/>
                <a:cs typeface="Arimo Bold"/>
                <a:sym typeface="Arimo Bold"/>
              </a:rPr>
              <a:t>02</a:t>
            </a:r>
          </a:p>
        </p:txBody>
      </p:sp>
      <p:sp>
        <p:nvSpPr>
          <p:cNvPr name="TextBox 26" id="26"/>
          <p:cNvSpPr txBox="true"/>
          <p:nvPr/>
        </p:nvSpPr>
        <p:spPr>
          <a:xfrm rot="0">
            <a:off x="9639300" y="3790950"/>
            <a:ext cx="7429500" cy="400050"/>
          </a:xfrm>
          <a:prstGeom prst="rect">
            <a:avLst/>
          </a:prstGeom>
        </p:spPr>
        <p:txBody>
          <a:bodyPr anchor="t" rtlCol="false" tIns="0" lIns="0" bIns="0" rIns="0">
            <a:spAutoFit/>
          </a:bodyPr>
          <a:lstStyle/>
          <a:p>
            <a:pPr algn="l">
              <a:lnSpc>
                <a:spcPts val="3149"/>
              </a:lnSpc>
            </a:pPr>
            <a:r>
              <a:rPr lang="en-US" sz="2250" b="true">
                <a:solidFill>
                  <a:srgbClr val="FFFFFF"/>
                </a:solidFill>
                <a:latin typeface="Arimo Bold"/>
                <a:ea typeface="Arimo Bold"/>
                <a:cs typeface="Arimo Bold"/>
                <a:sym typeface="Arimo Bold"/>
              </a:rPr>
              <a:t>Three analytical model tiers</a:t>
            </a:r>
          </a:p>
        </p:txBody>
      </p:sp>
      <p:sp>
        <p:nvSpPr>
          <p:cNvPr name="TextBox 27" id="27"/>
          <p:cNvSpPr txBox="true"/>
          <p:nvPr/>
        </p:nvSpPr>
        <p:spPr>
          <a:xfrm rot="0">
            <a:off x="9639300" y="4248150"/>
            <a:ext cx="7429500" cy="586740"/>
          </a:xfrm>
          <a:prstGeom prst="rect">
            <a:avLst/>
          </a:prstGeom>
        </p:spPr>
        <p:txBody>
          <a:bodyPr anchor="t" rtlCol="false" tIns="0" lIns="0" bIns="0" rIns="0">
            <a:spAutoFit/>
          </a:bodyPr>
          <a:lstStyle/>
          <a:p>
            <a:pPr algn="l" marL="0" indent="0" lvl="0">
              <a:lnSpc>
                <a:spcPts val="2310"/>
              </a:lnSpc>
              <a:spcBef>
                <a:spcPct val="0"/>
              </a:spcBef>
            </a:pPr>
            <a:r>
              <a:rPr lang="en-US" sz="1650" strike="noStrike" u="none">
                <a:solidFill>
                  <a:srgbClr val="C9D6E8"/>
                </a:solidFill>
                <a:latin typeface="Arimo"/>
                <a:ea typeface="Arimo"/>
                <a:cs typeface="Arimo"/>
                <a:sym typeface="Arimo"/>
              </a:rPr>
              <a:t>Linear beam → (1−2ν) factor → wall expansion. Valid only for the reinforced actuator: within 5 % of the FE at low pressure, 20–25 % low at 60 kPa.</a:t>
            </a:r>
          </a:p>
        </p:txBody>
      </p:sp>
      <p:sp>
        <p:nvSpPr>
          <p:cNvPr name="TextBox 28" id="28"/>
          <p:cNvSpPr txBox="true"/>
          <p:nvPr/>
        </p:nvSpPr>
        <p:spPr>
          <a:xfrm rot="0">
            <a:off x="1257300" y="5981700"/>
            <a:ext cx="952500" cy="533400"/>
          </a:xfrm>
          <a:prstGeom prst="rect">
            <a:avLst/>
          </a:prstGeom>
        </p:spPr>
        <p:txBody>
          <a:bodyPr anchor="t" rtlCol="false" tIns="0" lIns="0" bIns="0" rIns="0">
            <a:spAutoFit/>
          </a:bodyPr>
          <a:lstStyle/>
          <a:p>
            <a:pPr algn="l">
              <a:lnSpc>
                <a:spcPts val="4200"/>
              </a:lnSpc>
            </a:pPr>
            <a:r>
              <a:rPr lang="en-US" sz="3000" b="true">
                <a:solidFill>
                  <a:srgbClr val="4390F8"/>
                </a:solidFill>
                <a:latin typeface="Arimo Bold"/>
                <a:ea typeface="Arimo Bold"/>
                <a:cs typeface="Arimo Bold"/>
                <a:sym typeface="Arimo Bold"/>
              </a:rPr>
              <a:t>03</a:t>
            </a:r>
          </a:p>
        </p:txBody>
      </p:sp>
      <p:sp>
        <p:nvSpPr>
          <p:cNvPr name="TextBox 29" id="29"/>
          <p:cNvSpPr txBox="true"/>
          <p:nvPr/>
        </p:nvSpPr>
        <p:spPr>
          <a:xfrm rot="0">
            <a:off x="1257300" y="6553200"/>
            <a:ext cx="7429500" cy="400050"/>
          </a:xfrm>
          <a:prstGeom prst="rect">
            <a:avLst/>
          </a:prstGeom>
        </p:spPr>
        <p:txBody>
          <a:bodyPr anchor="t" rtlCol="false" tIns="0" lIns="0" bIns="0" rIns="0">
            <a:spAutoFit/>
          </a:bodyPr>
          <a:lstStyle/>
          <a:p>
            <a:pPr algn="l">
              <a:lnSpc>
                <a:spcPts val="3149"/>
              </a:lnSpc>
            </a:pPr>
            <a:r>
              <a:rPr lang="en-US" sz="2250" b="true">
                <a:solidFill>
                  <a:srgbClr val="FFFFFF"/>
                </a:solidFill>
                <a:latin typeface="Arimo Bold"/>
                <a:ea typeface="Arimo Bold"/>
                <a:cs typeface="Arimo Bold"/>
                <a:sym typeface="Arimo Bold"/>
              </a:rPr>
              <a:t>Nonlinear 3-D FE, written and verified</a:t>
            </a:r>
          </a:p>
        </p:txBody>
      </p:sp>
      <p:sp>
        <p:nvSpPr>
          <p:cNvPr name="TextBox 30" id="30"/>
          <p:cNvSpPr txBox="true"/>
          <p:nvPr/>
        </p:nvSpPr>
        <p:spPr>
          <a:xfrm rot="0">
            <a:off x="1257300" y="7010400"/>
            <a:ext cx="7429500" cy="586740"/>
          </a:xfrm>
          <a:prstGeom prst="rect">
            <a:avLst/>
          </a:prstGeom>
        </p:spPr>
        <p:txBody>
          <a:bodyPr anchor="t" rtlCol="false" tIns="0" lIns="0" bIns="0" rIns="0">
            <a:spAutoFit/>
          </a:bodyPr>
          <a:lstStyle/>
          <a:p>
            <a:pPr algn="l">
              <a:lnSpc>
                <a:spcPts val="2310"/>
              </a:lnSpc>
            </a:pPr>
            <a:r>
              <a:rPr lang="en-US" sz="1650">
                <a:solidFill>
                  <a:srgbClr val="C9D6E8"/>
                </a:solidFill>
                <a:latin typeface="Arimo"/>
                <a:ea typeface="Arimo"/>
                <a:cs typeface="Arimo"/>
                <a:sym typeface="Arimo"/>
              </a:rPr>
              <a:t>27-node mixed u–p hexes, follower pressure and Newton with autodiff tangents. Four benchmark checks agree to within 0.5 %.</a:t>
            </a:r>
          </a:p>
        </p:txBody>
      </p:sp>
      <p:sp>
        <p:nvSpPr>
          <p:cNvPr name="TextBox 31" id="31"/>
          <p:cNvSpPr txBox="true"/>
          <p:nvPr/>
        </p:nvSpPr>
        <p:spPr>
          <a:xfrm rot="0">
            <a:off x="9639300" y="5981700"/>
            <a:ext cx="952500" cy="533400"/>
          </a:xfrm>
          <a:prstGeom prst="rect">
            <a:avLst/>
          </a:prstGeom>
        </p:spPr>
        <p:txBody>
          <a:bodyPr anchor="t" rtlCol="false" tIns="0" lIns="0" bIns="0" rIns="0">
            <a:spAutoFit/>
          </a:bodyPr>
          <a:lstStyle/>
          <a:p>
            <a:pPr algn="l">
              <a:lnSpc>
                <a:spcPts val="4200"/>
              </a:lnSpc>
            </a:pPr>
            <a:r>
              <a:rPr lang="en-US" sz="3000" b="true">
                <a:solidFill>
                  <a:srgbClr val="4390F8"/>
                </a:solidFill>
                <a:latin typeface="Arimo Bold"/>
                <a:ea typeface="Arimo Bold"/>
                <a:cs typeface="Arimo Bold"/>
                <a:sym typeface="Arimo Bold"/>
              </a:rPr>
              <a:t>04</a:t>
            </a:r>
          </a:p>
        </p:txBody>
      </p:sp>
      <p:sp>
        <p:nvSpPr>
          <p:cNvPr name="TextBox 32" id="32"/>
          <p:cNvSpPr txBox="true"/>
          <p:nvPr/>
        </p:nvSpPr>
        <p:spPr>
          <a:xfrm rot="0">
            <a:off x="9639300" y="6553200"/>
            <a:ext cx="7429500" cy="400050"/>
          </a:xfrm>
          <a:prstGeom prst="rect">
            <a:avLst/>
          </a:prstGeom>
        </p:spPr>
        <p:txBody>
          <a:bodyPr anchor="t" rtlCol="false" tIns="0" lIns="0" bIns="0" rIns="0">
            <a:spAutoFit/>
          </a:bodyPr>
          <a:lstStyle/>
          <a:p>
            <a:pPr algn="l">
              <a:lnSpc>
                <a:spcPts val="3149"/>
              </a:lnSpc>
            </a:pPr>
            <a:r>
              <a:rPr lang="en-US" sz="2250" b="true">
                <a:solidFill>
                  <a:srgbClr val="FFFFFF"/>
                </a:solidFill>
                <a:latin typeface="Arimo Bold"/>
                <a:ea typeface="Arimo Bold"/>
                <a:cs typeface="Arimo Bold"/>
                <a:sym typeface="Arimo Bold"/>
              </a:rPr>
              <a:t>Build the reinforced actuator</a:t>
            </a:r>
          </a:p>
        </p:txBody>
      </p:sp>
      <p:sp>
        <p:nvSpPr>
          <p:cNvPr name="TextBox 33" id="33"/>
          <p:cNvSpPr txBox="true"/>
          <p:nvPr/>
        </p:nvSpPr>
        <p:spPr>
          <a:xfrm rot="0">
            <a:off x="9639300" y="7010400"/>
            <a:ext cx="7429500" cy="586740"/>
          </a:xfrm>
          <a:prstGeom prst="rect">
            <a:avLst/>
          </a:prstGeom>
        </p:spPr>
        <p:txBody>
          <a:bodyPr anchor="t" rtlCol="false" tIns="0" lIns="0" bIns="0" rIns="0">
            <a:spAutoFit/>
          </a:bodyPr>
          <a:lstStyle/>
          <a:p>
            <a:pPr algn="l">
              <a:lnSpc>
                <a:spcPts val="2310"/>
              </a:lnSpc>
            </a:pPr>
            <a:r>
              <a:rPr lang="en-US" sz="1650">
                <a:solidFill>
                  <a:srgbClr val="C9D6E8"/>
                </a:solidFill>
                <a:latin typeface="Arimo"/>
                <a:ea typeface="Arimo"/>
                <a:cs typeface="Arimo"/>
                <a:sym typeface="Arimo"/>
              </a:rPr>
              <a:t>The bare one balloons and snaps through at 104.7 kPa. The sleeved one bends 2.8× more at 60 kPa and stays smooth and predictable.</a:t>
            </a:r>
          </a:p>
        </p:txBody>
      </p:sp>
      <p:sp>
        <p:nvSpPr>
          <p:cNvPr name="TextBox 34" id="34"/>
          <p:cNvSpPr txBox="true"/>
          <p:nvPr/>
        </p:nvSpPr>
        <p:spPr>
          <a:xfrm rot="0">
            <a:off x="952500" y="8763000"/>
            <a:ext cx="9525000" cy="32575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C9D6E8"/>
                </a:solidFill>
                <a:latin typeface="Arimo"/>
                <a:ea typeface="Arimo"/>
                <a:cs typeface="Arimo"/>
                <a:sym typeface="Arimo"/>
              </a:rPr>
              <a:t>Next: multi-cavity designs → ANSYS check → mould and experiments from 26 Oct</a:t>
            </a:r>
          </a:p>
        </p:txBody>
      </p:sp>
      <p:sp>
        <p:nvSpPr>
          <p:cNvPr name="TextBox 35" id="35"/>
          <p:cNvSpPr txBox="true"/>
          <p:nvPr/>
        </p:nvSpPr>
        <p:spPr>
          <a:xfrm rot="0">
            <a:off x="10668000" y="8591550"/>
            <a:ext cx="6667500" cy="592455"/>
          </a:xfrm>
          <a:prstGeom prst="rect">
            <a:avLst/>
          </a:prstGeom>
        </p:spPr>
        <p:txBody>
          <a:bodyPr anchor="t" rtlCol="false" tIns="0" lIns="0" bIns="0" rIns="0">
            <a:spAutoFit/>
          </a:bodyPr>
          <a:lstStyle/>
          <a:p>
            <a:pPr algn="r">
              <a:lnSpc>
                <a:spcPts val="4620"/>
              </a:lnSpc>
            </a:pPr>
            <a:r>
              <a:rPr lang="en-US" sz="3300" b="true">
                <a:solidFill>
                  <a:srgbClr val="FFFFFF"/>
                </a:solidFill>
                <a:latin typeface="Arimo Bold"/>
                <a:ea typeface="Arimo Bold"/>
                <a:cs typeface="Arimo Bold"/>
                <a:sym typeface="Arimo Bold"/>
              </a:rPr>
              <a:t>Thank you — questions?</a:t>
            </a:r>
          </a:p>
        </p:txBody>
      </p:sp>
      <p:sp>
        <p:nvSpPr>
          <p:cNvPr name="TextBox 36" id="36"/>
          <p:cNvSpPr txBox="true"/>
          <p:nvPr/>
        </p:nvSpPr>
        <p:spPr>
          <a:xfrm rot="0">
            <a:off x="952500" y="9820275"/>
            <a:ext cx="8572500" cy="200025"/>
          </a:xfrm>
          <a:prstGeom prst="rect">
            <a:avLst/>
          </a:prstGeom>
        </p:spPr>
        <p:txBody>
          <a:bodyPr anchor="t" rtlCol="false" tIns="0" lIns="0" bIns="0" rIns="0">
            <a:spAutoFit/>
          </a:bodyPr>
          <a:lstStyle/>
          <a:p>
            <a:pPr algn="l">
              <a:lnSpc>
                <a:spcPts val="1574"/>
              </a:lnSpc>
            </a:pPr>
            <a:r>
              <a:rPr lang="en-US" sz="1125">
                <a:solidFill>
                  <a:srgbClr val="8A97A8"/>
                </a:solidFill>
                <a:latin typeface="Arimo"/>
                <a:ea typeface="Arimo"/>
                <a:cs typeface="Arimo"/>
                <a:sym typeface="Arimo"/>
              </a:rPr>
              <a:t>Eccentric-cavity soft actuator · BTP progress review</a:t>
            </a:r>
          </a:p>
        </p:txBody>
      </p:sp>
      <p:sp>
        <p:nvSpPr>
          <p:cNvPr name="TextBox 37" id="37"/>
          <p:cNvSpPr txBox="true"/>
          <p:nvPr/>
        </p:nvSpPr>
        <p:spPr>
          <a:xfrm rot="0">
            <a:off x="16383000" y="9820275"/>
            <a:ext cx="952500" cy="200025"/>
          </a:xfrm>
          <a:prstGeom prst="rect">
            <a:avLst/>
          </a:prstGeom>
        </p:spPr>
        <p:txBody>
          <a:bodyPr anchor="t" rtlCol="false" tIns="0" lIns="0" bIns="0" rIns="0">
            <a:spAutoFit/>
          </a:bodyPr>
          <a:lstStyle/>
          <a:p>
            <a:pPr algn="r">
              <a:lnSpc>
                <a:spcPts val="1574"/>
              </a:lnSpc>
            </a:pPr>
            <a:r>
              <a:rPr lang="en-US" sz="1125">
                <a:solidFill>
                  <a:srgbClr val="8A97A8"/>
                </a:solidFill>
                <a:latin typeface="Arimo"/>
                <a:ea typeface="Arimo"/>
                <a:cs typeface="Arimo"/>
                <a:sym typeface="Arimo"/>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DAHXcDDVags</dc:identifier>
  <dcterms:modified xsi:type="dcterms:W3CDTF">2011-08-01T06:04:30Z</dcterms:modified>
  <cp:revision>1</cp:revision>
  <dc:title>Pressure-to-Deflection Modelling</dc:title>
</cp:coreProperties>
</file>